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Archivo Medium"/>
      <p:regular r:id="rId19"/>
      <p:bold r:id="rId20"/>
      <p:italic r:id="rId21"/>
      <p:boldItalic r:id="rId22"/>
    </p:embeddedFont>
    <p:embeddedFont>
      <p:font typeface="Archivo"/>
      <p:regular r:id="rId23"/>
      <p:bold r:id="rId24"/>
      <p:italic r:id="rId25"/>
      <p:boldItalic r:id="rId26"/>
    </p:embeddedFont>
    <p:embeddedFont>
      <p:font typeface="Archivo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chivoMedium-bold.fntdata"/><Relationship Id="rId22" Type="http://schemas.openxmlformats.org/officeDocument/2006/relationships/font" Target="fonts/ArchivoMedium-boldItalic.fntdata"/><Relationship Id="rId21" Type="http://schemas.openxmlformats.org/officeDocument/2006/relationships/font" Target="fonts/ArchivoMedium-italic.fntdata"/><Relationship Id="rId24" Type="http://schemas.openxmlformats.org/officeDocument/2006/relationships/font" Target="fonts/Archivo-bold.fntdata"/><Relationship Id="rId23" Type="http://schemas.openxmlformats.org/officeDocument/2006/relationships/font" Target="fonts/Archiv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rchivo-boldItalic.fntdata"/><Relationship Id="rId25" Type="http://schemas.openxmlformats.org/officeDocument/2006/relationships/font" Target="fonts/Archivo-italic.fntdata"/><Relationship Id="rId28" Type="http://schemas.openxmlformats.org/officeDocument/2006/relationships/font" Target="fonts/ArchivoSemiBold-bold.fntdata"/><Relationship Id="rId27" Type="http://schemas.openxmlformats.org/officeDocument/2006/relationships/font" Target="fonts/ArchivoSemiBold-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chivoSemiBold-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Archivo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rchivoMedium-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d576b05b2d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d576b05b2d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Welcome everyone to the Ksolves Agentic AI Hackathon 2026. You're not here to prototype — you're here to prove you can engineer at production level. Do that, and there may just be a place for you on the Ksolves team. You've got 2 day, all AI tools are on the table, and we're scoring hard on production readiness. The bar is high intentionally.</a:t>
            </a:r>
            <a:endParaRPr/>
          </a:p>
        </p:txBody>
      </p:sp>
      <p:sp>
        <p:nvSpPr>
          <p:cNvPr id="56" name="Google Shape;56;g3d576b05b2d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ecca5f14e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decca5f14e_1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Welcome everyone to the Ksolves Agentic AI Hackathon 2026. You're not here to prototype — you're here to prove you can engineer at production level. Do that, and there may just be a place for you on the Ksolves team. You've got 2 day, all AI tools are on the table, and we're scoring hard on production readiness. The bar is high intentionally.</a:t>
            </a:r>
            <a:endParaRPr/>
          </a:p>
        </p:txBody>
      </p:sp>
      <p:sp>
        <p:nvSpPr>
          <p:cNvPr id="86" name="Google Shape;86;g3decca5f14e_1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ecca5f14e_1_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ecca5f14e_1_5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Welcome everyone to the Ksolves Agentic AI Hackathon 2026. You're not here to prototype — you're here to prove you can engineer at production level. Do that, and there may just be a place for you on the Ksolves team. You've got 2 day, all AI tools are on the table, and we're scoring hard on production readiness. The bar is high intentionally.</a:t>
            </a:r>
            <a:endParaRPr/>
          </a:p>
        </p:txBody>
      </p:sp>
      <p:sp>
        <p:nvSpPr>
          <p:cNvPr id="108" name="Google Shape;108;g3decca5f14e_1_5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576b05b2d_2_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d576b05b2d_2_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scenario is ShopWave — a high-volume e-commerce platform drowning in support tickets. Most are repetitive, but right now every single one lands in a human's queue. Your agent needs to change that. It must ingest tickets from two sources, classify them intelligently, take real actions using tools, know when to escalate, and log every decision it makes. Not just the outcome — the reasoning too.</a:t>
            </a:r>
            <a:endParaRPr/>
          </a:p>
        </p:txBody>
      </p:sp>
      <p:sp>
        <p:nvSpPr>
          <p:cNvPr id="139" name="Google Shape;139;g3d576b05b2d_2_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576b05b2d_2_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d576b05b2d_2_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Four non-negotiables. First, chaining — your agent must make at least 3 tool calls in a single reasoning pass. Second, recovery — we will deliberately break a tool. Your agent must not crash; it must handle failures gracefully. Third, concurrency — tickets get processed in parallel, not one after another. Sequential processing will cost you points. Fourth, explainability — judges will ask why your agent did what it did. "The model decided" is not an answer.</a:t>
            </a:r>
            <a:endParaRPr/>
          </a:p>
        </p:txBody>
      </p:sp>
      <p:sp>
        <p:nvSpPr>
          <p:cNvPr id="178" name="Google Shape;178;g3d576b05b2d_2_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576b05b2d_2_1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d576b05b2d_2_1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You're given 8 tools to implement — four read/lookup and four write/act. The read tools are get_order, get_customer, get_product, and search_knowledge_base. The write tools are check_refund_eligibility, issue_refund, send_reply, and escalate. Here's what matters: your mocks need to fail realistically. Timeouts, malformed responses, partial data. Lazy mocks signal lazy thinking, and judges will notice.</a:t>
            </a:r>
            <a:endParaRPr/>
          </a:p>
        </p:txBody>
      </p:sp>
      <p:sp>
        <p:nvSpPr>
          <p:cNvPr id="216" name="Google Shape;216;g3d576b05b2d_2_1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576b05b2d_2_3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d576b05b2d_2_3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d576b05b2d_2_3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576b05b2d_2_1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d576b05b2d_2_1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Four things to submit. One: working, runnable code with a clear entry point and a README — no exceptions. Two: a one-page architecture diagram covering your agent loop, tool design, and state management. Three: a failure mode analysis documenting at least 3 failure scenarios and how your system responds. Four: a demo run — live or recorded — processing all 20 mock tickets end to end.</a:t>
            </a:r>
            <a:endParaRPr/>
          </a:p>
        </p:txBody>
      </p:sp>
      <p:sp>
        <p:nvSpPr>
          <p:cNvPr id="309" name="Google Shape;309;g3d576b05b2d_2_1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dea8002635_1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dea8002635_1_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dea8002635_1_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576b05b2d_2_2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d576b05b2d_2_2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Points break down across five areas. Production readiness is worth the most — 30 points — covering modularity, error handling, logging, and security. Agentic design and engineering depth are 25 points each, looking at your agent loop quality, concurrency, and code quality. The remaining 20 points go to evaluation/self-awareness and your live presentation. Know your code cold.</a:t>
            </a:r>
            <a:endParaRPr/>
          </a:p>
          <a:p>
            <a:pPr indent="0" lvl="0" marL="0" rtl="0" algn="l">
              <a:spcBef>
                <a:spcPts val="1200"/>
              </a:spcBef>
              <a:spcAft>
                <a:spcPts val="0"/>
              </a:spcAft>
              <a:buNone/>
            </a:pPr>
            <a:r>
              <a:t/>
            </a:r>
            <a:endParaRPr/>
          </a:p>
        </p:txBody>
      </p:sp>
      <p:sp>
        <p:nvSpPr>
          <p:cNvPr id="382" name="Google Shape;382;g3d576b05b2d_2_2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576b05b2d_2_3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d576b05b2d_2_3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Two fatals that end your submission entirely: no working demo, and a single-step LLM call with no real tool use. Beyond that, calling issue_refund before check_refund_eligibility costs you 20 points — that's intentional, it mirrors a real production guardrail. Missing README is minus 10. Hardcoded API keys anywhere in the repo gets flagged immediately. Treat this like it's going to production, because that's the standard we're judging against.</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48" name="Google Shape;448;g3d576b05b2d_2_3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ec75c31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dec75c310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40.png"/><Relationship Id="rId13" Type="http://schemas.openxmlformats.org/officeDocument/2006/relationships/image" Target="../media/image5.png"/><Relationship Id="rId12"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hyperlink" Target="https://github.com/ksolves/agentic_ai_hackthon_2026_sample_data/" TargetMode="External"/><Relationship Id="rId9" Type="http://schemas.openxmlformats.org/officeDocument/2006/relationships/image" Target="../media/image11.png"/><Relationship Id="rId5" Type="http://schemas.openxmlformats.org/officeDocument/2006/relationships/hyperlink" Target="https://github.com/ksolves/agentic_ai_hackthon_2026_sample_data/" TargetMode="External"/><Relationship Id="rId6" Type="http://schemas.openxmlformats.org/officeDocument/2006/relationships/image" Target="../media/image22.png"/><Relationship Id="rId7" Type="http://schemas.openxmlformats.org/officeDocument/2006/relationships/image" Target="../media/image28.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7.png"/><Relationship Id="rId9"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29.png"/><Relationship Id="rId7" Type="http://schemas.openxmlformats.org/officeDocument/2006/relationships/image" Target="../media/image25.png"/><Relationship Id="rId8"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46.png"/><Relationship Id="rId9"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forms.gle/dXkrnQr7vDkxraqZ7" TargetMode="External"/><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4.png"/><Relationship Id="rId12" Type="http://schemas.openxmlformats.org/officeDocument/2006/relationships/image" Target="../media/image5.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41.png"/><Relationship Id="rId9" Type="http://schemas.openxmlformats.org/officeDocument/2006/relationships/image" Target="../media/image51.png"/><Relationship Id="rId5" Type="http://schemas.openxmlformats.org/officeDocument/2006/relationships/image" Target="../media/image7.png"/><Relationship Id="rId6" Type="http://schemas.openxmlformats.org/officeDocument/2006/relationships/image" Target="../media/image42.png"/><Relationship Id="rId7" Type="http://schemas.openxmlformats.org/officeDocument/2006/relationships/image" Target="../media/image48.png"/><Relationship Id="rId8"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52.png"/><Relationship Id="rId5" Type="http://schemas.openxmlformats.org/officeDocument/2006/relationships/image" Target="../media/image54.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6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pic>
        <p:nvPicPr>
          <p:cNvPr id="58" name="Google Shape;58;p16" title="Rectangle 10139.png"/>
          <p:cNvPicPr preferRelativeResize="0"/>
          <p:nvPr/>
        </p:nvPicPr>
        <p:blipFill rotWithShape="1">
          <a:blip r:embed="rId3">
            <a:alphaModFix/>
          </a:blip>
          <a:srcRect b="14480" l="0" r="0" t="14472"/>
          <a:stretch/>
        </p:blipFill>
        <p:spPr>
          <a:xfrm>
            <a:off x="0" y="729226"/>
            <a:ext cx="9144000" cy="1481328"/>
          </a:xfrm>
          <a:prstGeom prst="rect">
            <a:avLst/>
          </a:prstGeom>
          <a:noFill/>
          <a:ln>
            <a:noFill/>
          </a:ln>
        </p:spPr>
      </p:pic>
      <p:sp>
        <p:nvSpPr>
          <p:cNvPr id="59" name="Google Shape;59;p16"/>
          <p:cNvSpPr/>
          <p:nvPr/>
        </p:nvSpPr>
        <p:spPr>
          <a:xfrm>
            <a:off x="365760" y="2322129"/>
            <a:ext cx="8412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2000"/>
              <a:buFont typeface="Trebuchet MS"/>
              <a:buNone/>
            </a:pPr>
            <a:r>
              <a:rPr b="1" i="0" lang="en" sz="1500" u="none" cap="none" strike="noStrike">
                <a:solidFill>
                  <a:srgbClr val="1A1033"/>
                </a:solidFill>
                <a:latin typeface="Archivo"/>
                <a:ea typeface="Archivo"/>
                <a:cs typeface="Archivo"/>
                <a:sym typeface="Archivo"/>
              </a:rPr>
              <a:t>Build an AI Agent That Actually Ships</a:t>
            </a:r>
            <a:endParaRPr i="0" sz="1500" u="none" cap="none" strike="noStrike">
              <a:solidFill>
                <a:schemeClr val="dk1"/>
              </a:solidFill>
              <a:latin typeface="Archivo"/>
              <a:ea typeface="Archivo"/>
              <a:cs typeface="Archivo"/>
              <a:sym typeface="Archivo"/>
            </a:endParaRPr>
          </a:p>
        </p:txBody>
      </p:sp>
      <p:sp>
        <p:nvSpPr>
          <p:cNvPr id="60" name="Google Shape;60;p16"/>
          <p:cNvSpPr/>
          <p:nvPr/>
        </p:nvSpPr>
        <p:spPr>
          <a:xfrm>
            <a:off x="365760" y="2678628"/>
            <a:ext cx="84126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1300"/>
              <a:buFont typeface="Trebuchet MS"/>
              <a:buNone/>
            </a:pPr>
            <a:r>
              <a:rPr i="0" lang="en" sz="1200" u="none" cap="none" strike="noStrike">
                <a:solidFill>
                  <a:srgbClr val="4A3F6B"/>
                </a:solidFill>
                <a:latin typeface="Archivo"/>
                <a:ea typeface="Archivo"/>
                <a:cs typeface="Archivo"/>
                <a:sym typeface="Archivo"/>
              </a:rPr>
              <a:t>A challenge in Agentic AI engineering. Not a demo. Not a toy. Something real.</a:t>
            </a:r>
            <a:endParaRPr i="0" sz="1200" u="none" cap="none" strike="noStrike">
              <a:solidFill>
                <a:schemeClr val="dk1"/>
              </a:solidFill>
              <a:latin typeface="Archivo"/>
              <a:ea typeface="Archivo"/>
              <a:cs typeface="Archivo"/>
              <a:sym typeface="Archivo"/>
            </a:endParaRPr>
          </a:p>
        </p:txBody>
      </p:sp>
      <p:sp>
        <p:nvSpPr>
          <p:cNvPr id="61" name="Google Shape;61;p16"/>
          <p:cNvSpPr/>
          <p:nvPr/>
        </p:nvSpPr>
        <p:spPr>
          <a:xfrm>
            <a:off x="365750" y="3224480"/>
            <a:ext cx="1975200" cy="12597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16"/>
          <p:cNvPicPr preferRelativeResize="0"/>
          <p:nvPr/>
        </p:nvPicPr>
        <p:blipFill rotWithShape="1">
          <a:blip r:embed="rId4">
            <a:alphaModFix/>
          </a:blip>
          <a:srcRect b="0" l="0" r="0" t="0"/>
          <a:stretch/>
        </p:blipFill>
        <p:spPr>
          <a:xfrm>
            <a:off x="365760" y="3224475"/>
            <a:ext cx="1975104" cy="51862"/>
          </a:xfrm>
          <a:prstGeom prst="rect">
            <a:avLst/>
          </a:prstGeom>
          <a:noFill/>
          <a:ln>
            <a:noFill/>
          </a:ln>
        </p:spPr>
      </p:pic>
      <p:sp>
        <p:nvSpPr>
          <p:cNvPr id="63" name="Google Shape;63;p16"/>
          <p:cNvSpPr/>
          <p:nvPr/>
        </p:nvSpPr>
        <p:spPr>
          <a:xfrm>
            <a:off x="438902" y="3488062"/>
            <a:ext cx="1828800" cy="45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3200"/>
              <a:buFont typeface="Trebuchet MS"/>
              <a:buNone/>
            </a:pPr>
            <a:r>
              <a:rPr b="1" lang="en" sz="3200">
                <a:solidFill>
                  <a:srgbClr val="1565C0"/>
                </a:solidFill>
                <a:latin typeface="Archivo"/>
                <a:ea typeface="Archivo"/>
                <a:cs typeface="Archivo"/>
                <a:sym typeface="Archivo"/>
              </a:rPr>
              <a:t>3</a:t>
            </a:r>
            <a:r>
              <a:rPr b="1" lang="en" sz="3200">
                <a:solidFill>
                  <a:srgbClr val="1565C0"/>
                </a:solidFill>
                <a:latin typeface="Archivo"/>
                <a:ea typeface="Archivo"/>
                <a:cs typeface="Archivo"/>
                <a:sym typeface="Archivo"/>
              </a:rPr>
              <a:t> days</a:t>
            </a:r>
            <a:endParaRPr i="0" sz="3200" u="none" cap="none" strike="noStrike">
              <a:solidFill>
                <a:schemeClr val="dk1"/>
              </a:solidFill>
              <a:latin typeface="Archivo"/>
              <a:ea typeface="Archivo"/>
              <a:cs typeface="Archivo"/>
              <a:sym typeface="Archivo"/>
            </a:endParaRPr>
          </a:p>
        </p:txBody>
      </p:sp>
      <p:sp>
        <p:nvSpPr>
          <p:cNvPr id="64" name="Google Shape;64;p16"/>
          <p:cNvSpPr/>
          <p:nvPr/>
        </p:nvSpPr>
        <p:spPr>
          <a:xfrm>
            <a:off x="438902" y="3971431"/>
            <a:ext cx="1828800" cy="3564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4A3F6B"/>
              </a:buClr>
              <a:buSzPts val="1100"/>
              <a:buFont typeface="Trebuchet MS"/>
              <a:buNone/>
            </a:pPr>
            <a:r>
              <a:rPr lang="en" sz="1200">
                <a:solidFill>
                  <a:srgbClr val="4A3F6B"/>
                </a:solidFill>
                <a:latin typeface="Archivo"/>
                <a:ea typeface="Archivo"/>
                <a:cs typeface="Archivo"/>
                <a:sym typeface="Archivo"/>
              </a:rPr>
              <a:t>T</a:t>
            </a:r>
            <a:r>
              <a:rPr lang="en" sz="1200">
                <a:solidFill>
                  <a:srgbClr val="4A3F6B"/>
                </a:solidFill>
                <a:latin typeface="Archivo"/>
                <a:ea typeface="Archivo"/>
                <a:cs typeface="Archivo"/>
                <a:sym typeface="Archivo"/>
              </a:rPr>
              <a:t>ime</a:t>
            </a:r>
            <a:endParaRPr i="0" sz="1200" u="none" cap="none" strike="noStrike">
              <a:solidFill>
                <a:schemeClr val="dk1"/>
              </a:solidFill>
              <a:latin typeface="Archivo"/>
              <a:ea typeface="Archivo"/>
              <a:cs typeface="Archivo"/>
              <a:sym typeface="Archivo"/>
            </a:endParaRPr>
          </a:p>
        </p:txBody>
      </p:sp>
      <p:sp>
        <p:nvSpPr>
          <p:cNvPr id="65" name="Google Shape;65;p16"/>
          <p:cNvSpPr/>
          <p:nvPr/>
        </p:nvSpPr>
        <p:spPr>
          <a:xfrm>
            <a:off x="2523742" y="3224480"/>
            <a:ext cx="1975200" cy="12597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 name="Google Shape;66;p16"/>
          <p:cNvPicPr preferRelativeResize="0"/>
          <p:nvPr/>
        </p:nvPicPr>
        <p:blipFill rotWithShape="1">
          <a:blip r:embed="rId4">
            <a:alphaModFix/>
          </a:blip>
          <a:srcRect b="0" l="0" r="0" t="0"/>
          <a:stretch/>
        </p:blipFill>
        <p:spPr>
          <a:xfrm>
            <a:off x="2523747" y="3224475"/>
            <a:ext cx="1975104" cy="51862"/>
          </a:xfrm>
          <a:prstGeom prst="rect">
            <a:avLst/>
          </a:prstGeom>
          <a:noFill/>
          <a:ln>
            <a:noFill/>
          </a:ln>
        </p:spPr>
      </p:pic>
      <p:sp>
        <p:nvSpPr>
          <p:cNvPr id="67" name="Google Shape;67;p16"/>
          <p:cNvSpPr/>
          <p:nvPr/>
        </p:nvSpPr>
        <p:spPr>
          <a:xfrm>
            <a:off x="2596894" y="3488062"/>
            <a:ext cx="1828800" cy="45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1B9A"/>
              </a:buClr>
              <a:buSzPts val="3200"/>
              <a:buFont typeface="Trebuchet MS"/>
              <a:buNone/>
            </a:pPr>
            <a:r>
              <a:rPr b="1" i="0" lang="en" sz="3200" u="none" cap="none" strike="noStrike">
                <a:solidFill>
                  <a:srgbClr val="6A1B9A"/>
                </a:solidFill>
                <a:latin typeface="Archivo"/>
                <a:ea typeface="Archivo"/>
                <a:cs typeface="Archivo"/>
                <a:sym typeface="Archivo"/>
              </a:rPr>
              <a:t>30 pts</a:t>
            </a:r>
            <a:endParaRPr i="0" sz="3200" u="none" cap="none" strike="noStrike">
              <a:solidFill>
                <a:schemeClr val="dk1"/>
              </a:solidFill>
              <a:latin typeface="Archivo"/>
              <a:ea typeface="Archivo"/>
              <a:cs typeface="Archivo"/>
              <a:sym typeface="Archivo"/>
            </a:endParaRPr>
          </a:p>
        </p:txBody>
      </p:sp>
      <p:sp>
        <p:nvSpPr>
          <p:cNvPr id="68" name="Google Shape;68;p16"/>
          <p:cNvSpPr/>
          <p:nvPr/>
        </p:nvSpPr>
        <p:spPr>
          <a:xfrm>
            <a:off x="2596894" y="3971431"/>
            <a:ext cx="1828800" cy="3564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4A3F6B"/>
              </a:buClr>
              <a:buSzPts val="1100"/>
              <a:buFont typeface="Trebuchet MS"/>
              <a:buNone/>
            </a:pPr>
            <a:r>
              <a:rPr i="0" lang="en" sz="1200" u="none" cap="none" strike="noStrike">
                <a:solidFill>
                  <a:srgbClr val="4A3F6B"/>
                </a:solidFill>
                <a:latin typeface="Archivo"/>
                <a:ea typeface="Archivo"/>
                <a:cs typeface="Archivo"/>
                <a:sym typeface="Archivo"/>
              </a:rPr>
              <a:t>Production readiness</a:t>
            </a:r>
            <a:endParaRPr i="0" sz="1200" u="none" cap="none" strike="noStrike">
              <a:solidFill>
                <a:schemeClr val="dk1"/>
              </a:solidFill>
              <a:latin typeface="Archivo"/>
              <a:ea typeface="Archivo"/>
              <a:cs typeface="Archivo"/>
              <a:sym typeface="Archivo"/>
            </a:endParaRPr>
          </a:p>
        </p:txBody>
      </p:sp>
      <p:sp>
        <p:nvSpPr>
          <p:cNvPr id="69" name="Google Shape;69;p16"/>
          <p:cNvSpPr/>
          <p:nvPr/>
        </p:nvSpPr>
        <p:spPr>
          <a:xfrm>
            <a:off x="4681733" y="3224480"/>
            <a:ext cx="1975200" cy="12597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 name="Google Shape;70;p16"/>
          <p:cNvPicPr preferRelativeResize="0"/>
          <p:nvPr/>
        </p:nvPicPr>
        <p:blipFill rotWithShape="1">
          <a:blip r:embed="rId4">
            <a:alphaModFix/>
          </a:blip>
          <a:srcRect b="0" l="0" r="0" t="0"/>
          <a:stretch/>
        </p:blipFill>
        <p:spPr>
          <a:xfrm>
            <a:off x="4681734" y="3224475"/>
            <a:ext cx="1975104" cy="51862"/>
          </a:xfrm>
          <a:prstGeom prst="rect">
            <a:avLst/>
          </a:prstGeom>
          <a:noFill/>
          <a:ln>
            <a:noFill/>
          </a:ln>
        </p:spPr>
      </p:pic>
      <p:sp>
        <p:nvSpPr>
          <p:cNvPr id="71" name="Google Shape;71;p16"/>
          <p:cNvSpPr/>
          <p:nvPr/>
        </p:nvSpPr>
        <p:spPr>
          <a:xfrm>
            <a:off x="4754886" y="3488062"/>
            <a:ext cx="1828800" cy="45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1E8C"/>
              </a:buClr>
              <a:buSzPts val="3200"/>
              <a:buFont typeface="Trebuchet MS"/>
              <a:buNone/>
            </a:pPr>
            <a:r>
              <a:rPr b="1" i="0" lang="en" sz="3200" u="none" cap="none" strike="noStrike">
                <a:solidFill>
                  <a:srgbClr val="E91E8C"/>
                </a:solidFill>
                <a:latin typeface="Archivo"/>
                <a:ea typeface="Archivo"/>
                <a:cs typeface="Archivo"/>
                <a:sym typeface="Archivo"/>
              </a:rPr>
              <a:t>20</a:t>
            </a:r>
            <a:endParaRPr i="0" sz="3200" u="none" cap="none" strike="noStrike">
              <a:solidFill>
                <a:schemeClr val="dk1"/>
              </a:solidFill>
              <a:latin typeface="Archivo"/>
              <a:ea typeface="Archivo"/>
              <a:cs typeface="Archivo"/>
              <a:sym typeface="Archivo"/>
            </a:endParaRPr>
          </a:p>
        </p:txBody>
      </p:sp>
      <p:sp>
        <p:nvSpPr>
          <p:cNvPr id="72" name="Google Shape;72;p16"/>
          <p:cNvSpPr/>
          <p:nvPr/>
        </p:nvSpPr>
        <p:spPr>
          <a:xfrm>
            <a:off x="4754886" y="3971431"/>
            <a:ext cx="1828800" cy="3564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4A3F6B"/>
              </a:buClr>
              <a:buSzPts val="1100"/>
              <a:buFont typeface="Trebuchet MS"/>
              <a:buNone/>
            </a:pPr>
            <a:r>
              <a:rPr i="0" lang="en" sz="1200" u="none" cap="none" strike="noStrike">
                <a:solidFill>
                  <a:srgbClr val="4A3F6B"/>
                </a:solidFill>
                <a:latin typeface="Archivo"/>
                <a:ea typeface="Archivo"/>
                <a:cs typeface="Archivo"/>
                <a:sym typeface="Archivo"/>
              </a:rPr>
              <a:t>Mock tickets</a:t>
            </a:r>
            <a:endParaRPr i="0" sz="1200" u="none" cap="none" strike="noStrike">
              <a:solidFill>
                <a:schemeClr val="dk1"/>
              </a:solidFill>
              <a:latin typeface="Archivo"/>
              <a:ea typeface="Archivo"/>
              <a:cs typeface="Archivo"/>
              <a:sym typeface="Archivo"/>
            </a:endParaRPr>
          </a:p>
        </p:txBody>
      </p:sp>
      <p:sp>
        <p:nvSpPr>
          <p:cNvPr id="73" name="Google Shape;73;p16"/>
          <p:cNvSpPr/>
          <p:nvPr/>
        </p:nvSpPr>
        <p:spPr>
          <a:xfrm>
            <a:off x="6839725" y="3224480"/>
            <a:ext cx="1975200" cy="12597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 name="Google Shape;74;p16"/>
          <p:cNvPicPr preferRelativeResize="0"/>
          <p:nvPr/>
        </p:nvPicPr>
        <p:blipFill rotWithShape="1">
          <a:blip r:embed="rId4">
            <a:alphaModFix/>
          </a:blip>
          <a:srcRect b="0" l="0" r="0" t="0"/>
          <a:stretch/>
        </p:blipFill>
        <p:spPr>
          <a:xfrm>
            <a:off x="6839720" y="3224475"/>
            <a:ext cx="1975104" cy="51862"/>
          </a:xfrm>
          <a:prstGeom prst="rect">
            <a:avLst/>
          </a:prstGeom>
          <a:noFill/>
          <a:ln>
            <a:noFill/>
          </a:ln>
        </p:spPr>
      </p:pic>
      <p:sp>
        <p:nvSpPr>
          <p:cNvPr id="75" name="Google Shape;75;p16"/>
          <p:cNvSpPr/>
          <p:nvPr/>
        </p:nvSpPr>
        <p:spPr>
          <a:xfrm>
            <a:off x="6912877" y="3488062"/>
            <a:ext cx="1828800" cy="45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6B3A"/>
              </a:buClr>
              <a:buSzPts val="3200"/>
              <a:buFont typeface="Trebuchet MS"/>
              <a:buNone/>
            </a:pPr>
            <a:r>
              <a:rPr b="1" i="0" lang="en" sz="3200" u="none" cap="none" strike="noStrike">
                <a:solidFill>
                  <a:srgbClr val="1B6B3A"/>
                </a:solidFill>
                <a:latin typeface="Archivo"/>
                <a:ea typeface="Archivo"/>
                <a:cs typeface="Archivo"/>
                <a:sym typeface="Archivo"/>
              </a:rPr>
              <a:t>100%</a:t>
            </a:r>
            <a:endParaRPr i="0" sz="3200" u="none" cap="none" strike="noStrike">
              <a:solidFill>
                <a:schemeClr val="dk1"/>
              </a:solidFill>
              <a:latin typeface="Archivo"/>
              <a:ea typeface="Archivo"/>
              <a:cs typeface="Archivo"/>
              <a:sym typeface="Archivo"/>
            </a:endParaRPr>
          </a:p>
        </p:txBody>
      </p:sp>
      <p:sp>
        <p:nvSpPr>
          <p:cNvPr id="76" name="Google Shape;76;p16"/>
          <p:cNvSpPr/>
          <p:nvPr/>
        </p:nvSpPr>
        <p:spPr>
          <a:xfrm>
            <a:off x="6912877" y="3971431"/>
            <a:ext cx="1828800" cy="3564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4A3F6B"/>
              </a:buClr>
              <a:buSzPts val="1100"/>
              <a:buFont typeface="Trebuchet MS"/>
              <a:buNone/>
            </a:pPr>
            <a:r>
              <a:rPr i="0" lang="en" sz="1200" u="none" cap="none" strike="noStrike">
                <a:solidFill>
                  <a:srgbClr val="4A3F6B"/>
                </a:solidFill>
                <a:latin typeface="Archivo"/>
                <a:ea typeface="Archivo"/>
                <a:cs typeface="Archivo"/>
                <a:sym typeface="Archivo"/>
              </a:rPr>
              <a:t>AI tools allowed</a:t>
            </a:r>
            <a:endParaRPr i="0" sz="1200" u="none" cap="none" strike="noStrike">
              <a:solidFill>
                <a:schemeClr val="dk1"/>
              </a:solidFill>
              <a:latin typeface="Archivo"/>
              <a:ea typeface="Archivo"/>
              <a:cs typeface="Archivo"/>
              <a:sym typeface="Archivo"/>
            </a:endParaRPr>
          </a:p>
        </p:txBody>
      </p:sp>
      <p:sp>
        <p:nvSpPr>
          <p:cNvPr id="77" name="Google Shape;77;p16"/>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 name="Google Shape;79;p16" title="Agentic AI Hackthon 2026.png"/>
          <p:cNvPicPr preferRelativeResize="0"/>
          <p:nvPr/>
        </p:nvPicPr>
        <p:blipFill>
          <a:blip r:embed="rId5">
            <a:alphaModFix/>
          </a:blip>
          <a:stretch>
            <a:fillRect/>
          </a:stretch>
        </p:blipFill>
        <p:spPr>
          <a:xfrm>
            <a:off x="386684" y="1230137"/>
            <a:ext cx="7576421" cy="563550"/>
          </a:xfrm>
          <a:prstGeom prst="rect">
            <a:avLst/>
          </a:prstGeom>
          <a:noFill/>
          <a:ln>
            <a:noFill/>
          </a:ln>
        </p:spPr>
      </p:pic>
      <p:pic>
        <p:nvPicPr>
          <p:cNvPr id="80" name="Google Shape;80;p16"/>
          <p:cNvPicPr preferRelativeResize="0"/>
          <p:nvPr/>
        </p:nvPicPr>
        <p:blipFill>
          <a:blip r:embed="rId6">
            <a:alphaModFix/>
          </a:blip>
          <a:stretch>
            <a:fillRect/>
          </a:stretch>
        </p:blipFill>
        <p:spPr>
          <a:xfrm>
            <a:off x="289725" y="116714"/>
            <a:ext cx="1212247" cy="329101"/>
          </a:xfrm>
          <a:prstGeom prst="rect">
            <a:avLst/>
          </a:prstGeom>
          <a:noFill/>
          <a:ln>
            <a:noFill/>
          </a:ln>
        </p:spPr>
      </p:pic>
      <p:pic>
        <p:nvPicPr>
          <p:cNvPr id="81" name="Google Shape;81;p16"/>
          <p:cNvPicPr preferRelativeResize="0"/>
          <p:nvPr/>
        </p:nvPicPr>
        <p:blipFill>
          <a:blip r:embed="rId7">
            <a:alphaModFix/>
          </a:blip>
          <a:stretch>
            <a:fillRect/>
          </a:stretch>
        </p:blipFill>
        <p:spPr>
          <a:xfrm>
            <a:off x="7840150" y="4866852"/>
            <a:ext cx="1047829" cy="151137"/>
          </a:xfrm>
          <a:prstGeom prst="rect">
            <a:avLst/>
          </a:prstGeom>
          <a:noFill/>
          <a:ln>
            <a:noFill/>
          </a:ln>
        </p:spPr>
      </p:pic>
      <p:pic>
        <p:nvPicPr>
          <p:cNvPr id="82" name="Google Shape;82;p16" title="Group 1321315272.png"/>
          <p:cNvPicPr preferRelativeResize="0"/>
          <p:nvPr/>
        </p:nvPicPr>
        <p:blipFill>
          <a:blip r:embed="rId8">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7"/>
          <p:cNvSpPr/>
          <p:nvPr/>
        </p:nvSpPr>
        <p:spPr>
          <a:xfrm>
            <a:off x="517311" y="2308950"/>
            <a:ext cx="7674600" cy="23787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7" title="Rectangle 10139.png"/>
          <p:cNvPicPr preferRelativeResize="0"/>
          <p:nvPr/>
        </p:nvPicPr>
        <p:blipFill rotWithShape="1">
          <a:blip r:embed="rId3">
            <a:alphaModFix/>
          </a:blip>
          <a:srcRect b="14480" l="0" r="0" t="14472"/>
          <a:stretch/>
        </p:blipFill>
        <p:spPr>
          <a:xfrm>
            <a:off x="0" y="729225"/>
            <a:ext cx="9144000" cy="876425"/>
          </a:xfrm>
          <a:prstGeom prst="rect">
            <a:avLst/>
          </a:prstGeom>
          <a:noFill/>
          <a:ln>
            <a:noFill/>
          </a:ln>
        </p:spPr>
      </p:pic>
      <p:sp>
        <p:nvSpPr>
          <p:cNvPr id="90" name="Google Shape;90;p17"/>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p17"/>
          <p:cNvPicPr preferRelativeResize="0"/>
          <p:nvPr/>
        </p:nvPicPr>
        <p:blipFill>
          <a:blip r:embed="rId4">
            <a:alphaModFix/>
          </a:blip>
          <a:stretch>
            <a:fillRect/>
          </a:stretch>
        </p:blipFill>
        <p:spPr>
          <a:xfrm>
            <a:off x="289725" y="116714"/>
            <a:ext cx="1212247" cy="329101"/>
          </a:xfrm>
          <a:prstGeom prst="rect">
            <a:avLst/>
          </a:prstGeom>
          <a:noFill/>
          <a:ln>
            <a:noFill/>
          </a:ln>
        </p:spPr>
      </p:pic>
      <p:pic>
        <p:nvPicPr>
          <p:cNvPr id="93" name="Google Shape;93;p17"/>
          <p:cNvPicPr preferRelativeResize="0"/>
          <p:nvPr/>
        </p:nvPicPr>
        <p:blipFill>
          <a:blip r:embed="rId5">
            <a:alphaModFix/>
          </a:blip>
          <a:stretch>
            <a:fillRect/>
          </a:stretch>
        </p:blipFill>
        <p:spPr>
          <a:xfrm>
            <a:off x="7840150" y="4866852"/>
            <a:ext cx="1047829" cy="151137"/>
          </a:xfrm>
          <a:prstGeom prst="rect">
            <a:avLst/>
          </a:prstGeom>
          <a:noFill/>
          <a:ln>
            <a:noFill/>
          </a:ln>
        </p:spPr>
      </p:pic>
      <p:pic>
        <p:nvPicPr>
          <p:cNvPr id="94" name="Google Shape;94;p17" title="Group 1321315272.png"/>
          <p:cNvPicPr preferRelativeResize="0"/>
          <p:nvPr/>
        </p:nvPicPr>
        <p:blipFill>
          <a:blip r:embed="rId6">
            <a:alphaModFix/>
          </a:blip>
          <a:stretch>
            <a:fillRect/>
          </a:stretch>
        </p:blipFill>
        <p:spPr>
          <a:xfrm>
            <a:off x="7496776" y="155738"/>
            <a:ext cx="1391200" cy="251071"/>
          </a:xfrm>
          <a:prstGeom prst="rect">
            <a:avLst/>
          </a:prstGeom>
          <a:noFill/>
          <a:ln>
            <a:noFill/>
          </a:ln>
        </p:spPr>
      </p:pic>
      <p:sp>
        <p:nvSpPr>
          <p:cNvPr id="95" name="Google Shape;95;p17"/>
          <p:cNvSpPr txBox="1"/>
          <p:nvPr/>
        </p:nvSpPr>
        <p:spPr>
          <a:xfrm>
            <a:off x="359250" y="805251"/>
            <a:ext cx="8425500" cy="6771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Clr>
                <a:schemeClr val="dk1"/>
              </a:buClr>
              <a:buFont typeface="Arial"/>
              <a:buNone/>
            </a:pPr>
            <a:r>
              <a:rPr lang="en" sz="3200">
                <a:latin typeface="Archivo SemiBold"/>
                <a:ea typeface="Archivo SemiBold"/>
                <a:cs typeface="Archivo SemiBold"/>
                <a:sym typeface="Archivo SemiBold"/>
              </a:rPr>
              <a:t>The Era of Autonomy Begins.</a:t>
            </a:r>
            <a:endParaRPr sz="3200">
              <a:latin typeface="Archivo SemiBold"/>
              <a:ea typeface="Archivo SemiBold"/>
              <a:cs typeface="Archivo SemiBold"/>
              <a:sym typeface="Archivo SemiBold"/>
            </a:endParaRPr>
          </a:p>
        </p:txBody>
      </p:sp>
      <p:sp>
        <p:nvSpPr>
          <p:cNvPr id="96" name="Google Shape;96;p17"/>
          <p:cNvSpPr txBox="1"/>
          <p:nvPr/>
        </p:nvSpPr>
        <p:spPr>
          <a:xfrm>
            <a:off x="566250" y="1719450"/>
            <a:ext cx="5436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rgbClr val="434343"/>
                </a:solidFill>
                <a:latin typeface="Archivo"/>
                <a:ea typeface="Archivo"/>
                <a:cs typeface="Archivo"/>
                <a:sym typeface="Archivo"/>
              </a:rPr>
              <a:t>Stop talking to AI. Start building with AI.</a:t>
            </a:r>
            <a:endParaRPr sz="1900">
              <a:solidFill>
                <a:srgbClr val="434343"/>
              </a:solidFill>
              <a:latin typeface="Archivo"/>
              <a:ea typeface="Archivo"/>
              <a:cs typeface="Archivo"/>
              <a:sym typeface="Archivo"/>
            </a:endParaRPr>
          </a:p>
        </p:txBody>
      </p:sp>
      <p:sp>
        <p:nvSpPr>
          <p:cNvPr id="97" name="Google Shape;97;p17"/>
          <p:cNvSpPr txBox="1"/>
          <p:nvPr/>
        </p:nvSpPr>
        <p:spPr>
          <a:xfrm>
            <a:off x="750749" y="3419114"/>
            <a:ext cx="3996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434343"/>
                </a:solidFill>
                <a:latin typeface="Archivo Medium"/>
                <a:ea typeface="Archivo Medium"/>
                <a:cs typeface="Archivo Medium"/>
                <a:sym typeface="Archivo Medium"/>
              </a:rPr>
              <a:t>Developers J</a:t>
            </a:r>
            <a:r>
              <a:rPr lang="en" sz="1600">
                <a:solidFill>
                  <a:srgbClr val="434343"/>
                </a:solidFill>
                <a:latin typeface="Archivo Medium"/>
                <a:ea typeface="Archivo Medium"/>
                <a:cs typeface="Archivo Medium"/>
                <a:sym typeface="Archivo Medium"/>
              </a:rPr>
              <a:t>oined from across the globe</a:t>
            </a:r>
            <a:endParaRPr sz="1900">
              <a:solidFill>
                <a:srgbClr val="434343"/>
              </a:solidFill>
              <a:latin typeface="Archivo Medium"/>
              <a:ea typeface="Archivo Medium"/>
              <a:cs typeface="Archivo Medium"/>
              <a:sym typeface="Archivo Medium"/>
            </a:endParaRPr>
          </a:p>
        </p:txBody>
      </p:sp>
      <p:pic>
        <p:nvPicPr>
          <p:cNvPr descr="preencoded.png" id="98" name="Google Shape;98;p17"/>
          <p:cNvPicPr preferRelativeResize="0"/>
          <p:nvPr/>
        </p:nvPicPr>
        <p:blipFill rotWithShape="1">
          <a:blip r:embed="rId7">
            <a:alphaModFix/>
          </a:blip>
          <a:srcRect b="0" l="0" r="0" t="0"/>
          <a:stretch/>
        </p:blipFill>
        <p:spPr>
          <a:xfrm>
            <a:off x="517300" y="2308950"/>
            <a:ext cx="7674600" cy="123125"/>
          </a:xfrm>
          <a:prstGeom prst="rect">
            <a:avLst/>
          </a:prstGeom>
          <a:noFill/>
          <a:ln>
            <a:noFill/>
          </a:ln>
        </p:spPr>
      </p:pic>
      <p:cxnSp>
        <p:nvCxnSpPr>
          <p:cNvPr id="99" name="Google Shape;99;p17"/>
          <p:cNvCxnSpPr/>
          <p:nvPr/>
        </p:nvCxnSpPr>
        <p:spPr>
          <a:xfrm>
            <a:off x="5266188" y="2821850"/>
            <a:ext cx="0" cy="1481700"/>
          </a:xfrm>
          <a:prstGeom prst="straightConnector1">
            <a:avLst/>
          </a:prstGeom>
          <a:noFill/>
          <a:ln cap="flat" cmpd="sng" w="9525">
            <a:solidFill>
              <a:srgbClr val="B7B7B7"/>
            </a:solidFill>
            <a:prstDash val="solid"/>
            <a:round/>
            <a:headEnd len="med" w="med" type="none"/>
            <a:tailEnd len="med" w="med" type="none"/>
          </a:ln>
        </p:spPr>
      </p:cxnSp>
      <p:sp>
        <p:nvSpPr>
          <p:cNvPr id="100" name="Google Shape;100;p17"/>
          <p:cNvSpPr txBox="1"/>
          <p:nvPr/>
        </p:nvSpPr>
        <p:spPr>
          <a:xfrm>
            <a:off x="5864962" y="2835639"/>
            <a:ext cx="1689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3400">
                <a:latin typeface="Archivo SemiBold"/>
                <a:ea typeface="Archivo SemiBold"/>
                <a:cs typeface="Archivo SemiBold"/>
                <a:sym typeface="Archivo SemiBold"/>
              </a:rPr>
              <a:t>3 DAYS </a:t>
            </a:r>
            <a:endParaRPr sz="3900">
              <a:latin typeface="Archivo SemiBold"/>
              <a:ea typeface="Archivo SemiBold"/>
              <a:cs typeface="Archivo SemiBold"/>
              <a:sym typeface="Archivo SemiBold"/>
            </a:endParaRPr>
          </a:p>
        </p:txBody>
      </p:sp>
      <p:sp>
        <p:nvSpPr>
          <p:cNvPr id="101" name="Google Shape;101;p17"/>
          <p:cNvSpPr txBox="1"/>
          <p:nvPr/>
        </p:nvSpPr>
        <p:spPr>
          <a:xfrm>
            <a:off x="5773812" y="3429837"/>
            <a:ext cx="1969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solidFill>
                  <a:srgbClr val="434343"/>
                </a:solidFill>
                <a:latin typeface="Archivo Medium"/>
                <a:ea typeface="Archivo Medium"/>
                <a:cs typeface="Archivo Medium"/>
                <a:sym typeface="Archivo Medium"/>
              </a:rPr>
              <a:t>GLOBAL  AGENTIC AI </a:t>
            </a:r>
            <a:endParaRPr sz="900">
              <a:solidFill>
                <a:srgbClr val="434343"/>
              </a:solidFill>
              <a:latin typeface="Archivo Medium"/>
              <a:ea typeface="Archivo Medium"/>
              <a:cs typeface="Archivo Medium"/>
              <a:sym typeface="Archivo Medium"/>
            </a:endParaRPr>
          </a:p>
        </p:txBody>
      </p:sp>
      <p:sp>
        <p:nvSpPr>
          <p:cNvPr id="102" name="Google Shape;102;p17"/>
          <p:cNvSpPr txBox="1"/>
          <p:nvPr/>
        </p:nvSpPr>
        <p:spPr>
          <a:xfrm>
            <a:off x="6201612" y="3720349"/>
            <a:ext cx="942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500">
                <a:solidFill>
                  <a:srgbClr val="434343"/>
                </a:solidFill>
                <a:latin typeface="Archivo Medium"/>
                <a:ea typeface="Archivo Medium"/>
                <a:cs typeface="Archivo Medium"/>
                <a:sym typeface="Archivo Medium"/>
              </a:rPr>
              <a:t>2026</a:t>
            </a:r>
            <a:endParaRPr sz="2100">
              <a:solidFill>
                <a:srgbClr val="434343"/>
              </a:solidFill>
              <a:latin typeface="Archivo Medium"/>
              <a:ea typeface="Archivo Medium"/>
              <a:cs typeface="Archivo Medium"/>
              <a:sym typeface="Archivo Medium"/>
            </a:endParaRPr>
          </a:p>
        </p:txBody>
      </p:sp>
      <p:pic>
        <p:nvPicPr>
          <p:cNvPr id="103" name="Google Shape;103;p17"/>
          <p:cNvPicPr preferRelativeResize="0"/>
          <p:nvPr/>
        </p:nvPicPr>
        <p:blipFill>
          <a:blip r:embed="rId8">
            <a:alphaModFix/>
          </a:blip>
          <a:stretch>
            <a:fillRect/>
          </a:stretch>
        </p:blipFill>
        <p:spPr>
          <a:xfrm>
            <a:off x="854563" y="2755263"/>
            <a:ext cx="2501000" cy="677100"/>
          </a:xfrm>
          <a:prstGeom prst="rect">
            <a:avLst/>
          </a:prstGeom>
          <a:noFill/>
          <a:ln>
            <a:noFill/>
          </a:ln>
        </p:spPr>
      </p:pic>
      <p:sp>
        <p:nvSpPr>
          <p:cNvPr id="104" name="Google Shape;104;p17"/>
          <p:cNvSpPr txBox="1"/>
          <p:nvPr/>
        </p:nvSpPr>
        <p:spPr>
          <a:xfrm>
            <a:off x="797925" y="3880200"/>
            <a:ext cx="377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Archivo"/>
                <a:ea typeface="Archivo"/>
                <a:cs typeface="Archivo"/>
                <a:sym typeface="Archivo"/>
              </a:rPr>
              <a:t>"The world has enough chatbots."</a:t>
            </a:r>
            <a:endParaRPr>
              <a:latin typeface="Archivo"/>
              <a:ea typeface="Archivo"/>
              <a:cs typeface="Archivo"/>
              <a:sym typeface="Archivo"/>
            </a:endParaRPr>
          </a:p>
          <a:p>
            <a:pPr indent="0" lvl="0" marL="0" rtl="0" algn="l">
              <a:spcBef>
                <a:spcPts val="0"/>
              </a:spcBef>
              <a:spcAft>
                <a:spcPts val="0"/>
              </a:spcAft>
              <a:buNone/>
            </a:pPr>
            <a:r>
              <a:rPr lang="en">
                <a:latin typeface="Archivo"/>
                <a:ea typeface="Archivo"/>
                <a:cs typeface="Archivo"/>
                <a:sym typeface="Archivo"/>
              </a:rPr>
              <a:t>We are here to build agents.</a:t>
            </a:r>
            <a:endParaRPr>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8"/>
          <p:cNvSpPr/>
          <p:nvPr/>
        </p:nvSpPr>
        <p:spPr>
          <a:xfrm>
            <a:off x="312075" y="2179325"/>
            <a:ext cx="2583000" cy="25206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 name="Google Shape;111;p18" title="Rectangle 10139.png"/>
          <p:cNvPicPr preferRelativeResize="0"/>
          <p:nvPr/>
        </p:nvPicPr>
        <p:blipFill rotWithShape="1">
          <a:blip r:embed="rId3">
            <a:alphaModFix/>
          </a:blip>
          <a:srcRect b="14480" l="0" r="0" t="14472"/>
          <a:stretch/>
        </p:blipFill>
        <p:spPr>
          <a:xfrm>
            <a:off x="0" y="729225"/>
            <a:ext cx="9144000" cy="1157775"/>
          </a:xfrm>
          <a:prstGeom prst="rect">
            <a:avLst/>
          </a:prstGeom>
          <a:noFill/>
          <a:ln>
            <a:noFill/>
          </a:ln>
        </p:spPr>
      </p:pic>
      <p:sp>
        <p:nvSpPr>
          <p:cNvPr id="112" name="Google Shape;112;p18"/>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 name="Google Shape;114;p18"/>
          <p:cNvPicPr preferRelativeResize="0"/>
          <p:nvPr/>
        </p:nvPicPr>
        <p:blipFill>
          <a:blip r:embed="rId4">
            <a:alphaModFix/>
          </a:blip>
          <a:stretch>
            <a:fillRect/>
          </a:stretch>
        </p:blipFill>
        <p:spPr>
          <a:xfrm>
            <a:off x="289725" y="116714"/>
            <a:ext cx="1212247" cy="329101"/>
          </a:xfrm>
          <a:prstGeom prst="rect">
            <a:avLst/>
          </a:prstGeom>
          <a:noFill/>
          <a:ln>
            <a:noFill/>
          </a:ln>
        </p:spPr>
      </p:pic>
      <p:pic>
        <p:nvPicPr>
          <p:cNvPr id="115" name="Google Shape;115;p18"/>
          <p:cNvPicPr preferRelativeResize="0"/>
          <p:nvPr/>
        </p:nvPicPr>
        <p:blipFill>
          <a:blip r:embed="rId5">
            <a:alphaModFix/>
          </a:blip>
          <a:stretch>
            <a:fillRect/>
          </a:stretch>
        </p:blipFill>
        <p:spPr>
          <a:xfrm>
            <a:off x="7840150" y="4866852"/>
            <a:ext cx="1047829" cy="151137"/>
          </a:xfrm>
          <a:prstGeom prst="rect">
            <a:avLst/>
          </a:prstGeom>
          <a:noFill/>
          <a:ln>
            <a:noFill/>
          </a:ln>
        </p:spPr>
      </p:pic>
      <p:pic>
        <p:nvPicPr>
          <p:cNvPr id="116" name="Google Shape;116;p18" title="Group 1321315272.png"/>
          <p:cNvPicPr preferRelativeResize="0"/>
          <p:nvPr/>
        </p:nvPicPr>
        <p:blipFill>
          <a:blip r:embed="rId6">
            <a:alphaModFix/>
          </a:blip>
          <a:stretch>
            <a:fillRect/>
          </a:stretch>
        </p:blipFill>
        <p:spPr>
          <a:xfrm>
            <a:off x="7496776" y="155738"/>
            <a:ext cx="1391200" cy="251071"/>
          </a:xfrm>
          <a:prstGeom prst="rect">
            <a:avLst/>
          </a:prstGeom>
          <a:noFill/>
          <a:ln>
            <a:noFill/>
          </a:ln>
        </p:spPr>
      </p:pic>
      <p:sp>
        <p:nvSpPr>
          <p:cNvPr id="117" name="Google Shape;117;p18"/>
          <p:cNvSpPr txBox="1"/>
          <p:nvPr/>
        </p:nvSpPr>
        <p:spPr>
          <a:xfrm>
            <a:off x="321500" y="1113851"/>
            <a:ext cx="8425500" cy="6003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 sz="2700">
                <a:latin typeface="Archivo SemiBold"/>
                <a:ea typeface="Archivo SemiBold"/>
                <a:cs typeface="Archivo SemiBold"/>
                <a:sym typeface="Archivo SemiBold"/>
              </a:rPr>
              <a:t>Don't write code. Engineer Reasoning.</a:t>
            </a:r>
            <a:endParaRPr sz="2700">
              <a:latin typeface="Archivo SemiBold"/>
              <a:ea typeface="Archivo SemiBold"/>
              <a:cs typeface="Archivo SemiBold"/>
              <a:sym typeface="Archivo SemiBold"/>
            </a:endParaRPr>
          </a:p>
        </p:txBody>
      </p:sp>
      <p:pic>
        <p:nvPicPr>
          <p:cNvPr descr="preencoded.png" id="118" name="Google Shape;118;p18"/>
          <p:cNvPicPr preferRelativeResize="0"/>
          <p:nvPr/>
        </p:nvPicPr>
        <p:blipFill rotWithShape="1">
          <a:blip r:embed="rId7">
            <a:alphaModFix/>
          </a:blip>
          <a:srcRect b="0" l="0" r="0" t="0"/>
          <a:stretch/>
        </p:blipFill>
        <p:spPr>
          <a:xfrm>
            <a:off x="312062" y="2179324"/>
            <a:ext cx="2582731" cy="141810"/>
          </a:xfrm>
          <a:prstGeom prst="rect">
            <a:avLst/>
          </a:prstGeom>
          <a:noFill/>
          <a:ln>
            <a:noFill/>
          </a:ln>
        </p:spPr>
      </p:pic>
      <p:sp>
        <p:nvSpPr>
          <p:cNvPr id="119" name="Google Shape;119;p18"/>
          <p:cNvSpPr txBox="1"/>
          <p:nvPr/>
        </p:nvSpPr>
        <p:spPr>
          <a:xfrm>
            <a:off x="434125" y="3256761"/>
            <a:ext cx="2151900" cy="12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Archivo"/>
                <a:ea typeface="Archivo"/>
                <a:cs typeface="Archivo"/>
                <a:sym typeface="Archivo"/>
              </a:rPr>
              <a:t>We aren't building toys. Focus on the pain points of 2026 that agentic architecture can eliminate - autonomously and at scale.</a:t>
            </a:r>
            <a:endParaRPr sz="1200">
              <a:latin typeface="Archivo"/>
              <a:ea typeface="Archivo"/>
              <a:cs typeface="Archivo"/>
              <a:sym typeface="Archivo"/>
            </a:endParaRPr>
          </a:p>
        </p:txBody>
      </p:sp>
      <p:sp>
        <p:nvSpPr>
          <p:cNvPr id="120" name="Google Shape;120;p18"/>
          <p:cNvSpPr/>
          <p:nvPr/>
        </p:nvSpPr>
        <p:spPr>
          <a:xfrm>
            <a:off x="453001" y="2458975"/>
            <a:ext cx="2397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lang="en" sz="2100">
                <a:solidFill>
                  <a:srgbClr val="FF0000"/>
                </a:solidFill>
                <a:latin typeface="Archivo"/>
                <a:ea typeface="Archivo"/>
                <a:cs typeface="Archivo"/>
                <a:sym typeface="Archivo"/>
              </a:rPr>
              <a:t>1</a:t>
            </a:r>
            <a:endParaRPr i="0" sz="2100" u="none" cap="none" strike="noStrike">
              <a:solidFill>
                <a:srgbClr val="FF0000"/>
              </a:solidFill>
              <a:latin typeface="Archivo"/>
              <a:ea typeface="Archivo"/>
              <a:cs typeface="Archivo"/>
              <a:sym typeface="Archivo"/>
            </a:endParaRPr>
          </a:p>
        </p:txBody>
      </p:sp>
      <p:sp>
        <p:nvSpPr>
          <p:cNvPr id="121" name="Google Shape;121;p18"/>
          <p:cNvSpPr txBox="1"/>
          <p:nvPr/>
        </p:nvSpPr>
        <p:spPr>
          <a:xfrm>
            <a:off x="368061" y="2698524"/>
            <a:ext cx="20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Archivo SemiBold"/>
                <a:ea typeface="Archivo SemiBold"/>
                <a:cs typeface="Archivo SemiBold"/>
                <a:sym typeface="Archivo SemiBold"/>
              </a:rPr>
              <a:t>Solves Real Friction</a:t>
            </a:r>
            <a:endParaRPr sz="1500">
              <a:latin typeface="Archivo SemiBold"/>
              <a:ea typeface="Archivo SemiBold"/>
              <a:cs typeface="Archivo SemiBold"/>
              <a:sym typeface="Archivo SemiBold"/>
            </a:endParaRPr>
          </a:p>
        </p:txBody>
      </p:sp>
      <p:pic>
        <p:nvPicPr>
          <p:cNvPr descr="preencoded.png" id="122" name="Google Shape;122;p18"/>
          <p:cNvPicPr preferRelativeResize="0"/>
          <p:nvPr/>
        </p:nvPicPr>
        <p:blipFill rotWithShape="1">
          <a:blip r:embed="rId7">
            <a:alphaModFix/>
          </a:blip>
          <a:srcRect b="0" l="0" r="0" t="0"/>
          <a:stretch/>
        </p:blipFill>
        <p:spPr>
          <a:xfrm>
            <a:off x="312050" y="3152962"/>
            <a:ext cx="2582750" cy="36600"/>
          </a:xfrm>
          <a:prstGeom prst="rect">
            <a:avLst/>
          </a:prstGeom>
          <a:noFill/>
          <a:ln>
            <a:noFill/>
          </a:ln>
        </p:spPr>
      </p:pic>
      <p:sp>
        <p:nvSpPr>
          <p:cNvPr id="123" name="Google Shape;123;p18"/>
          <p:cNvSpPr/>
          <p:nvPr/>
        </p:nvSpPr>
        <p:spPr>
          <a:xfrm>
            <a:off x="3182500" y="2160100"/>
            <a:ext cx="2583000" cy="25206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18"/>
          <p:cNvPicPr preferRelativeResize="0"/>
          <p:nvPr/>
        </p:nvPicPr>
        <p:blipFill rotWithShape="1">
          <a:blip r:embed="rId7">
            <a:alphaModFix/>
          </a:blip>
          <a:srcRect b="0" l="0" r="0" t="0"/>
          <a:stretch/>
        </p:blipFill>
        <p:spPr>
          <a:xfrm>
            <a:off x="3182487" y="2160099"/>
            <a:ext cx="2582731" cy="141810"/>
          </a:xfrm>
          <a:prstGeom prst="rect">
            <a:avLst/>
          </a:prstGeom>
          <a:noFill/>
          <a:ln>
            <a:noFill/>
          </a:ln>
        </p:spPr>
      </p:pic>
      <p:sp>
        <p:nvSpPr>
          <p:cNvPr id="125" name="Google Shape;125;p18"/>
          <p:cNvSpPr txBox="1"/>
          <p:nvPr/>
        </p:nvSpPr>
        <p:spPr>
          <a:xfrm>
            <a:off x="3304550" y="3237525"/>
            <a:ext cx="2263500" cy="12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Archivo"/>
                <a:ea typeface="Archivo"/>
                <a:cs typeface="Archivo"/>
                <a:sym typeface="Archivo"/>
              </a:rPr>
              <a:t>Your submission by Sunday IS your resume. It is your ticket into the world's most AI-first companies leading architecture across industries.</a:t>
            </a:r>
            <a:endParaRPr sz="1200">
              <a:latin typeface="Archivo"/>
              <a:ea typeface="Archivo"/>
              <a:cs typeface="Archivo"/>
              <a:sym typeface="Archivo"/>
            </a:endParaRPr>
          </a:p>
        </p:txBody>
      </p:sp>
      <p:sp>
        <p:nvSpPr>
          <p:cNvPr id="126" name="Google Shape;126;p18"/>
          <p:cNvSpPr/>
          <p:nvPr/>
        </p:nvSpPr>
        <p:spPr>
          <a:xfrm>
            <a:off x="3323426" y="2439750"/>
            <a:ext cx="2397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lang="en" sz="2100">
                <a:solidFill>
                  <a:srgbClr val="0B5394"/>
                </a:solidFill>
                <a:latin typeface="Archivo"/>
                <a:ea typeface="Archivo"/>
                <a:cs typeface="Archivo"/>
                <a:sym typeface="Archivo"/>
              </a:rPr>
              <a:t>2</a:t>
            </a:r>
            <a:endParaRPr i="0" sz="2100" u="none" cap="none" strike="noStrike">
              <a:solidFill>
                <a:srgbClr val="0B5394"/>
              </a:solidFill>
              <a:latin typeface="Archivo"/>
              <a:ea typeface="Archivo"/>
              <a:cs typeface="Archivo"/>
              <a:sym typeface="Archivo"/>
            </a:endParaRPr>
          </a:p>
        </p:txBody>
      </p:sp>
      <p:sp>
        <p:nvSpPr>
          <p:cNvPr id="127" name="Google Shape;127;p18"/>
          <p:cNvSpPr txBox="1"/>
          <p:nvPr/>
        </p:nvSpPr>
        <p:spPr>
          <a:xfrm>
            <a:off x="3238486" y="2679299"/>
            <a:ext cx="20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Archivo SemiBold"/>
                <a:ea typeface="Archivo SemiBold"/>
                <a:cs typeface="Archivo SemiBold"/>
                <a:sym typeface="Archivo SemiBold"/>
              </a:rPr>
              <a:t>Proof of Work</a:t>
            </a:r>
            <a:endParaRPr sz="1500">
              <a:latin typeface="Archivo SemiBold"/>
              <a:ea typeface="Archivo SemiBold"/>
              <a:cs typeface="Archivo SemiBold"/>
              <a:sym typeface="Archivo SemiBold"/>
            </a:endParaRPr>
          </a:p>
        </p:txBody>
      </p:sp>
      <p:pic>
        <p:nvPicPr>
          <p:cNvPr descr="preencoded.png" id="128" name="Google Shape;128;p18"/>
          <p:cNvPicPr preferRelativeResize="0"/>
          <p:nvPr/>
        </p:nvPicPr>
        <p:blipFill rotWithShape="1">
          <a:blip r:embed="rId7">
            <a:alphaModFix/>
          </a:blip>
          <a:srcRect b="0" l="0" r="0" t="0"/>
          <a:stretch/>
        </p:blipFill>
        <p:spPr>
          <a:xfrm>
            <a:off x="3182475" y="3133737"/>
            <a:ext cx="2582750" cy="36600"/>
          </a:xfrm>
          <a:prstGeom prst="rect">
            <a:avLst/>
          </a:prstGeom>
          <a:noFill/>
          <a:ln>
            <a:noFill/>
          </a:ln>
        </p:spPr>
      </p:pic>
      <p:sp>
        <p:nvSpPr>
          <p:cNvPr id="129" name="Google Shape;129;p18"/>
          <p:cNvSpPr/>
          <p:nvPr/>
        </p:nvSpPr>
        <p:spPr>
          <a:xfrm>
            <a:off x="5977550" y="2160087"/>
            <a:ext cx="2583000" cy="2520600"/>
          </a:xfrm>
          <a:prstGeom prst="rect">
            <a:avLst/>
          </a:prstGeom>
          <a:solidFill>
            <a:srgbClr val="FFFFFF"/>
          </a:solidFill>
          <a:ln cap="flat" cmpd="sng" w="10150">
            <a:solidFill>
              <a:srgbClr val="E8E0FF"/>
            </a:solidFill>
            <a:prstDash val="solid"/>
            <a:round/>
            <a:headEnd len="sm" w="sm" type="none"/>
            <a:tailEnd len="sm" w="sm" type="none"/>
          </a:ln>
          <a:effectLst>
            <a:outerShdw blurRad="203200" rotWithShape="0" algn="bl" dir="8100000" dist="508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18"/>
          <p:cNvPicPr preferRelativeResize="0"/>
          <p:nvPr/>
        </p:nvPicPr>
        <p:blipFill rotWithShape="1">
          <a:blip r:embed="rId7">
            <a:alphaModFix/>
          </a:blip>
          <a:srcRect b="0" l="0" r="0" t="0"/>
          <a:stretch/>
        </p:blipFill>
        <p:spPr>
          <a:xfrm>
            <a:off x="5977537" y="2160087"/>
            <a:ext cx="2582731" cy="141810"/>
          </a:xfrm>
          <a:prstGeom prst="rect">
            <a:avLst/>
          </a:prstGeom>
          <a:noFill/>
          <a:ln>
            <a:noFill/>
          </a:ln>
        </p:spPr>
      </p:pic>
      <p:sp>
        <p:nvSpPr>
          <p:cNvPr id="131" name="Google Shape;131;p18"/>
          <p:cNvSpPr txBox="1"/>
          <p:nvPr/>
        </p:nvSpPr>
        <p:spPr>
          <a:xfrm>
            <a:off x="6099600" y="3237513"/>
            <a:ext cx="2263500" cy="12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Archivo"/>
                <a:ea typeface="Archivo"/>
                <a:cs typeface="Archivo"/>
                <a:sym typeface="Archivo"/>
              </a:rPr>
              <a:t>Hiring partners and mentors are watching closely. They aren't looking for AI hobbyists - they're looking for the next AI Architects.</a:t>
            </a:r>
            <a:endParaRPr sz="1200">
              <a:latin typeface="Archivo"/>
              <a:ea typeface="Archivo"/>
              <a:cs typeface="Archivo"/>
              <a:sym typeface="Archivo"/>
            </a:endParaRPr>
          </a:p>
        </p:txBody>
      </p:sp>
      <p:sp>
        <p:nvSpPr>
          <p:cNvPr id="132" name="Google Shape;132;p18"/>
          <p:cNvSpPr/>
          <p:nvPr/>
        </p:nvSpPr>
        <p:spPr>
          <a:xfrm>
            <a:off x="6118476" y="2439738"/>
            <a:ext cx="2397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lang="en" sz="2100">
                <a:solidFill>
                  <a:srgbClr val="0B5394"/>
                </a:solidFill>
                <a:latin typeface="Archivo"/>
                <a:ea typeface="Archivo"/>
                <a:cs typeface="Archivo"/>
                <a:sym typeface="Archivo"/>
              </a:rPr>
              <a:t>3</a:t>
            </a:r>
            <a:endParaRPr i="0" sz="2100" u="none" cap="none" strike="noStrike">
              <a:solidFill>
                <a:srgbClr val="0B5394"/>
              </a:solidFill>
              <a:latin typeface="Archivo"/>
              <a:ea typeface="Archivo"/>
              <a:cs typeface="Archivo"/>
              <a:sym typeface="Archivo"/>
            </a:endParaRPr>
          </a:p>
        </p:txBody>
      </p:sp>
      <p:sp>
        <p:nvSpPr>
          <p:cNvPr id="133" name="Google Shape;133;p18"/>
          <p:cNvSpPr txBox="1"/>
          <p:nvPr/>
        </p:nvSpPr>
        <p:spPr>
          <a:xfrm>
            <a:off x="6033536" y="2679286"/>
            <a:ext cx="20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Archivo SemiBold"/>
                <a:ea typeface="Archivo SemiBold"/>
                <a:cs typeface="Archivo SemiBold"/>
                <a:sym typeface="Archivo SemiBold"/>
              </a:rPr>
              <a:t>The Leaderboard</a:t>
            </a:r>
            <a:endParaRPr sz="1500">
              <a:latin typeface="Archivo SemiBold"/>
              <a:ea typeface="Archivo SemiBold"/>
              <a:cs typeface="Archivo SemiBold"/>
              <a:sym typeface="Archivo SemiBold"/>
            </a:endParaRPr>
          </a:p>
        </p:txBody>
      </p:sp>
      <p:pic>
        <p:nvPicPr>
          <p:cNvPr descr="preencoded.png" id="134" name="Google Shape;134;p18"/>
          <p:cNvPicPr preferRelativeResize="0"/>
          <p:nvPr/>
        </p:nvPicPr>
        <p:blipFill rotWithShape="1">
          <a:blip r:embed="rId7">
            <a:alphaModFix/>
          </a:blip>
          <a:srcRect b="0" l="0" r="0" t="0"/>
          <a:stretch/>
        </p:blipFill>
        <p:spPr>
          <a:xfrm>
            <a:off x="5977525" y="3133724"/>
            <a:ext cx="2582750" cy="36600"/>
          </a:xfrm>
          <a:prstGeom prst="rect">
            <a:avLst/>
          </a:prstGeom>
          <a:noFill/>
          <a:ln>
            <a:noFill/>
          </a:ln>
        </p:spPr>
      </p:pic>
      <p:sp>
        <p:nvSpPr>
          <p:cNvPr id="135" name="Google Shape;135;p18"/>
          <p:cNvSpPr txBox="1"/>
          <p:nvPr/>
        </p:nvSpPr>
        <p:spPr>
          <a:xfrm>
            <a:off x="339749" y="815675"/>
            <a:ext cx="543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C72E2F"/>
                </a:solidFill>
                <a:latin typeface="Archivo Medium"/>
                <a:ea typeface="Archivo Medium"/>
                <a:cs typeface="Archivo Medium"/>
                <a:sym typeface="Archivo Medium"/>
              </a:rPr>
              <a:t>Your Mission next 3 days</a:t>
            </a:r>
            <a:endParaRPr>
              <a:solidFill>
                <a:srgbClr val="C72E2F"/>
              </a:solidFill>
              <a:latin typeface="Archivo Medium"/>
              <a:ea typeface="Archivo Medium"/>
              <a:cs typeface="Archivo Medium"/>
              <a:sym typeface="Archiv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id="141" name="Google Shape;141;p19"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142" name="Google Shape;142;p19"/>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PROBLEM</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Autonomous Support Resolution Agent</a:t>
            </a:r>
            <a:endParaRPr i="0" sz="900" u="none" cap="none" strike="noStrike">
              <a:solidFill>
                <a:schemeClr val="dk1"/>
              </a:solidFill>
              <a:latin typeface="Archivo"/>
              <a:ea typeface="Archivo"/>
              <a:cs typeface="Archivo"/>
              <a:sym typeface="Archivo"/>
            </a:endParaRPr>
          </a:p>
        </p:txBody>
      </p:sp>
      <p:sp>
        <p:nvSpPr>
          <p:cNvPr id="143" name="Google Shape;143;p19"/>
          <p:cNvSpPr/>
          <p:nvPr/>
        </p:nvSpPr>
        <p:spPr>
          <a:xfrm>
            <a:off x="320040" y="1368213"/>
            <a:ext cx="8503800" cy="384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200"/>
              <a:buFont typeface="Trebuchet MS"/>
              <a:buNone/>
            </a:pPr>
            <a:r>
              <a:rPr i="1" lang="en" sz="1200" u="none" cap="none" strike="noStrike">
                <a:solidFill>
                  <a:srgbClr val="4A3F6B"/>
                </a:solidFill>
                <a:latin typeface="Archivo"/>
                <a:ea typeface="Archivo"/>
                <a:cs typeface="Archivo"/>
                <a:sym typeface="Archivo"/>
              </a:rPr>
              <a:t>ShopWave receives hundreds of support tickets daily. Most are repetitive </a:t>
            </a:r>
            <a:r>
              <a:rPr i="1" lang="en" sz="1200">
                <a:solidFill>
                  <a:srgbClr val="4A3F6B"/>
                </a:solidFill>
                <a:latin typeface="Archivo"/>
                <a:ea typeface="Archivo"/>
                <a:cs typeface="Archivo"/>
                <a:sym typeface="Archivo"/>
              </a:rPr>
              <a:t>- </a:t>
            </a:r>
            <a:r>
              <a:rPr i="1" lang="en" sz="1200" u="none" cap="none" strike="noStrike">
                <a:solidFill>
                  <a:srgbClr val="4A3F6B"/>
                </a:solidFill>
                <a:latin typeface="Archivo"/>
                <a:ea typeface="Archivo"/>
                <a:cs typeface="Archivo"/>
                <a:sym typeface="Archivo"/>
              </a:rPr>
              <a:t>but all go to humans. Your job: build an agent that resolves them autonomously.  (Sample Da</a:t>
            </a:r>
            <a:r>
              <a:rPr i="1" lang="en" sz="1200">
                <a:solidFill>
                  <a:srgbClr val="4A3F6B"/>
                </a:solidFill>
                <a:latin typeface="Archivo"/>
                <a:ea typeface="Archivo"/>
                <a:cs typeface="Archivo"/>
                <a:sym typeface="Archivo"/>
              </a:rPr>
              <a:t>ta: </a:t>
            </a:r>
            <a:r>
              <a:rPr i="1" lang="en" sz="1200" u="sng">
                <a:solidFill>
                  <a:schemeClr val="hlink"/>
                </a:solidFill>
                <a:latin typeface="Archivo"/>
                <a:ea typeface="Archivo"/>
                <a:cs typeface="Archivo"/>
                <a:sym typeface="Archivo"/>
                <a:hlinkClick r:id="rId4"/>
              </a:rPr>
              <a:t>https://github.com/ksolves/agentic_ai_hackthon_2026_sample_data/</a:t>
            </a:r>
            <a:r>
              <a:rPr i="1" lang="en" sz="1200" u="sng" cap="none" strike="noStrike">
                <a:solidFill>
                  <a:schemeClr val="hlink"/>
                </a:solidFill>
                <a:latin typeface="Archivo"/>
                <a:ea typeface="Archivo"/>
                <a:cs typeface="Archivo"/>
                <a:sym typeface="Archivo"/>
                <a:hlinkClick r:id="rId5"/>
              </a:rPr>
              <a:t>)</a:t>
            </a:r>
            <a:endParaRPr i="0" sz="1200" u="none" cap="none" strike="noStrike">
              <a:solidFill>
                <a:schemeClr val="dk1"/>
              </a:solidFill>
              <a:latin typeface="Archivo"/>
              <a:ea typeface="Archivo"/>
              <a:cs typeface="Archivo"/>
              <a:sym typeface="Archivo"/>
            </a:endParaRPr>
          </a:p>
        </p:txBody>
      </p:sp>
      <p:sp>
        <p:nvSpPr>
          <p:cNvPr id="144" name="Google Shape;144;p19"/>
          <p:cNvSpPr/>
          <p:nvPr/>
        </p:nvSpPr>
        <p:spPr>
          <a:xfrm>
            <a:off x="320040" y="1902375"/>
            <a:ext cx="8503800" cy="11100"/>
          </a:xfrm>
          <a:prstGeom prst="rect">
            <a:avLst/>
          </a:prstGeom>
          <a:solidFill>
            <a:srgbClr val="E8E0FF"/>
          </a:solidFill>
          <a:ln cap="flat" cmpd="sng" w="12700">
            <a:solidFill>
              <a:srgbClr val="E8E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320040" y="2112687"/>
            <a:ext cx="402300" cy="4023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 name="Google Shape;146;p19"/>
          <p:cNvPicPr preferRelativeResize="0"/>
          <p:nvPr/>
        </p:nvPicPr>
        <p:blipFill rotWithShape="1">
          <a:blip r:embed="rId6">
            <a:alphaModFix/>
          </a:blip>
          <a:srcRect b="0" l="0" r="0" t="0"/>
          <a:stretch/>
        </p:blipFill>
        <p:spPr>
          <a:xfrm>
            <a:off x="384048" y="2176695"/>
            <a:ext cx="274320" cy="274320"/>
          </a:xfrm>
          <a:prstGeom prst="rect">
            <a:avLst/>
          </a:prstGeom>
          <a:noFill/>
          <a:ln>
            <a:noFill/>
          </a:ln>
        </p:spPr>
      </p:pic>
      <p:sp>
        <p:nvSpPr>
          <p:cNvPr id="147" name="Google Shape;147;p19"/>
          <p:cNvSpPr/>
          <p:nvPr/>
        </p:nvSpPr>
        <p:spPr>
          <a:xfrm>
            <a:off x="832104" y="2112687"/>
            <a:ext cx="36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i="0" lang="en" sz="1300" u="none" cap="none" strike="noStrike">
                <a:solidFill>
                  <a:srgbClr val="1A1033"/>
                </a:solidFill>
                <a:latin typeface="Archivo"/>
                <a:ea typeface="Archivo"/>
                <a:cs typeface="Archivo"/>
                <a:sym typeface="Archivo"/>
              </a:rPr>
              <a:t>01  Ingest</a:t>
            </a:r>
            <a:endParaRPr i="0" sz="1300" u="none" cap="none" strike="noStrike">
              <a:solidFill>
                <a:schemeClr val="dk1"/>
              </a:solidFill>
              <a:latin typeface="Archivo"/>
              <a:ea typeface="Archivo"/>
              <a:cs typeface="Archivo"/>
              <a:sym typeface="Archivo"/>
            </a:endParaRPr>
          </a:p>
        </p:txBody>
      </p:sp>
      <p:sp>
        <p:nvSpPr>
          <p:cNvPr id="148" name="Google Shape;148;p19"/>
          <p:cNvSpPr/>
          <p:nvPr/>
        </p:nvSpPr>
        <p:spPr>
          <a:xfrm>
            <a:off x="832104" y="2387007"/>
            <a:ext cx="3602700" cy="475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050"/>
              <a:buFont typeface="Trebuchet MS"/>
              <a:buNone/>
            </a:pPr>
            <a:r>
              <a:rPr i="0" lang="en" sz="1050" u="none" cap="none" strike="noStrike">
                <a:solidFill>
                  <a:srgbClr val="4A3F6B"/>
                </a:solidFill>
                <a:latin typeface="Archivo"/>
                <a:ea typeface="Archivo"/>
                <a:cs typeface="Archivo"/>
                <a:sym typeface="Archivo"/>
              </a:rPr>
              <a:t>Tickets from  simulated source</a:t>
            </a:r>
            <a:endParaRPr i="0" sz="1050" u="none" cap="none" strike="noStrike">
              <a:solidFill>
                <a:schemeClr val="dk1"/>
              </a:solidFill>
              <a:latin typeface="Archivo"/>
              <a:ea typeface="Archivo"/>
              <a:cs typeface="Archivo"/>
              <a:sym typeface="Archivo"/>
            </a:endParaRPr>
          </a:p>
        </p:txBody>
      </p:sp>
      <p:sp>
        <p:nvSpPr>
          <p:cNvPr id="149" name="Google Shape;149;p19"/>
          <p:cNvSpPr/>
          <p:nvPr/>
        </p:nvSpPr>
        <p:spPr>
          <a:xfrm>
            <a:off x="320040" y="2917359"/>
            <a:ext cx="4114800" cy="11100"/>
          </a:xfrm>
          <a:prstGeom prst="rect">
            <a:avLst/>
          </a:prstGeom>
          <a:solidFill>
            <a:srgbClr val="E8E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320040" y="3063663"/>
            <a:ext cx="402300" cy="402300"/>
          </a:xfrm>
          <a:prstGeom prst="ellipse">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 name="Google Shape;151;p19"/>
          <p:cNvPicPr preferRelativeResize="0"/>
          <p:nvPr/>
        </p:nvPicPr>
        <p:blipFill rotWithShape="1">
          <a:blip r:embed="rId7">
            <a:alphaModFix/>
          </a:blip>
          <a:srcRect b="0" l="0" r="0" t="0"/>
          <a:stretch/>
        </p:blipFill>
        <p:spPr>
          <a:xfrm>
            <a:off x="384048" y="3127671"/>
            <a:ext cx="274320" cy="274320"/>
          </a:xfrm>
          <a:prstGeom prst="rect">
            <a:avLst/>
          </a:prstGeom>
          <a:noFill/>
          <a:ln>
            <a:noFill/>
          </a:ln>
        </p:spPr>
      </p:pic>
      <p:sp>
        <p:nvSpPr>
          <p:cNvPr id="152" name="Google Shape;152;p19"/>
          <p:cNvSpPr/>
          <p:nvPr/>
        </p:nvSpPr>
        <p:spPr>
          <a:xfrm>
            <a:off x="832104" y="3063663"/>
            <a:ext cx="36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i="0" lang="en" sz="1300" u="none" cap="none" strike="noStrike">
                <a:solidFill>
                  <a:srgbClr val="1A1033"/>
                </a:solidFill>
                <a:latin typeface="Archivo"/>
                <a:ea typeface="Archivo"/>
                <a:cs typeface="Archivo"/>
                <a:sym typeface="Archivo"/>
              </a:rPr>
              <a:t>02  Classify &amp; </a:t>
            </a:r>
            <a:r>
              <a:rPr b="1" lang="en" sz="1300">
                <a:solidFill>
                  <a:srgbClr val="1A1033"/>
                </a:solidFill>
                <a:latin typeface="Archivo"/>
                <a:ea typeface="Archivo"/>
                <a:cs typeface="Archivo"/>
                <a:sym typeface="Archivo"/>
              </a:rPr>
              <a:t>T</a:t>
            </a:r>
            <a:r>
              <a:rPr b="1" i="0" lang="en" sz="1300" u="none" cap="none" strike="noStrike">
                <a:solidFill>
                  <a:srgbClr val="1A1033"/>
                </a:solidFill>
                <a:latin typeface="Archivo"/>
                <a:ea typeface="Archivo"/>
                <a:cs typeface="Archivo"/>
                <a:sym typeface="Archivo"/>
              </a:rPr>
              <a:t>riage</a:t>
            </a:r>
            <a:endParaRPr i="0" sz="1300" u="none" cap="none" strike="noStrike">
              <a:solidFill>
                <a:schemeClr val="dk1"/>
              </a:solidFill>
              <a:latin typeface="Archivo"/>
              <a:ea typeface="Archivo"/>
              <a:cs typeface="Archivo"/>
              <a:sym typeface="Archivo"/>
            </a:endParaRPr>
          </a:p>
        </p:txBody>
      </p:sp>
      <p:sp>
        <p:nvSpPr>
          <p:cNvPr id="153" name="Google Shape;153;p19"/>
          <p:cNvSpPr/>
          <p:nvPr/>
        </p:nvSpPr>
        <p:spPr>
          <a:xfrm>
            <a:off x="832104" y="3259457"/>
            <a:ext cx="3602700" cy="475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050"/>
              <a:buFont typeface="Trebuchet MS"/>
              <a:buNone/>
            </a:pPr>
            <a:r>
              <a:rPr i="0" lang="en" sz="1050" u="none" cap="none" strike="noStrike">
                <a:solidFill>
                  <a:srgbClr val="4A3F6B"/>
                </a:solidFill>
                <a:latin typeface="Archivo"/>
                <a:ea typeface="Archivo"/>
                <a:cs typeface="Archivo"/>
                <a:sym typeface="Archivo"/>
              </a:rPr>
              <a:t>By urgency, category, and resolvability</a:t>
            </a:r>
            <a:endParaRPr i="0" sz="1050" u="none" cap="none" strike="noStrike">
              <a:solidFill>
                <a:schemeClr val="dk1"/>
              </a:solidFill>
              <a:latin typeface="Archivo"/>
              <a:ea typeface="Archivo"/>
              <a:cs typeface="Archivo"/>
              <a:sym typeface="Archivo"/>
            </a:endParaRPr>
          </a:p>
        </p:txBody>
      </p:sp>
      <p:sp>
        <p:nvSpPr>
          <p:cNvPr id="154" name="Google Shape;154;p19"/>
          <p:cNvSpPr/>
          <p:nvPr/>
        </p:nvSpPr>
        <p:spPr>
          <a:xfrm>
            <a:off x="320040" y="3868335"/>
            <a:ext cx="4114800" cy="11100"/>
          </a:xfrm>
          <a:prstGeom prst="rect">
            <a:avLst/>
          </a:prstGeom>
          <a:solidFill>
            <a:srgbClr val="E8E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320040" y="4014639"/>
            <a:ext cx="402300" cy="402300"/>
          </a:xfrm>
          <a:prstGeom prst="ellipse">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19"/>
          <p:cNvPicPr preferRelativeResize="0"/>
          <p:nvPr/>
        </p:nvPicPr>
        <p:blipFill rotWithShape="1">
          <a:blip r:embed="rId8">
            <a:alphaModFix/>
          </a:blip>
          <a:srcRect b="0" l="0" r="0" t="0"/>
          <a:stretch/>
        </p:blipFill>
        <p:spPr>
          <a:xfrm>
            <a:off x="384048" y="4078647"/>
            <a:ext cx="274320" cy="274320"/>
          </a:xfrm>
          <a:prstGeom prst="rect">
            <a:avLst/>
          </a:prstGeom>
          <a:noFill/>
          <a:ln>
            <a:noFill/>
          </a:ln>
        </p:spPr>
      </p:pic>
      <p:sp>
        <p:nvSpPr>
          <p:cNvPr id="157" name="Google Shape;157;p19"/>
          <p:cNvSpPr/>
          <p:nvPr/>
        </p:nvSpPr>
        <p:spPr>
          <a:xfrm>
            <a:off x="832104" y="4014639"/>
            <a:ext cx="36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i="0" lang="en" sz="1300" u="none" cap="none" strike="noStrike">
                <a:solidFill>
                  <a:srgbClr val="1A1033"/>
                </a:solidFill>
                <a:latin typeface="Archivo"/>
                <a:ea typeface="Archivo"/>
                <a:cs typeface="Archivo"/>
                <a:sym typeface="Archivo"/>
              </a:rPr>
              <a:t>03  Autonomously </a:t>
            </a:r>
            <a:r>
              <a:rPr b="1" lang="en" sz="1300">
                <a:solidFill>
                  <a:srgbClr val="1A1033"/>
                </a:solidFill>
                <a:latin typeface="Archivo"/>
                <a:ea typeface="Archivo"/>
                <a:cs typeface="Archivo"/>
                <a:sym typeface="Archivo"/>
              </a:rPr>
              <a:t>R</a:t>
            </a:r>
            <a:r>
              <a:rPr b="1" i="0" lang="en" sz="1300" u="none" cap="none" strike="noStrike">
                <a:solidFill>
                  <a:srgbClr val="1A1033"/>
                </a:solidFill>
                <a:latin typeface="Archivo"/>
                <a:ea typeface="Archivo"/>
                <a:cs typeface="Archivo"/>
                <a:sym typeface="Archivo"/>
              </a:rPr>
              <a:t>esolve</a:t>
            </a:r>
            <a:endParaRPr i="0" sz="1300" u="none" cap="none" strike="noStrike">
              <a:solidFill>
                <a:schemeClr val="dk1"/>
              </a:solidFill>
              <a:latin typeface="Archivo"/>
              <a:ea typeface="Archivo"/>
              <a:cs typeface="Archivo"/>
              <a:sym typeface="Archivo"/>
            </a:endParaRPr>
          </a:p>
        </p:txBody>
      </p:sp>
      <p:sp>
        <p:nvSpPr>
          <p:cNvPr id="158" name="Google Shape;158;p19"/>
          <p:cNvSpPr/>
          <p:nvPr/>
        </p:nvSpPr>
        <p:spPr>
          <a:xfrm>
            <a:off x="832104" y="4210433"/>
            <a:ext cx="3602700" cy="475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050"/>
              <a:buFont typeface="Trebuchet MS"/>
              <a:buNone/>
            </a:pPr>
            <a:r>
              <a:rPr i="0" lang="en" sz="1050" u="none" cap="none" strike="noStrike">
                <a:solidFill>
                  <a:srgbClr val="4A3F6B"/>
                </a:solidFill>
                <a:latin typeface="Archivo"/>
                <a:ea typeface="Archivo"/>
                <a:cs typeface="Archivo"/>
                <a:sym typeface="Archivo"/>
              </a:rPr>
              <a:t>Use tools to take action </a:t>
            </a:r>
            <a:r>
              <a:rPr lang="en" sz="1050">
                <a:solidFill>
                  <a:srgbClr val="4A3F6B"/>
                </a:solidFill>
                <a:latin typeface="Archivo"/>
                <a:ea typeface="Archivo"/>
                <a:cs typeface="Archivo"/>
                <a:sym typeface="Archivo"/>
              </a:rPr>
              <a:t>- </a:t>
            </a:r>
            <a:r>
              <a:rPr i="0" lang="en" sz="1050" u="none" cap="none" strike="noStrike">
                <a:solidFill>
                  <a:srgbClr val="4A3F6B"/>
                </a:solidFill>
                <a:latin typeface="Archivo"/>
                <a:ea typeface="Archivo"/>
                <a:cs typeface="Archivo"/>
                <a:sym typeface="Archivo"/>
              </a:rPr>
              <a:t>don't just classify and stop</a:t>
            </a:r>
            <a:endParaRPr i="0" sz="1050" u="none" cap="none" strike="noStrike">
              <a:solidFill>
                <a:schemeClr val="dk1"/>
              </a:solidFill>
              <a:latin typeface="Archivo"/>
              <a:ea typeface="Archivo"/>
              <a:cs typeface="Archivo"/>
              <a:sym typeface="Archivo"/>
            </a:endParaRPr>
          </a:p>
        </p:txBody>
      </p:sp>
      <p:sp>
        <p:nvSpPr>
          <p:cNvPr id="159" name="Google Shape;159;p19"/>
          <p:cNvSpPr/>
          <p:nvPr/>
        </p:nvSpPr>
        <p:spPr>
          <a:xfrm>
            <a:off x="320040" y="4681728"/>
            <a:ext cx="4114800" cy="10973"/>
          </a:xfrm>
          <a:prstGeom prst="rect">
            <a:avLst/>
          </a:prstGeom>
          <a:solidFill>
            <a:srgbClr val="E8E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4736592" y="2112687"/>
            <a:ext cx="402300" cy="402300"/>
          </a:xfrm>
          <a:prstGeom prst="ellipse">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19"/>
          <p:cNvPicPr preferRelativeResize="0"/>
          <p:nvPr/>
        </p:nvPicPr>
        <p:blipFill rotWithShape="1">
          <a:blip r:embed="rId9">
            <a:alphaModFix/>
          </a:blip>
          <a:srcRect b="0" l="0" r="0" t="0"/>
          <a:stretch/>
        </p:blipFill>
        <p:spPr>
          <a:xfrm>
            <a:off x="4803353" y="2151901"/>
            <a:ext cx="274320" cy="274320"/>
          </a:xfrm>
          <a:prstGeom prst="rect">
            <a:avLst/>
          </a:prstGeom>
          <a:noFill/>
          <a:ln>
            <a:noFill/>
          </a:ln>
        </p:spPr>
      </p:pic>
      <p:sp>
        <p:nvSpPr>
          <p:cNvPr id="162" name="Google Shape;162;p19"/>
          <p:cNvSpPr/>
          <p:nvPr/>
        </p:nvSpPr>
        <p:spPr>
          <a:xfrm>
            <a:off x="5248656" y="2112687"/>
            <a:ext cx="36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i="0" lang="en" sz="1300" u="none" cap="none" strike="noStrike">
                <a:solidFill>
                  <a:srgbClr val="1A1033"/>
                </a:solidFill>
                <a:latin typeface="Archivo"/>
                <a:ea typeface="Archivo"/>
                <a:cs typeface="Archivo"/>
                <a:sym typeface="Archivo"/>
              </a:rPr>
              <a:t>04  Escalate </a:t>
            </a:r>
            <a:r>
              <a:rPr b="1" lang="en" sz="1300">
                <a:solidFill>
                  <a:srgbClr val="1A1033"/>
                </a:solidFill>
                <a:latin typeface="Archivo"/>
                <a:ea typeface="Archivo"/>
                <a:cs typeface="Archivo"/>
                <a:sym typeface="Archivo"/>
              </a:rPr>
              <a:t>I</a:t>
            </a:r>
            <a:r>
              <a:rPr b="1" i="0" lang="en" sz="1300" u="none" cap="none" strike="noStrike">
                <a:solidFill>
                  <a:srgbClr val="1A1033"/>
                </a:solidFill>
                <a:latin typeface="Archivo"/>
                <a:ea typeface="Archivo"/>
                <a:cs typeface="Archivo"/>
                <a:sym typeface="Archivo"/>
              </a:rPr>
              <a:t>ntelligently</a:t>
            </a:r>
            <a:endParaRPr i="0" sz="1300" u="none" cap="none" strike="noStrike">
              <a:solidFill>
                <a:schemeClr val="dk1"/>
              </a:solidFill>
              <a:latin typeface="Archivo"/>
              <a:ea typeface="Archivo"/>
              <a:cs typeface="Archivo"/>
              <a:sym typeface="Archivo"/>
            </a:endParaRPr>
          </a:p>
        </p:txBody>
      </p:sp>
      <p:sp>
        <p:nvSpPr>
          <p:cNvPr id="163" name="Google Shape;163;p19"/>
          <p:cNvSpPr/>
          <p:nvPr/>
        </p:nvSpPr>
        <p:spPr>
          <a:xfrm>
            <a:off x="5248656" y="2316333"/>
            <a:ext cx="3602700" cy="475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050"/>
              <a:buFont typeface="Trebuchet MS"/>
              <a:buNone/>
            </a:pPr>
            <a:r>
              <a:rPr i="0" lang="en" sz="1050" u="none" cap="none" strike="noStrike">
                <a:solidFill>
                  <a:srgbClr val="4A3F6B"/>
                </a:solidFill>
                <a:latin typeface="Archivo"/>
                <a:ea typeface="Archivo"/>
                <a:cs typeface="Archivo"/>
                <a:sym typeface="Archivo"/>
              </a:rPr>
              <a:t>When uncertain, hand off with a structured summary</a:t>
            </a:r>
            <a:endParaRPr i="0" sz="1050" u="none" cap="none" strike="noStrike">
              <a:solidFill>
                <a:schemeClr val="dk1"/>
              </a:solidFill>
              <a:latin typeface="Archivo"/>
              <a:ea typeface="Archivo"/>
              <a:cs typeface="Archivo"/>
              <a:sym typeface="Archivo"/>
            </a:endParaRPr>
          </a:p>
        </p:txBody>
      </p:sp>
      <p:sp>
        <p:nvSpPr>
          <p:cNvPr id="164" name="Google Shape;164;p19"/>
          <p:cNvSpPr/>
          <p:nvPr/>
        </p:nvSpPr>
        <p:spPr>
          <a:xfrm>
            <a:off x="4736592" y="2917359"/>
            <a:ext cx="4114800" cy="11100"/>
          </a:xfrm>
          <a:prstGeom prst="rect">
            <a:avLst/>
          </a:prstGeom>
          <a:solidFill>
            <a:srgbClr val="E8E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4736592" y="3301407"/>
            <a:ext cx="402300" cy="40230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19"/>
          <p:cNvPicPr preferRelativeResize="0"/>
          <p:nvPr/>
        </p:nvPicPr>
        <p:blipFill rotWithShape="1">
          <a:blip r:embed="rId10">
            <a:alphaModFix/>
          </a:blip>
          <a:srcRect b="0" l="0" r="0" t="0"/>
          <a:stretch/>
        </p:blipFill>
        <p:spPr>
          <a:xfrm>
            <a:off x="4800600" y="3365397"/>
            <a:ext cx="274320" cy="274320"/>
          </a:xfrm>
          <a:prstGeom prst="rect">
            <a:avLst/>
          </a:prstGeom>
          <a:noFill/>
          <a:ln>
            <a:noFill/>
          </a:ln>
        </p:spPr>
      </p:pic>
      <p:sp>
        <p:nvSpPr>
          <p:cNvPr id="167" name="Google Shape;167;p19"/>
          <p:cNvSpPr/>
          <p:nvPr/>
        </p:nvSpPr>
        <p:spPr>
          <a:xfrm>
            <a:off x="5248656" y="3301407"/>
            <a:ext cx="3602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300"/>
              <a:buFont typeface="Trebuchet MS"/>
              <a:buNone/>
            </a:pPr>
            <a:r>
              <a:rPr b="1" i="0" lang="en" sz="1300" u="none" cap="none" strike="noStrike">
                <a:solidFill>
                  <a:srgbClr val="1A1033"/>
                </a:solidFill>
                <a:latin typeface="Archivo"/>
                <a:ea typeface="Archivo"/>
                <a:cs typeface="Archivo"/>
                <a:sym typeface="Archivo"/>
              </a:rPr>
              <a:t>05  Audit </a:t>
            </a:r>
            <a:r>
              <a:rPr b="1" lang="en" sz="1300">
                <a:solidFill>
                  <a:srgbClr val="1A1033"/>
                </a:solidFill>
                <a:latin typeface="Archivo"/>
                <a:ea typeface="Archivo"/>
                <a:cs typeface="Archivo"/>
                <a:sym typeface="Archivo"/>
              </a:rPr>
              <a:t>E</a:t>
            </a:r>
            <a:r>
              <a:rPr b="1" i="0" lang="en" sz="1300" u="none" cap="none" strike="noStrike">
                <a:solidFill>
                  <a:srgbClr val="1A1033"/>
                </a:solidFill>
                <a:latin typeface="Archivo"/>
                <a:ea typeface="Archivo"/>
                <a:cs typeface="Archivo"/>
                <a:sym typeface="Archivo"/>
              </a:rPr>
              <a:t>very </a:t>
            </a:r>
            <a:r>
              <a:rPr b="1" lang="en" sz="1300">
                <a:solidFill>
                  <a:srgbClr val="1A1033"/>
                </a:solidFill>
                <a:latin typeface="Archivo"/>
                <a:ea typeface="Archivo"/>
                <a:cs typeface="Archivo"/>
                <a:sym typeface="Archivo"/>
              </a:rPr>
              <a:t>D</a:t>
            </a:r>
            <a:r>
              <a:rPr b="1" i="0" lang="en" sz="1300" u="none" cap="none" strike="noStrike">
                <a:solidFill>
                  <a:srgbClr val="1A1033"/>
                </a:solidFill>
                <a:latin typeface="Archivo"/>
                <a:ea typeface="Archivo"/>
                <a:cs typeface="Archivo"/>
                <a:sym typeface="Archivo"/>
              </a:rPr>
              <a:t>ecision</a:t>
            </a:r>
            <a:endParaRPr i="0" sz="1300" u="none" cap="none" strike="noStrike">
              <a:solidFill>
                <a:schemeClr val="dk1"/>
              </a:solidFill>
              <a:latin typeface="Archivo"/>
              <a:ea typeface="Archivo"/>
              <a:cs typeface="Archivo"/>
              <a:sym typeface="Archivo"/>
            </a:endParaRPr>
          </a:p>
        </p:txBody>
      </p:sp>
      <p:sp>
        <p:nvSpPr>
          <p:cNvPr id="168" name="Google Shape;168;p19"/>
          <p:cNvSpPr/>
          <p:nvPr/>
        </p:nvSpPr>
        <p:spPr>
          <a:xfrm>
            <a:off x="5248656" y="3575727"/>
            <a:ext cx="3602700" cy="475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A3F6B"/>
              </a:buClr>
              <a:buSzPts val="1050"/>
              <a:buFont typeface="Trebuchet MS"/>
              <a:buNone/>
            </a:pPr>
            <a:r>
              <a:rPr i="0" lang="en" sz="1050" u="none" cap="none" strike="noStrike">
                <a:solidFill>
                  <a:srgbClr val="4A3F6B"/>
                </a:solidFill>
                <a:latin typeface="Archivo"/>
                <a:ea typeface="Archivo"/>
                <a:cs typeface="Archivo"/>
                <a:sym typeface="Archivo"/>
              </a:rPr>
              <a:t>Log tool calls, reasoning, and outcomes </a:t>
            </a:r>
            <a:r>
              <a:rPr lang="en" sz="1050">
                <a:solidFill>
                  <a:srgbClr val="4A3F6B"/>
                </a:solidFill>
                <a:latin typeface="Archivo"/>
                <a:ea typeface="Archivo"/>
                <a:cs typeface="Archivo"/>
                <a:sym typeface="Archivo"/>
              </a:rPr>
              <a:t>- </a:t>
            </a:r>
            <a:r>
              <a:rPr i="0" lang="en" sz="1050" u="none" cap="none" strike="noStrike">
                <a:solidFill>
                  <a:srgbClr val="4A3F6B"/>
                </a:solidFill>
                <a:latin typeface="Archivo"/>
                <a:ea typeface="Archivo"/>
                <a:cs typeface="Archivo"/>
                <a:sym typeface="Archivo"/>
              </a:rPr>
              <a:t>not just final answers</a:t>
            </a:r>
            <a:endParaRPr i="0" sz="1050" u="none" cap="none" strike="noStrike">
              <a:solidFill>
                <a:schemeClr val="dk1"/>
              </a:solidFill>
              <a:latin typeface="Archivo"/>
              <a:ea typeface="Archivo"/>
              <a:cs typeface="Archivo"/>
              <a:sym typeface="Archivo"/>
            </a:endParaRPr>
          </a:p>
        </p:txBody>
      </p:sp>
      <p:sp>
        <p:nvSpPr>
          <p:cNvPr id="169" name="Google Shape;169;p19"/>
          <p:cNvSpPr/>
          <p:nvPr/>
        </p:nvSpPr>
        <p:spPr>
          <a:xfrm>
            <a:off x="4572000" y="2039526"/>
            <a:ext cx="11100" cy="2653200"/>
          </a:xfrm>
          <a:prstGeom prst="rect">
            <a:avLst/>
          </a:prstGeom>
          <a:solidFill>
            <a:srgbClr val="E8E0FF"/>
          </a:solidFill>
          <a:ln cap="flat" cmpd="sng" w="12700">
            <a:solidFill>
              <a:srgbClr val="E8E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 name="Google Shape;172;p19"/>
          <p:cNvPicPr preferRelativeResize="0"/>
          <p:nvPr/>
        </p:nvPicPr>
        <p:blipFill>
          <a:blip r:embed="rId11">
            <a:alphaModFix/>
          </a:blip>
          <a:stretch>
            <a:fillRect/>
          </a:stretch>
        </p:blipFill>
        <p:spPr>
          <a:xfrm>
            <a:off x="289725" y="116714"/>
            <a:ext cx="1212247" cy="329101"/>
          </a:xfrm>
          <a:prstGeom prst="rect">
            <a:avLst/>
          </a:prstGeom>
          <a:noFill/>
          <a:ln>
            <a:noFill/>
          </a:ln>
        </p:spPr>
      </p:pic>
      <p:pic>
        <p:nvPicPr>
          <p:cNvPr id="173" name="Google Shape;173;p19"/>
          <p:cNvPicPr preferRelativeResize="0"/>
          <p:nvPr/>
        </p:nvPicPr>
        <p:blipFill>
          <a:blip r:embed="rId12">
            <a:alphaModFix/>
          </a:blip>
          <a:stretch>
            <a:fillRect/>
          </a:stretch>
        </p:blipFill>
        <p:spPr>
          <a:xfrm>
            <a:off x="7840150" y="4866852"/>
            <a:ext cx="1047829" cy="151137"/>
          </a:xfrm>
          <a:prstGeom prst="rect">
            <a:avLst/>
          </a:prstGeom>
          <a:noFill/>
          <a:ln>
            <a:noFill/>
          </a:ln>
        </p:spPr>
      </p:pic>
      <p:pic>
        <p:nvPicPr>
          <p:cNvPr id="174" name="Google Shape;174;p19" title="Group 1321315272.png"/>
          <p:cNvPicPr preferRelativeResize="0"/>
          <p:nvPr/>
        </p:nvPicPr>
        <p:blipFill>
          <a:blip r:embed="rId13">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pic>
        <p:nvPicPr>
          <p:cNvPr id="180" name="Google Shape;180;p20"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181" name="Google Shape;181;p20"/>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CONSTRAINTS</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Rules </a:t>
            </a:r>
            <a:r>
              <a:rPr b="1" lang="en" sz="2100">
                <a:solidFill>
                  <a:schemeClr val="dk1"/>
                </a:solidFill>
                <a:latin typeface="Archivo"/>
                <a:ea typeface="Archivo"/>
                <a:cs typeface="Archivo"/>
                <a:sym typeface="Archivo"/>
              </a:rPr>
              <a:t>Y</a:t>
            </a:r>
            <a:r>
              <a:rPr b="1" i="0" lang="en" sz="2100" u="none" cap="none" strike="noStrike">
                <a:solidFill>
                  <a:schemeClr val="dk1"/>
                </a:solidFill>
                <a:latin typeface="Archivo"/>
                <a:ea typeface="Archivo"/>
                <a:cs typeface="Archivo"/>
                <a:sym typeface="Archivo"/>
              </a:rPr>
              <a:t>our </a:t>
            </a:r>
            <a:r>
              <a:rPr b="1" lang="en" sz="2100">
                <a:solidFill>
                  <a:schemeClr val="dk1"/>
                </a:solidFill>
                <a:latin typeface="Archivo"/>
                <a:ea typeface="Archivo"/>
                <a:cs typeface="Archivo"/>
                <a:sym typeface="Archivo"/>
              </a:rPr>
              <a:t>A</a:t>
            </a:r>
            <a:r>
              <a:rPr b="1" i="0" lang="en" sz="2100" u="none" cap="none" strike="noStrike">
                <a:solidFill>
                  <a:schemeClr val="dk1"/>
                </a:solidFill>
                <a:latin typeface="Archivo"/>
                <a:ea typeface="Archivo"/>
                <a:cs typeface="Archivo"/>
                <a:sym typeface="Archivo"/>
              </a:rPr>
              <a:t>gent </a:t>
            </a:r>
            <a:r>
              <a:rPr b="1" lang="en" sz="2100">
                <a:solidFill>
                  <a:schemeClr val="dk1"/>
                </a:solidFill>
                <a:latin typeface="Archivo"/>
                <a:ea typeface="Archivo"/>
                <a:cs typeface="Archivo"/>
                <a:sym typeface="Archivo"/>
              </a:rPr>
              <a:t>M</a:t>
            </a:r>
            <a:r>
              <a:rPr b="1" i="0" lang="en" sz="2100" u="none" cap="none" strike="noStrike">
                <a:solidFill>
                  <a:schemeClr val="dk1"/>
                </a:solidFill>
                <a:latin typeface="Archivo"/>
                <a:ea typeface="Archivo"/>
                <a:cs typeface="Archivo"/>
                <a:sym typeface="Archivo"/>
              </a:rPr>
              <a:t>ust </a:t>
            </a:r>
            <a:r>
              <a:rPr b="1" lang="en" sz="2100">
                <a:solidFill>
                  <a:schemeClr val="dk1"/>
                </a:solidFill>
                <a:latin typeface="Archivo"/>
                <a:ea typeface="Archivo"/>
                <a:cs typeface="Archivo"/>
                <a:sym typeface="Archivo"/>
              </a:rPr>
              <a:t>F</a:t>
            </a:r>
            <a:r>
              <a:rPr b="1" i="0" lang="en" sz="2100" u="none" cap="none" strike="noStrike">
                <a:solidFill>
                  <a:schemeClr val="dk1"/>
                </a:solidFill>
                <a:latin typeface="Archivo"/>
                <a:ea typeface="Archivo"/>
                <a:cs typeface="Archivo"/>
                <a:sym typeface="Archivo"/>
              </a:rPr>
              <a:t>ollow</a:t>
            </a:r>
            <a:endParaRPr i="0" sz="900" u="none" cap="none" strike="noStrike">
              <a:solidFill>
                <a:schemeClr val="dk1"/>
              </a:solidFill>
              <a:latin typeface="Archivo"/>
              <a:ea typeface="Archivo"/>
              <a:cs typeface="Archivo"/>
              <a:sym typeface="Archivo"/>
            </a:endParaRPr>
          </a:p>
        </p:txBody>
      </p:sp>
      <p:sp>
        <p:nvSpPr>
          <p:cNvPr id="182" name="Google Shape;182;p20"/>
          <p:cNvSpPr/>
          <p:nvPr/>
        </p:nvSpPr>
        <p:spPr>
          <a:xfrm>
            <a:off x="274325" y="1493500"/>
            <a:ext cx="4116300" cy="1258800"/>
          </a:xfrm>
          <a:prstGeom prst="rect">
            <a:avLst/>
          </a:prstGeom>
          <a:solidFill>
            <a:srgbClr val="FFFFFF"/>
          </a:solidFill>
          <a:ln cap="flat" cmpd="sng" w="8325">
            <a:solidFill>
              <a:srgbClr val="E8E0FF"/>
            </a:solidFill>
            <a:prstDash val="solid"/>
            <a:round/>
            <a:headEnd len="sm" w="sm" type="none"/>
            <a:tailEnd len="sm" w="sm" type="none"/>
          </a:ln>
          <a:effectLst>
            <a:outerShdw blurRad="166513" rotWithShape="0" algn="bl" dir="8100000" dist="41628">
              <a:srgbClr val="000000">
                <a:alpha val="10196"/>
              </a:srgbClr>
            </a:outerShdw>
          </a:effectLst>
        </p:spPr>
        <p:txBody>
          <a:bodyPr anchorCtr="0" anchor="ctr" bIns="74925" lIns="74925" spcFirstLastPara="1" rIns="74925" wrap="square" tIns="74925">
            <a:noAutofit/>
          </a:bodyPr>
          <a:lstStyle/>
          <a:p>
            <a:pPr indent="0" lvl="0" marL="0" rtl="0" algn="l">
              <a:spcBef>
                <a:spcPts val="0"/>
              </a:spcBef>
              <a:spcAft>
                <a:spcPts val="0"/>
              </a:spcAft>
              <a:buNone/>
            </a:pPr>
            <a:r>
              <a:t/>
            </a:r>
            <a:endParaRPr sz="1147"/>
          </a:p>
        </p:txBody>
      </p:sp>
      <p:pic>
        <p:nvPicPr>
          <p:cNvPr descr="preencoded.png" id="183" name="Google Shape;183;p20"/>
          <p:cNvPicPr preferRelativeResize="0"/>
          <p:nvPr/>
        </p:nvPicPr>
        <p:blipFill rotWithShape="1">
          <a:blip r:embed="rId4">
            <a:alphaModFix/>
          </a:blip>
          <a:srcRect b="0" l="0" r="0" t="0"/>
          <a:stretch/>
        </p:blipFill>
        <p:spPr>
          <a:xfrm>
            <a:off x="274325" y="1493500"/>
            <a:ext cx="4116523" cy="44958"/>
          </a:xfrm>
          <a:prstGeom prst="rect">
            <a:avLst/>
          </a:prstGeom>
          <a:noFill/>
          <a:ln>
            <a:noFill/>
          </a:ln>
        </p:spPr>
      </p:pic>
      <p:sp>
        <p:nvSpPr>
          <p:cNvPr id="184" name="Google Shape;184;p20"/>
          <p:cNvSpPr/>
          <p:nvPr/>
        </p:nvSpPr>
        <p:spPr>
          <a:xfrm>
            <a:off x="438257" y="1613389"/>
            <a:ext cx="437100" cy="359700"/>
          </a:xfrm>
          <a:prstGeom prst="ellipse">
            <a:avLst/>
          </a:prstGeom>
          <a:solidFill>
            <a:srgbClr val="1565C0"/>
          </a:solidFill>
          <a:ln cap="flat" cmpd="sng" w="10425">
            <a:solidFill>
              <a:srgbClr val="1565C0"/>
            </a:solidFill>
            <a:prstDash val="solid"/>
            <a:round/>
            <a:headEnd len="sm" w="sm" type="none"/>
            <a:tailEnd len="sm" w="sm" type="none"/>
          </a:ln>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185" name="Google Shape;185;p20"/>
          <p:cNvPicPr preferRelativeResize="0"/>
          <p:nvPr/>
        </p:nvPicPr>
        <p:blipFill rotWithShape="1">
          <a:blip r:embed="rId5">
            <a:alphaModFix/>
          </a:blip>
          <a:srcRect b="0" l="0" r="0" t="0"/>
          <a:stretch/>
        </p:blipFill>
        <p:spPr>
          <a:xfrm>
            <a:off x="502009" y="1665840"/>
            <a:ext cx="309645" cy="254763"/>
          </a:xfrm>
          <a:prstGeom prst="rect">
            <a:avLst/>
          </a:prstGeom>
          <a:noFill/>
          <a:ln>
            <a:noFill/>
          </a:ln>
        </p:spPr>
      </p:pic>
      <p:sp>
        <p:nvSpPr>
          <p:cNvPr id="186" name="Google Shape;186;p20"/>
          <p:cNvSpPr/>
          <p:nvPr/>
        </p:nvSpPr>
        <p:spPr>
          <a:xfrm>
            <a:off x="874932" y="1688507"/>
            <a:ext cx="929400" cy="19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1"/>
              <a:buFont typeface="Trebuchet MS"/>
              <a:buNone/>
            </a:pPr>
            <a:r>
              <a:rPr b="1" i="0" lang="en" sz="1229" u="none" cap="none" strike="noStrike">
                <a:solidFill>
                  <a:srgbClr val="1565C0"/>
                </a:solidFill>
                <a:latin typeface="Archivo"/>
                <a:ea typeface="Archivo"/>
                <a:cs typeface="Archivo"/>
                <a:sym typeface="Archivo"/>
              </a:rPr>
              <a:t>Chain</a:t>
            </a:r>
            <a:endParaRPr i="0" sz="1229" u="none" cap="none" strike="noStrike">
              <a:solidFill>
                <a:srgbClr val="1565C0"/>
              </a:solidFill>
              <a:latin typeface="Archivo"/>
              <a:ea typeface="Archivo"/>
              <a:cs typeface="Archivo"/>
              <a:sym typeface="Archivo"/>
            </a:endParaRPr>
          </a:p>
        </p:txBody>
      </p:sp>
      <p:sp>
        <p:nvSpPr>
          <p:cNvPr id="187" name="Google Shape;187;p20"/>
          <p:cNvSpPr/>
          <p:nvPr/>
        </p:nvSpPr>
        <p:spPr>
          <a:xfrm>
            <a:off x="420043" y="2000360"/>
            <a:ext cx="3843300" cy="65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3F6B"/>
              </a:buClr>
              <a:buSzPts val="860"/>
              <a:buFont typeface="Trebuchet MS"/>
              <a:buNone/>
            </a:pPr>
            <a:r>
              <a:rPr i="0" lang="en" sz="1000" u="none" cap="none" strike="noStrike">
                <a:solidFill>
                  <a:srgbClr val="4A3F6B"/>
                </a:solidFill>
                <a:latin typeface="Archivo"/>
                <a:ea typeface="Archivo"/>
                <a:cs typeface="Archivo"/>
                <a:sym typeface="Archivo"/>
              </a:rPr>
              <a:t>Must make at least 3 tool calls in a single reasoning chain. E.g., lookup user → check order → send reply.</a:t>
            </a:r>
            <a:endParaRPr i="0" sz="1000" u="none" cap="none" strike="noStrike">
              <a:solidFill>
                <a:schemeClr val="dk1"/>
              </a:solidFill>
              <a:latin typeface="Archivo"/>
              <a:ea typeface="Archivo"/>
              <a:cs typeface="Archivo"/>
              <a:sym typeface="Archivo"/>
            </a:endParaRPr>
          </a:p>
        </p:txBody>
      </p:sp>
      <p:sp>
        <p:nvSpPr>
          <p:cNvPr id="188" name="Google Shape;188;p20"/>
          <p:cNvSpPr/>
          <p:nvPr/>
        </p:nvSpPr>
        <p:spPr>
          <a:xfrm>
            <a:off x="4645853" y="1493500"/>
            <a:ext cx="4116300" cy="1258800"/>
          </a:xfrm>
          <a:prstGeom prst="rect">
            <a:avLst/>
          </a:prstGeom>
          <a:solidFill>
            <a:srgbClr val="FFFFFF"/>
          </a:solidFill>
          <a:ln cap="flat" cmpd="sng" w="8325">
            <a:solidFill>
              <a:srgbClr val="E8E0FF"/>
            </a:solidFill>
            <a:prstDash val="solid"/>
            <a:round/>
            <a:headEnd len="sm" w="sm" type="none"/>
            <a:tailEnd len="sm" w="sm" type="none"/>
          </a:ln>
          <a:effectLst>
            <a:outerShdw blurRad="166513" rotWithShape="0" algn="bl" dir="8100000" dist="41628">
              <a:srgbClr val="000000">
                <a:alpha val="10196"/>
              </a:srgbClr>
            </a:outerShdw>
          </a:effectLst>
        </p:spPr>
        <p:txBody>
          <a:bodyPr anchorCtr="0" anchor="ctr" bIns="74925" lIns="74925" spcFirstLastPara="1" rIns="74925" wrap="square" tIns="74925">
            <a:noAutofit/>
          </a:bodyPr>
          <a:lstStyle/>
          <a:p>
            <a:pPr indent="0" lvl="0" marL="0" rtl="0" algn="l">
              <a:spcBef>
                <a:spcPts val="0"/>
              </a:spcBef>
              <a:spcAft>
                <a:spcPts val="0"/>
              </a:spcAft>
              <a:buNone/>
            </a:pPr>
            <a:r>
              <a:t/>
            </a:r>
            <a:endParaRPr sz="1147"/>
          </a:p>
        </p:txBody>
      </p:sp>
      <p:pic>
        <p:nvPicPr>
          <p:cNvPr descr="preencoded.png" id="189" name="Google Shape;189;p20"/>
          <p:cNvPicPr preferRelativeResize="0"/>
          <p:nvPr/>
        </p:nvPicPr>
        <p:blipFill rotWithShape="1">
          <a:blip r:embed="rId4">
            <a:alphaModFix/>
          </a:blip>
          <a:srcRect b="0" l="0" r="0" t="0"/>
          <a:stretch/>
        </p:blipFill>
        <p:spPr>
          <a:xfrm>
            <a:off x="4645853" y="1493500"/>
            <a:ext cx="4116523" cy="44958"/>
          </a:xfrm>
          <a:prstGeom prst="rect">
            <a:avLst/>
          </a:prstGeom>
          <a:noFill/>
          <a:ln>
            <a:noFill/>
          </a:ln>
        </p:spPr>
      </p:pic>
      <p:sp>
        <p:nvSpPr>
          <p:cNvPr id="190" name="Google Shape;190;p20"/>
          <p:cNvSpPr/>
          <p:nvPr/>
        </p:nvSpPr>
        <p:spPr>
          <a:xfrm>
            <a:off x="4809785" y="1613389"/>
            <a:ext cx="437100" cy="359700"/>
          </a:xfrm>
          <a:prstGeom prst="ellipse">
            <a:avLst/>
          </a:prstGeom>
          <a:solidFill>
            <a:srgbClr val="E91E8C"/>
          </a:solidFill>
          <a:ln cap="flat" cmpd="sng" w="10425">
            <a:solidFill>
              <a:srgbClr val="E91E8C"/>
            </a:solidFill>
            <a:prstDash val="solid"/>
            <a:round/>
            <a:headEnd len="sm" w="sm" type="none"/>
            <a:tailEnd len="sm" w="sm" type="none"/>
          </a:ln>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191" name="Google Shape;191;p20"/>
          <p:cNvPicPr preferRelativeResize="0"/>
          <p:nvPr/>
        </p:nvPicPr>
        <p:blipFill rotWithShape="1">
          <a:blip r:embed="rId6">
            <a:alphaModFix/>
          </a:blip>
          <a:srcRect b="0" l="0" r="0" t="0"/>
          <a:stretch/>
        </p:blipFill>
        <p:spPr>
          <a:xfrm>
            <a:off x="4873536" y="1665840"/>
            <a:ext cx="309645" cy="254763"/>
          </a:xfrm>
          <a:prstGeom prst="rect">
            <a:avLst/>
          </a:prstGeom>
          <a:noFill/>
          <a:ln>
            <a:noFill/>
          </a:ln>
        </p:spPr>
      </p:pic>
      <p:sp>
        <p:nvSpPr>
          <p:cNvPr id="192" name="Google Shape;192;p20"/>
          <p:cNvSpPr/>
          <p:nvPr/>
        </p:nvSpPr>
        <p:spPr>
          <a:xfrm>
            <a:off x="5356228" y="1643353"/>
            <a:ext cx="929400" cy="19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1"/>
              <a:buFont typeface="Trebuchet MS"/>
              <a:buNone/>
            </a:pPr>
            <a:r>
              <a:rPr b="1" i="0" lang="en" sz="901" u="none" cap="none" strike="noStrike">
                <a:solidFill>
                  <a:srgbClr val="FFFFFF"/>
                </a:solidFill>
                <a:latin typeface="Trebuchet MS"/>
                <a:ea typeface="Trebuchet MS"/>
                <a:cs typeface="Trebuchet MS"/>
                <a:sym typeface="Trebuchet MS"/>
              </a:rPr>
              <a:t>Recover</a:t>
            </a:r>
            <a:endParaRPr b="0" i="0" sz="901" u="none" cap="none" strike="noStrike">
              <a:solidFill>
                <a:schemeClr val="dk1"/>
              </a:solidFill>
              <a:latin typeface="Calibri"/>
              <a:ea typeface="Calibri"/>
              <a:cs typeface="Calibri"/>
              <a:sym typeface="Calibri"/>
            </a:endParaRPr>
          </a:p>
        </p:txBody>
      </p:sp>
      <p:sp>
        <p:nvSpPr>
          <p:cNvPr id="193" name="Google Shape;193;p20"/>
          <p:cNvSpPr/>
          <p:nvPr/>
        </p:nvSpPr>
        <p:spPr>
          <a:xfrm>
            <a:off x="4791570" y="2000360"/>
            <a:ext cx="3843300" cy="65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3F6B"/>
              </a:buClr>
              <a:buSzPts val="860"/>
              <a:buFont typeface="Trebuchet MS"/>
              <a:buNone/>
            </a:pPr>
            <a:r>
              <a:rPr i="0" lang="en" sz="1000" u="none" cap="none" strike="noStrike">
                <a:solidFill>
                  <a:srgbClr val="4A3F6B"/>
                </a:solidFill>
                <a:latin typeface="Archivo"/>
                <a:ea typeface="Archivo"/>
                <a:cs typeface="Archivo"/>
                <a:sym typeface="Archivo"/>
              </a:rPr>
              <a:t>Must gracefully handle tool failures </a:t>
            </a:r>
            <a:r>
              <a:rPr lang="en" sz="1000">
                <a:solidFill>
                  <a:srgbClr val="4A3F6B"/>
                </a:solidFill>
                <a:latin typeface="Archivo"/>
                <a:ea typeface="Archivo"/>
                <a:cs typeface="Archivo"/>
                <a:sym typeface="Archivo"/>
              </a:rPr>
              <a:t>-</a:t>
            </a:r>
            <a:r>
              <a:rPr i="0" lang="en" sz="1000" u="none" cap="none" strike="noStrike">
                <a:solidFill>
                  <a:srgbClr val="4A3F6B"/>
                </a:solidFill>
                <a:latin typeface="Archivo"/>
                <a:ea typeface="Archivo"/>
                <a:cs typeface="Archivo"/>
                <a:sym typeface="Archivo"/>
              </a:rPr>
              <a:t> at least one tool will timeout or return malformed data. Don't crash.</a:t>
            </a:r>
            <a:endParaRPr i="0" sz="1000" u="none" cap="none" strike="noStrike">
              <a:solidFill>
                <a:schemeClr val="dk1"/>
              </a:solidFill>
              <a:latin typeface="Archivo"/>
              <a:ea typeface="Archivo"/>
              <a:cs typeface="Archivo"/>
              <a:sym typeface="Archivo"/>
            </a:endParaRPr>
          </a:p>
        </p:txBody>
      </p:sp>
      <p:sp>
        <p:nvSpPr>
          <p:cNvPr id="194" name="Google Shape;194;p20"/>
          <p:cNvSpPr/>
          <p:nvPr/>
        </p:nvSpPr>
        <p:spPr>
          <a:xfrm>
            <a:off x="274325" y="2943445"/>
            <a:ext cx="4116300" cy="1258800"/>
          </a:xfrm>
          <a:prstGeom prst="rect">
            <a:avLst/>
          </a:prstGeom>
          <a:solidFill>
            <a:srgbClr val="FFFFFF"/>
          </a:solidFill>
          <a:ln cap="flat" cmpd="sng" w="8325">
            <a:solidFill>
              <a:srgbClr val="E8E0FF"/>
            </a:solidFill>
            <a:prstDash val="solid"/>
            <a:round/>
            <a:headEnd len="sm" w="sm" type="none"/>
            <a:tailEnd len="sm" w="sm" type="none"/>
          </a:ln>
          <a:effectLst>
            <a:outerShdw blurRad="166513" rotWithShape="0" algn="bl" dir="8100000" dist="41628">
              <a:srgbClr val="000000">
                <a:alpha val="10196"/>
              </a:srgbClr>
            </a:outerShdw>
          </a:effectLst>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195" name="Google Shape;195;p20"/>
          <p:cNvPicPr preferRelativeResize="0"/>
          <p:nvPr/>
        </p:nvPicPr>
        <p:blipFill rotWithShape="1">
          <a:blip r:embed="rId4">
            <a:alphaModFix/>
          </a:blip>
          <a:srcRect b="0" l="0" r="0" t="0"/>
          <a:stretch/>
        </p:blipFill>
        <p:spPr>
          <a:xfrm>
            <a:off x="274325" y="2943445"/>
            <a:ext cx="4116523" cy="44958"/>
          </a:xfrm>
          <a:prstGeom prst="rect">
            <a:avLst/>
          </a:prstGeom>
          <a:noFill/>
          <a:ln>
            <a:noFill/>
          </a:ln>
        </p:spPr>
      </p:pic>
      <p:sp>
        <p:nvSpPr>
          <p:cNvPr id="196" name="Google Shape;196;p20"/>
          <p:cNvSpPr/>
          <p:nvPr/>
        </p:nvSpPr>
        <p:spPr>
          <a:xfrm>
            <a:off x="438257" y="3063334"/>
            <a:ext cx="437100" cy="359700"/>
          </a:xfrm>
          <a:prstGeom prst="ellipse">
            <a:avLst/>
          </a:prstGeom>
          <a:solidFill>
            <a:srgbClr val="6A1B9A"/>
          </a:solidFill>
          <a:ln cap="flat" cmpd="sng" w="10425">
            <a:solidFill>
              <a:srgbClr val="6A1B9A"/>
            </a:solidFill>
            <a:prstDash val="solid"/>
            <a:round/>
            <a:headEnd len="sm" w="sm" type="none"/>
            <a:tailEnd len="sm" w="sm" type="none"/>
          </a:ln>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197" name="Google Shape;197;p20"/>
          <p:cNvPicPr preferRelativeResize="0"/>
          <p:nvPr/>
        </p:nvPicPr>
        <p:blipFill rotWithShape="1">
          <a:blip r:embed="rId7">
            <a:alphaModFix/>
          </a:blip>
          <a:srcRect b="0" l="0" r="0" t="0"/>
          <a:stretch/>
        </p:blipFill>
        <p:spPr>
          <a:xfrm>
            <a:off x="502009" y="3115785"/>
            <a:ext cx="309645" cy="254763"/>
          </a:xfrm>
          <a:prstGeom prst="rect">
            <a:avLst/>
          </a:prstGeom>
          <a:noFill/>
          <a:ln>
            <a:noFill/>
          </a:ln>
        </p:spPr>
      </p:pic>
      <p:sp>
        <p:nvSpPr>
          <p:cNvPr id="198" name="Google Shape;198;p20"/>
          <p:cNvSpPr/>
          <p:nvPr/>
        </p:nvSpPr>
        <p:spPr>
          <a:xfrm>
            <a:off x="420043" y="3450305"/>
            <a:ext cx="3843300" cy="65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3F6B"/>
              </a:buClr>
              <a:buSzPts val="860"/>
              <a:buFont typeface="Trebuchet MS"/>
              <a:buNone/>
            </a:pPr>
            <a:r>
              <a:rPr i="0" lang="en" sz="1000" u="none" cap="none" strike="noStrike">
                <a:solidFill>
                  <a:srgbClr val="4A3F6B"/>
                </a:solidFill>
                <a:latin typeface="Archivo"/>
                <a:ea typeface="Archivo"/>
                <a:cs typeface="Archivo"/>
                <a:sym typeface="Archivo"/>
              </a:rPr>
              <a:t>Tickets must be processed concurrently, not one-by-one. Sequential processing will be penalised.</a:t>
            </a:r>
            <a:endParaRPr i="0" sz="1000" u="none" cap="none" strike="noStrike">
              <a:solidFill>
                <a:schemeClr val="dk1"/>
              </a:solidFill>
              <a:latin typeface="Archivo"/>
              <a:ea typeface="Archivo"/>
              <a:cs typeface="Archivo"/>
              <a:sym typeface="Archivo"/>
            </a:endParaRPr>
          </a:p>
        </p:txBody>
      </p:sp>
      <p:sp>
        <p:nvSpPr>
          <p:cNvPr id="199" name="Google Shape;199;p20"/>
          <p:cNvSpPr/>
          <p:nvPr/>
        </p:nvSpPr>
        <p:spPr>
          <a:xfrm>
            <a:off x="4645853" y="2943445"/>
            <a:ext cx="4116300" cy="1258800"/>
          </a:xfrm>
          <a:prstGeom prst="rect">
            <a:avLst/>
          </a:prstGeom>
          <a:solidFill>
            <a:srgbClr val="FFFFFF"/>
          </a:solidFill>
          <a:ln cap="flat" cmpd="sng" w="8325">
            <a:solidFill>
              <a:srgbClr val="E8E0FF"/>
            </a:solidFill>
            <a:prstDash val="solid"/>
            <a:round/>
            <a:headEnd len="sm" w="sm" type="none"/>
            <a:tailEnd len="sm" w="sm" type="none"/>
          </a:ln>
          <a:effectLst>
            <a:outerShdw blurRad="166513" rotWithShape="0" algn="bl" dir="8100000" dist="41628">
              <a:srgbClr val="000000">
                <a:alpha val="10196"/>
              </a:srgbClr>
            </a:outerShdw>
          </a:effectLst>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200" name="Google Shape;200;p20"/>
          <p:cNvPicPr preferRelativeResize="0"/>
          <p:nvPr/>
        </p:nvPicPr>
        <p:blipFill rotWithShape="1">
          <a:blip r:embed="rId4">
            <a:alphaModFix/>
          </a:blip>
          <a:srcRect b="0" l="0" r="0" t="0"/>
          <a:stretch/>
        </p:blipFill>
        <p:spPr>
          <a:xfrm>
            <a:off x="4645853" y="2943445"/>
            <a:ext cx="4116523" cy="44958"/>
          </a:xfrm>
          <a:prstGeom prst="rect">
            <a:avLst/>
          </a:prstGeom>
          <a:noFill/>
          <a:ln>
            <a:noFill/>
          </a:ln>
        </p:spPr>
      </p:pic>
      <p:sp>
        <p:nvSpPr>
          <p:cNvPr id="201" name="Google Shape;201;p20"/>
          <p:cNvSpPr/>
          <p:nvPr/>
        </p:nvSpPr>
        <p:spPr>
          <a:xfrm>
            <a:off x="4809785" y="3063334"/>
            <a:ext cx="437100" cy="359700"/>
          </a:xfrm>
          <a:prstGeom prst="ellipse">
            <a:avLst/>
          </a:prstGeom>
          <a:solidFill>
            <a:srgbClr val="374151"/>
          </a:solidFill>
          <a:ln cap="flat" cmpd="sng" w="10425">
            <a:solidFill>
              <a:srgbClr val="374151"/>
            </a:solidFill>
            <a:prstDash val="solid"/>
            <a:round/>
            <a:headEnd len="sm" w="sm" type="none"/>
            <a:tailEnd len="sm" w="sm" type="none"/>
          </a:ln>
        </p:spPr>
        <p:txBody>
          <a:bodyPr anchorCtr="0" anchor="ctr" bIns="74925" lIns="74925" spcFirstLastPara="1" rIns="74925" wrap="square" tIns="74925">
            <a:noAutofit/>
          </a:bodyPr>
          <a:lstStyle/>
          <a:p>
            <a:pPr indent="0" lvl="0" marL="0" rtl="0" algn="l">
              <a:spcBef>
                <a:spcPts val="0"/>
              </a:spcBef>
              <a:spcAft>
                <a:spcPts val="0"/>
              </a:spcAft>
              <a:buNone/>
            </a:pPr>
            <a:r>
              <a:t/>
            </a:r>
            <a:endParaRPr/>
          </a:p>
        </p:txBody>
      </p:sp>
      <p:pic>
        <p:nvPicPr>
          <p:cNvPr descr="preencoded.png" id="202" name="Google Shape;202;p20"/>
          <p:cNvPicPr preferRelativeResize="0"/>
          <p:nvPr/>
        </p:nvPicPr>
        <p:blipFill rotWithShape="1">
          <a:blip r:embed="rId8">
            <a:alphaModFix/>
          </a:blip>
          <a:srcRect b="0" l="0" r="0" t="0"/>
          <a:stretch/>
        </p:blipFill>
        <p:spPr>
          <a:xfrm>
            <a:off x="4873536" y="3115785"/>
            <a:ext cx="309645" cy="254763"/>
          </a:xfrm>
          <a:prstGeom prst="rect">
            <a:avLst/>
          </a:prstGeom>
          <a:noFill/>
          <a:ln>
            <a:noFill/>
          </a:ln>
        </p:spPr>
      </p:pic>
      <p:sp>
        <p:nvSpPr>
          <p:cNvPr id="203" name="Google Shape;203;p20"/>
          <p:cNvSpPr/>
          <p:nvPr/>
        </p:nvSpPr>
        <p:spPr>
          <a:xfrm>
            <a:off x="4791570" y="3450305"/>
            <a:ext cx="3843300" cy="65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3F6B"/>
              </a:buClr>
              <a:buSzPts val="860"/>
              <a:buFont typeface="Trebuchet MS"/>
              <a:buNone/>
            </a:pPr>
            <a:r>
              <a:rPr i="0" lang="en" sz="1000" u="none" cap="none" strike="noStrike">
                <a:solidFill>
                  <a:srgbClr val="4A3F6B"/>
                </a:solidFill>
                <a:latin typeface="Archivo"/>
                <a:ea typeface="Archivo"/>
                <a:cs typeface="Archivo"/>
                <a:sym typeface="Archivo"/>
              </a:rPr>
              <a:t>Every decision must be explainable. No black-box outputs</a:t>
            </a:r>
            <a:r>
              <a:rPr lang="en" sz="1000">
                <a:solidFill>
                  <a:srgbClr val="4A3F6B"/>
                </a:solidFill>
                <a:latin typeface="Archivo"/>
                <a:ea typeface="Archivo"/>
                <a:cs typeface="Archivo"/>
                <a:sym typeface="Archivo"/>
              </a:rPr>
              <a:t>.</a:t>
            </a:r>
            <a:endParaRPr i="0" sz="1000" u="none" cap="none" strike="noStrike">
              <a:solidFill>
                <a:schemeClr val="dk1"/>
              </a:solidFill>
              <a:latin typeface="Archivo"/>
              <a:ea typeface="Archivo"/>
              <a:cs typeface="Archivo"/>
              <a:sym typeface="Archivo"/>
            </a:endParaRPr>
          </a:p>
        </p:txBody>
      </p:sp>
      <p:sp>
        <p:nvSpPr>
          <p:cNvPr id="204" name="Google Shape;204;p20"/>
          <p:cNvSpPr/>
          <p:nvPr/>
        </p:nvSpPr>
        <p:spPr>
          <a:xfrm>
            <a:off x="320050" y="4513475"/>
            <a:ext cx="7166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8E8"/>
              </a:buClr>
              <a:buSzPts val="1000"/>
              <a:buFont typeface="Trebuchet MS"/>
              <a:buNone/>
            </a:pPr>
            <a:r>
              <a:rPr i="1" lang="en" sz="1200" u="none" cap="none" strike="noStrike">
                <a:solidFill>
                  <a:schemeClr val="dk2"/>
                </a:solidFill>
                <a:latin typeface="Archivo"/>
                <a:ea typeface="Archivo"/>
                <a:cs typeface="Archivo"/>
                <a:sym typeface="Archivo"/>
              </a:rPr>
              <a:t>AI coding tools are fully allowed </a:t>
            </a:r>
            <a:r>
              <a:rPr i="1" lang="en" sz="1200">
                <a:solidFill>
                  <a:schemeClr val="dk2"/>
                </a:solidFill>
                <a:latin typeface="Archivo"/>
                <a:ea typeface="Archivo"/>
                <a:cs typeface="Archivo"/>
                <a:sym typeface="Archivo"/>
              </a:rPr>
              <a:t>- </a:t>
            </a:r>
            <a:r>
              <a:rPr i="1" lang="en" sz="1200" u="none" cap="none" strike="noStrike">
                <a:solidFill>
                  <a:schemeClr val="dk2"/>
                </a:solidFill>
                <a:latin typeface="Archivo"/>
                <a:ea typeface="Archivo"/>
                <a:cs typeface="Archivo"/>
                <a:sym typeface="Archivo"/>
              </a:rPr>
              <a:t>but you will be asked to walk through your code live. If you can't explain it, it counts against you.</a:t>
            </a:r>
            <a:endParaRPr i="0" sz="1200" u="none" cap="none" strike="noStrike">
              <a:solidFill>
                <a:schemeClr val="dk2"/>
              </a:solidFill>
              <a:latin typeface="Archivo"/>
              <a:ea typeface="Archivo"/>
              <a:cs typeface="Archivo"/>
              <a:sym typeface="Archivo"/>
            </a:endParaRPr>
          </a:p>
        </p:txBody>
      </p:sp>
      <p:sp>
        <p:nvSpPr>
          <p:cNvPr id="205" name="Google Shape;205;p20"/>
          <p:cNvSpPr txBox="1"/>
          <p:nvPr/>
        </p:nvSpPr>
        <p:spPr>
          <a:xfrm>
            <a:off x="5422413" y="1622979"/>
            <a:ext cx="2988000" cy="340500"/>
          </a:xfrm>
          <a:prstGeom prst="rect">
            <a:avLst/>
          </a:prstGeom>
          <a:noFill/>
          <a:ln>
            <a:noFill/>
          </a:ln>
        </p:spPr>
        <p:txBody>
          <a:bodyPr anchorCtr="0" anchor="t" bIns="74925" lIns="74925" spcFirstLastPara="1" rIns="74925" wrap="square" tIns="74925">
            <a:spAutoFit/>
          </a:bodyPr>
          <a:lstStyle/>
          <a:p>
            <a:pPr indent="0" lvl="0" marL="0" rtl="0" algn="l">
              <a:spcBef>
                <a:spcPts val="0"/>
              </a:spcBef>
              <a:spcAft>
                <a:spcPts val="0"/>
              </a:spcAft>
              <a:buNone/>
            </a:pPr>
            <a:r>
              <a:rPr b="1" lang="en" sz="1229">
                <a:solidFill>
                  <a:srgbClr val="E91E8C"/>
                </a:solidFill>
                <a:latin typeface="Archivo"/>
                <a:ea typeface="Archivo"/>
                <a:cs typeface="Archivo"/>
                <a:sym typeface="Archivo"/>
              </a:rPr>
              <a:t>Recover</a:t>
            </a:r>
            <a:endParaRPr b="1" sz="1229">
              <a:solidFill>
                <a:srgbClr val="E91E8C"/>
              </a:solidFill>
              <a:latin typeface="Archivo"/>
              <a:ea typeface="Archivo"/>
              <a:cs typeface="Archivo"/>
              <a:sym typeface="Archivo"/>
            </a:endParaRPr>
          </a:p>
        </p:txBody>
      </p:sp>
      <p:sp>
        <p:nvSpPr>
          <p:cNvPr id="206" name="Google Shape;206;p20"/>
          <p:cNvSpPr/>
          <p:nvPr/>
        </p:nvSpPr>
        <p:spPr>
          <a:xfrm>
            <a:off x="1160019" y="3145823"/>
            <a:ext cx="1640100" cy="19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1"/>
              <a:buFont typeface="Trebuchet MS"/>
              <a:buNone/>
            </a:pPr>
            <a:r>
              <a:rPr b="1" lang="en" sz="1229">
                <a:solidFill>
                  <a:srgbClr val="6A1B9A"/>
                </a:solidFill>
                <a:latin typeface="Archivo"/>
                <a:ea typeface="Archivo"/>
                <a:cs typeface="Archivo"/>
                <a:sym typeface="Archivo"/>
              </a:rPr>
              <a:t>Concurrency</a:t>
            </a:r>
            <a:endParaRPr b="1" sz="1229">
              <a:solidFill>
                <a:srgbClr val="6A1B9A"/>
              </a:solidFill>
              <a:latin typeface="Archivo"/>
              <a:ea typeface="Archivo"/>
              <a:cs typeface="Archivo"/>
              <a:sym typeface="Archivo"/>
            </a:endParaRPr>
          </a:p>
        </p:txBody>
      </p:sp>
      <p:sp>
        <p:nvSpPr>
          <p:cNvPr id="207" name="Google Shape;207;p20"/>
          <p:cNvSpPr/>
          <p:nvPr/>
        </p:nvSpPr>
        <p:spPr>
          <a:xfrm>
            <a:off x="5422412" y="3145813"/>
            <a:ext cx="1640100" cy="19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1"/>
              <a:buFont typeface="Trebuchet MS"/>
              <a:buNone/>
            </a:pPr>
            <a:r>
              <a:rPr b="1" lang="en" sz="1229">
                <a:solidFill>
                  <a:srgbClr val="374151"/>
                </a:solidFill>
                <a:latin typeface="Archivo"/>
                <a:ea typeface="Archivo"/>
                <a:cs typeface="Archivo"/>
                <a:sym typeface="Archivo"/>
              </a:rPr>
              <a:t>Explain</a:t>
            </a:r>
            <a:endParaRPr b="1" sz="1229">
              <a:solidFill>
                <a:srgbClr val="374151"/>
              </a:solidFill>
              <a:latin typeface="Archivo"/>
              <a:ea typeface="Archivo"/>
              <a:cs typeface="Archivo"/>
              <a:sym typeface="Archivo"/>
            </a:endParaRPr>
          </a:p>
        </p:txBody>
      </p:sp>
      <p:sp>
        <p:nvSpPr>
          <p:cNvPr id="208" name="Google Shape;208;p20"/>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 name="Google Shape;210;p20"/>
          <p:cNvPicPr preferRelativeResize="0"/>
          <p:nvPr/>
        </p:nvPicPr>
        <p:blipFill>
          <a:blip r:embed="rId9">
            <a:alphaModFix/>
          </a:blip>
          <a:stretch>
            <a:fillRect/>
          </a:stretch>
        </p:blipFill>
        <p:spPr>
          <a:xfrm>
            <a:off x="289725" y="116714"/>
            <a:ext cx="1212247" cy="329101"/>
          </a:xfrm>
          <a:prstGeom prst="rect">
            <a:avLst/>
          </a:prstGeom>
          <a:noFill/>
          <a:ln>
            <a:noFill/>
          </a:ln>
        </p:spPr>
      </p:pic>
      <p:pic>
        <p:nvPicPr>
          <p:cNvPr id="211" name="Google Shape;211;p20"/>
          <p:cNvPicPr preferRelativeResize="0"/>
          <p:nvPr/>
        </p:nvPicPr>
        <p:blipFill>
          <a:blip r:embed="rId10">
            <a:alphaModFix/>
          </a:blip>
          <a:stretch>
            <a:fillRect/>
          </a:stretch>
        </p:blipFill>
        <p:spPr>
          <a:xfrm>
            <a:off x="7840150" y="4866852"/>
            <a:ext cx="1047829" cy="151137"/>
          </a:xfrm>
          <a:prstGeom prst="rect">
            <a:avLst/>
          </a:prstGeom>
          <a:noFill/>
          <a:ln>
            <a:noFill/>
          </a:ln>
        </p:spPr>
      </p:pic>
      <p:pic>
        <p:nvPicPr>
          <p:cNvPr id="212" name="Google Shape;212;p20" title="Group 1321315272.png"/>
          <p:cNvPicPr preferRelativeResize="0"/>
          <p:nvPr/>
        </p:nvPicPr>
        <p:blipFill>
          <a:blip r:embed="rId11">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pic>
        <p:nvPicPr>
          <p:cNvPr id="218" name="Google Shape;218;p21"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219" name="Google Shape;219;p21"/>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TOOLS</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You </a:t>
            </a:r>
            <a:r>
              <a:rPr b="1" lang="en" sz="2100">
                <a:solidFill>
                  <a:schemeClr val="dk1"/>
                </a:solidFill>
                <a:latin typeface="Archivo"/>
                <a:ea typeface="Archivo"/>
                <a:cs typeface="Archivo"/>
                <a:sym typeface="Archivo"/>
              </a:rPr>
              <a:t>I</a:t>
            </a:r>
            <a:r>
              <a:rPr b="1" i="0" lang="en" sz="2100" u="none" cap="none" strike="noStrike">
                <a:solidFill>
                  <a:schemeClr val="dk1"/>
                </a:solidFill>
                <a:latin typeface="Archivo"/>
                <a:ea typeface="Archivo"/>
                <a:cs typeface="Archivo"/>
                <a:sym typeface="Archivo"/>
              </a:rPr>
              <a:t>mplement the </a:t>
            </a:r>
            <a:r>
              <a:rPr b="1" lang="en" sz="2100">
                <a:solidFill>
                  <a:schemeClr val="dk1"/>
                </a:solidFill>
                <a:latin typeface="Archivo"/>
                <a:ea typeface="Archivo"/>
                <a:cs typeface="Archivo"/>
                <a:sym typeface="Archivo"/>
              </a:rPr>
              <a:t>M</a:t>
            </a:r>
            <a:r>
              <a:rPr b="1" i="0" lang="en" sz="2100" u="none" cap="none" strike="noStrike">
                <a:solidFill>
                  <a:schemeClr val="dk1"/>
                </a:solidFill>
                <a:latin typeface="Archivo"/>
                <a:ea typeface="Archivo"/>
                <a:cs typeface="Archivo"/>
                <a:sym typeface="Archivo"/>
              </a:rPr>
              <a:t>ocks. We </a:t>
            </a:r>
            <a:r>
              <a:rPr b="1" lang="en" sz="2100">
                <a:solidFill>
                  <a:schemeClr val="dk1"/>
                </a:solidFill>
                <a:latin typeface="Archivo"/>
                <a:ea typeface="Archivo"/>
                <a:cs typeface="Archivo"/>
                <a:sym typeface="Archivo"/>
              </a:rPr>
              <a:t>E</a:t>
            </a:r>
            <a:r>
              <a:rPr b="1" i="0" lang="en" sz="2100" u="none" cap="none" strike="noStrike">
                <a:solidFill>
                  <a:schemeClr val="dk1"/>
                </a:solidFill>
                <a:latin typeface="Archivo"/>
                <a:ea typeface="Archivo"/>
                <a:cs typeface="Archivo"/>
                <a:sym typeface="Archivo"/>
              </a:rPr>
              <a:t>valuate </a:t>
            </a:r>
            <a:r>
              <a:rPr b="1" lang="en" sz="2100">
                <a:solidFill>
                  <a:schemeClr val="dk1"/>
                </a:solidFill>
                <a:latin typeface="Archivo"/>
                <a:ea typeface="Archivo"/>
                <a:cs typeface="Archivo"/>
                <a:sym typeface="Archivo"/>
              </a:rPr>
              <a:t>H</a:t>
            </a:r>
            <a:r>
              <a:rPr b="1" i="0" lang="en" sz="2100" u="none" cap="none" strike="noStrike">
                <a:solidFill>
                  <a:schemeClr val="dk1"/>
                </a:solidFill>
                <a:latin typeface="Archivo"/>
                <a:ea typeface="Archivo"/>
                <a:cs typeface="Archivo"/>
                <a:sym typeface="Archivo"/>
              </a:rPr>
              <a:t>ow.</a:t>
            </a:r>
            <a:endParaRPr i="0" sz="900" u="none" cap="none" strike="noStrike">
              <a:solidFill>
                <a:schemeClr val="dk1"/>
              </a:solidFill>
              <a:latin typeface="Archivo"/>
              <a:ea typeface="Archivo"/>
              <a:cs typeface="Archivo"/>
              <a:sym typeface="Archivo"/>
            </a:endParaRPr>
          </a:p>
        </p:txBody>
      </p:sp>
      <p:sp>
        <p:nvSpPr>
          <p:cNvPr id="220" name="Google Shape;220;p21"/>
          <p:cNvSpPr/>
          <p:nvPr/>
        </p:nvSpPr>
        <p:spPr>
          <a:xfrm>
            <a:off x="320050" y="1400409"/>
            <a:ext cx="37947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876"/>
              <a:buFont typeface="Trebuchet MS"/>
              <a:buNone/>
            </a:pPr>
            <a:r>
              <a:rPr b="1" i="0" lang="en" sz="1176" u="none" cap="none" strike="noStrike">
                <a:solidFill>
                  <a:schemeClr val="dk1"/>
                </a:solidFill>
                <a:latin typeface="Archivo"/>
                <a:ea typeface="Archivo"/>
                <a:cs typeface="Archivo"/>
                <a:sym typeface="Archivo"/>
              </a:rPr>
              <a:t>READ / LOOKUP</a:t>
            </a:r>
            <a:endParaRPr i="0" sz="1176" u="none" cap="none" strike="noStrike">
              <a:solidFill>
                <a:schemeClr val="dk1"/>
              </a:solidFill>
              <a:latin typeface="Archivo"/>
              <a:ea typeface="Archivo"/>
              <a:cs typeface="Archivo"/>
              <a:sym typeface="Archivo"/>
            </a:endParaRPr>
          </a:p>
        </p:txBody>
      </p:sp>
      <p:sp>
        <p:nvSpPr>
          <p:cNvPr id="221" name="Google Shape;221;p21"/>
          <p:cNvSpPr/>
          <p:nvPr/>
        </p:nvSpPr>
        <p:spPr>
          <a:xfrm>
            <a:off x="4393011" y="1400409"/>
            <a:ext cx="37947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876"/>
              <a:buFont typeface="Trebuchet MS"/>
              <a:buNone/>
            </a:pPr>
            <a:r>
              <a:rPr b="1" i="0" lang="en" sz="1176" u="none" cap="none" strike="noStrike">
                <a:solidFill>
                  <a:schemeClr val="dk1"/>
                </a:solidFill>
                <a:latin typeface="Archivo"/>
                <a:ea typeface="Archivo"/>
                <a:cs typeface="Archivo"/>
                <a:sym typeface="Archivo"/>
              </a:rPr>
              <a:t>WRITE / ACT</a:t>
            </a:r>
            <a:endParaRPr i="0" sz="1176" u="none" cap="none" strike="noStrike">
              <a:solidFill>
                <a:schemeClr val="dk1"/>
              </a:solidFill>
              <a:latin typeface="Archivo"/>
              <a:ea typeface="Archivo"/>
              <a:cs typeface="Archivo"/>
              <a:sym typeface="Archivo"/>
            </a:endParaRPr>
          </a:p>
        </p:txBody>
      </p:sp>
      <p:pic>
        <p:nvPicPr>
          <p:cNvPr descr="preencoded.png" id="222" name="Google Shape;222;p21"/>
          <p:cNvPicPr preferRelativeResize="0"/>
          <p:nvPr/>
        </p:nvPicPr>
        <p:blipFill rotWithShape="1">
          <a:blip r:embed="rId4">
            <a:alphaModFix/>
          </a:blip>
          <a:srcRect b="0" l="0" r="0" t="0"/>
          <a:stretch/>
        </p:blipFill>
        <p:spPr>
          <a:xfrm>
            <a:off x="320050" y="1602793"/>
            <a:ext cx="3794683" cy="21082"/>
          </a:xfrm>
          <a:prstGeom prst="rect">
            <a:avLst/>
          </a:prstGeom>
          <a:noFill/>
          <a:ln>
            <a:noFill/>
          </a:ln>
        </p:spPr>
      </p:pic>
      <p:pic>
        <p:nvPicPr>
          <p:cNvPr descr="preencoded.png" id="223" name="Google Shape;223;p21"/>
          <p:cNvPicPr preferRelativeResize="0"/>
          <p:nvPr/>
        </p:nvPicPr>
        <p:blipFill rotWithShape="1">
          <a:blip r:embed="rId4">
            <a:alphaModFix/>
          </a:blip>
          <a:srcRect b="0" l="0" r="0" t="0"/>
          <a:stretch/>
        </p:blipFill>
        <p:spPr>
          <a:xfrm>
            <a:off x="4393011" y="1602793"/>
            <a:ext cx="3794683" cy="21082"/>
          </a:xfrm>
          <a:prstGeom prst="rect">
            <a:avLst/>
          </a:prstGeom>
          <a:noFill/>
          <a:ln>
            <a:noFill/>
          </a:ln>
        </p:spPr>
      </p:pic>
      <p:sp>
        <p:nvSpPr>
          <p:cNvPr id="224" name="Google Shape;224;p21"/>
          <p:cNvSpPr/>
          <p:nvPr/>
        </p:nvSpPr>
        <p:spPr>
          <a:xfrm>
            <a:off x="320050" y="1703985"/>
            <a:ext cx="3794700" cy="6243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sz="1291"/>
          </a:p>
        </p:txBody>
      </p:sp>
      <p:sp>
        <p:nvSpPr>
          <p:cNvPr id="225" name="Google Shape;225;p21"/>
          <p:cNvSpPr/>
          <p:nvPr/>
        </p:nvSpPr>
        <p:spPr>
          <a:xfrm>
            <a:off x="320050" y="1703985"/>
            <a:ext cx="33900" cy="624000"/>
          </a:xfrm>
          <a:prstGeom prst="rect">
            <a:avLst/>
          </a:prstGeom>
          <a:solidFill>
            <a:srgbClr val="C72E2F"/>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26" name="Google Shape;226;p21"/>
          <p:cNvSpPr/>
          <p:nvPr/>
        </p:nvSpPr>
        <p:spPr>
          <a:xfrm>
            <a:off x="537488" y="1771446"/>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968"/>
              <a:buFont typeface="Courier New"/>
              <a:buNone/>
            </a:pPr>
            <a:r>
              <a:rPr b="1" i="0" lang="en" sz="1200" u="none" cap="none" strike="noStrike">
                <a:solidFill>
                  <a:schemeClr val="dk1"/>
                </a:solidFill>
                <a:latin typeface="Archivo"/>
                <a:ea typeface="Archivo"/>
                <a:cs typeface="Archivo"/>
                <a:sym typeface="Archivo"/>
              </a:rPr>
              <a:t>get_order(order_id)</a:t>
            </a:r>
            <a:endParaRPr i="0" sz="1200" u="none" cap="none" strike="noStrike">
              <a:solidFill>
                <a:schemeClr val="dk1"/>
              </a:solidFill>
              <a:latin typeface="Archivo"/>
              <a:ea typeface="Archivo"/>
              <a:cs typeface="Archivo"/>
              <a:sym typeface="Archivo"/>
            </a:endParaRPr>
          </a:p>
        </p:txBody>
      </p:sp>
      <p:sp>
        <p:nvSpPr>
          <p:cNvPr id="227" name="Google Shape;227;p21"/>
          <p:cNvSpPr/>
          <p:nvPr/>
        </p:nvSpPr>
        <p:spPr>
          <a:xfrm>
            <a:off x="537488" y="2024425"/>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Order details, status, timestamps</a:t>
            </a:r>
            <a:endParaRPr i="0" sz="1022" u="none" cap="none" strike="noStrike">
              <a:solidFill>
                <a:schemeClr val="dk1"/>
              </a:solidFill>
              <a:latin typeface="Archivo"/>
              <a:ea typeface="Archivo"/>
              <a:cs typeface="Archivo"/>
              <a:sym typeface="Archivo"/>
            </a:endParaRPr>
          </a:p>
        </p:txBody>
      </p:sp>
      <p:sp>
        <p:nvSpPr>
          <p:cNvPr id="228" name="Google Shape;228;p21"/>
          <p:cNvSpPr/>
          <p:nvPr/>
        </p:nvSpPr>
        <p:spPr>
          <a:xfrm>
            <a:off x="4393011" y="1703985"/>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29" name="Google Shape;229;p21"/>
          <p:cNvSpPr/>
          <p:nvPr/>
        </p:nvSpPr>
        <p:spPr>
          <a:xfrm>
            <a:off x="4393011" y="1703985"/>
            <a:ext cx="33900" cy="624000"/>
          </a:xfrm>
          <a:prstGeom prst="rect">
            <a:avLst/>
          </a:prstGeom>
          <a:solidFill>
            <a:srgbClr val="1565C0"/>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30" name="Google Shape;230;p21"/>
          <p:cNvSpPr/>
          <p:nvPr/>
        </p:nvSpPr>
        <p:spPr>
          <a:xfrm>
            <a:off x="4610449" y="1771446"/>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968"/>
              <a:buFont typeface="Courier New"/>
              <a:buNone/>
            </a:pPr>
            <a:r>
              <a:rPr b="1" i="0" lang="en" sz="1200" u="none" cap="none" strike="noStrike">
                <a:solidFill>
                  <a:schemeClr val="dk1"/>
                </a:solidFill>
                <a:latin typeface="Archivo"/>
                <a:ea typeface="Archivo"/>
                <a:cs typeface="Archivo"/>
                <a:sym typeface="Archivo"/>
              </a:rPr>
              <a:t>check_refund_eligibility(order_id)</a:t>
            </a:r>
            <a:endParaRPr i="0" sz="1200" u="none" cap="none" strike="noStrike">
              <a:solidFill>
                <a:schemeClr val="dk1"/>
              </a:solidFill>
              <a:latin typeface="Archivo"/>
              <a:ea typeface="Archivo"/>
              <a:cs typeface="Archivo"/>
              <a:sym typeface="Archivo"/>
            </a:endParaRPr>
          </a:p>
        </p:txBody>
      </p:sp>
      <p:sp>
        <p:nvSpPr>
          <p:cNvPr id="231" name="Google Shape;231;p21"/>
          <p:cNvSpPr/>
          <p:nvPr/>
        </p:nvSpPr>
        <p:spPr>
          <a:xfrm>
            <a:off x="4610449" y="2024425"/>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Returns eligibility + reason. May throw errors.</a:t>
            </a:r>
            <a:endParaRPr i="0" sz="1022" u="none" cap="none" strike="noStrike">
              <a:solidFill>
                <a:schemeClr val="dk1"/>
              </a:solidFill>
              <a:latin typeface="Archivo"/>
              <a:ea typeface="Archivo"/>
              <a:cs typeface="Archivo"/>
              <a:sym typeface="Archivo"/>
            </a:endParaRPr>
          </a:p>
        </p:txBody>
      </p:sp>
      <p:sp>
        <p:nvSpPr>
          <p:cNvPr id="232" name="Google Shape;232;p21"/>
          <p:cNvSpPr/>
          <p:nvPr/>
        </p:nvSpPr>
        <p:spPr>
          <a:xfrm>
            <a:off x="320050" y="2420760"/>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33" name="Google Shape;233;p21"/>
          <p:cNvSpPr/>
          <p:nvPr/>
        </p:nvSpPr>
        <p:spPr>
          <a:xfrm>
            <a:off x="320050" y="2420760"/>
            <a:ext cx="33900" cy="624000"/>
          </a:xfrm>
          <a:prstGeom prst="rect">
            <a:avLst/>
          </a:prstGeom>
          <a:solidFill>
            <a:srgbClr val="1565C0"/>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34" name="Google Shape;234;p21"/>
          <p:cNvSpPr/>
          <p:nvPr/>
        </p:nvSpPr>
        <p:spPr>
          <a:xfrm>
            <a:off x="537488" y="2488221"/>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968"/>
              <a:buFont typeface="Courier New"/>
              <a:buNone/>
            </a:pPr>
            <a:r>
              <a:rPr b="1" i="0" lang="en" sz="1200" u="none" cap="none" strike="noStrike">
                <a:solidFill>
                  <a:schemeClr val="dk1"/>
                </a:solidFill>
                <a:latin typeface="Archivo"/>
                <a:ea typeface="Archivo"/>
                <a:cs typeface="Archivo"/>
                <a:sym typeface="Archivo"/>
              </a:rPr>
              <a:t>get_customer(email)</a:t>
            </a:r>
            <a:endParaRPr i="0" sz="1200" u="none" cap="none" strike="noStrike">
              <a:solidFill>
                <a:schemeClr val="dk1"/>
              </a:solidFill>
              <a:latin typeface="Archivo"/>
              <a:ea typeface="Archivo"/>
              <a:cs typeface="Archivo"/>
              <a:sym typeface="Archivo"/>
            </a:endParaRPr>
          </a:p>
        </p:txBody>
      </p:sp>
      <p:sp>
        <p:nvSpPr>
          <p:cNvPr id="235" name="Google Shape;235;p21"/>
          <p:cNvSpPr/>
          <p:nvPr/>
        </p:nvSpPr>
        <p:spPr>
          <a:xfrm>
            <a:off x="537488" y="2741200"/>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Customer profile, tier, history</a:t>
            </a:r>
            <a:endParaRPr i="0" sz="1022" u="none" cap="none" strike="noStrike">
              <a:solidFill>
                <a:schemeClr val="dk1"/>
              </a:solidFill>
              <a:latin typeface="Archivo"/>
              <a:ea typeface="Archivo"/>
              <a:cs typeface="Archivo"/>
              <a:sym typeface="Archivo"/>
            </a:endParaRPr>
          </a:p>
        </p:txBody>
      </p:sp>
      <p:sp>
        <p:nvSpPr>
          <p:cNvPr id="236" name="Google Shape;236;p21"/>
          <p:cNvSpPr/>
          <p:nvPr/>
        </p:nvSpPr>
        <p:spPr>
          <a:xfrm>
            <a:off x="4393011" y="2420760"/>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37" name="Google Shape;237;p21"/>
          <p:cNvSpPr/>
          <p:nvPr/>
        </p:nvSpPr>
        <p:spPr>
          <a:xfrm>
            <a:off x="4393011" y="2420760"/>
            <a:ext cx="33900" cy="624000"/>
          </a:xfrm>
          <a:prstGeom prst="rect">
            <a:avLst/>
          </a:prstGeom>
          <a:solidFill>
            <a:srgbClr val="C62828"/>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38" name="Google Shape;238;p21"/>
          <p:cNvSpPr/>
          <p:nvPr/>
        </p:nvSpPr>
        <p:spPr>
          <a:xfrm>
            <a:off x="4610449" y="2488221"/>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968"/>
              <a:buFont typeface="Courier New"/>
              <a:buNone/>
            </a:pPr>
            <a:r>
              <a:rPr b="1" i="0" lang="en" sz="1200" u="none" cap="none" strike="noStrike">
                <a:solidFill>
                  <a:schemeClr val="dk1"/>
                </a:solidFill>
                <a:latin typeface="Archivo"/>
                <a:ea typeface="Archivo"/>
                <a:cs typeface="Archivo"/>
                <a:sym typeface="Archivo"/>
              </a:rPr>
              <a:t>issue_refund(order_id, amount)</a:t>
            </a:r>
            <a:endParaRPr i="0" sz="1200" u="none" cap="none" strike="noStrike">
              <a:solidFill>
                <a:schemeClr val="dk1"/>
              </a:solidFill>
              <a:latin typeface="Archivo"/>
              <a:ea typeface="Archivo"/>
              <a:cs typeface="Archivo"/>
              <a:sym typeface="Archivo"/>
            </a:endParaRPr>
          </a:p>
        </p:txBody>
      </p:sp>
      <p:sp>
        <p:nvSpPr>
          <p:cNvPr id="239" name="Google Shape;239;p21"/>
          <p:cNvSpPr/>
          <p:nvPr/>
        </p:nvSpPr>
        <p:spPr>
          <a:xfrm>
            <a:off x="4610449" y="2741200"/>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IRREVERSIBLE </a:t>
            </a:r>
            <a:r>
              <a:rPr lang="en" sz="1022">
                <a:solidFill>
                  <a:srgbClr val="4A3F6B"/>
                </a:solidFill>
                <a:latin typeface="Archivo"/>
                <a:ea typeface="Archivo"/>
                <a:cs typeface="Archivo"/>
                <a:sym typeface="Archivo"/>
              </a:rPr>
              <a:t>- </a:t>
            </a:r>
            <a:r>
              <a:rPr i="0" lang="en" sz="1022" u="none" cap="none" strike="noStrike">
                <a:solidFill>
                  <a:srgbClr val="4A3F6B"/>
                </a:solidFill>
                <a:latin typeface="Archivo"/>
                <a:ea typeface="Archivo"/>
                <a:cs typeface="Archivo"/>
                <a:sym typeface="Archivo"/>
              </a:rPr>
              <a:t>must check eligibility first</a:t>
            </a:r>
            <a:endParaRPr i="0" sz="1022" u="none" cap="none" strike="noStrike">
              <a:solidFill>
                <a:schemeClr val="dk1"/>
              </a:solidFill>
              <a:latin typeface="Archivo"/>
              <a:ea typeface="Archivo"/>
              <a:cs typeface="Archivo"/>
              <a:sym typeface="Archivo"/>
            </a:endParaRPr>
          </a:p>
        </p:txBody>
      </p:sp>
      <p:sp>
        <p:nvSpPr>
          <p:cNvPr id="240" name="Google Shape;240;p21"/>
          <p:cNvSpPr/>
          <p:nvPr/>
        </p:nvSpPr>
        <p:spPr>
          <a:xfrm>
            <a:off x="320050" y="3137535"/>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41" name="Google Shape;241;p21"/>
          <p:cNvSpPr/>
          <p:nvPr/>
        </p:nvSpPr>
        <p:spPr>
          <a:xfrm>
            <a:off x="320050" y="3137535"/>
            <a:ext cx="33900" cy="624000"/>
          </a:xfrm>
          <a:prstGeom prst="rect">
            <a:avLst/>
          </a:prstGeom>
          <a:solidFill>
            <a:srgbClr val="E9248F"/>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42" name="Google Shape;242;p21"/>
          <p:cNvSpPr/>
          <p:nvPr/>
        </p:nvSpPr>
        <p:spPr>
          <a:xfrm>
            <a:off x="537488" y="3204996"/>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968"/>
              <a:buFont typeface="Courier New"/>
              <a:buNone/>
            </a:pPr>
            <a:r>
              <a:rPr b="1" i="0" lang="en" sz="1200" u="none" cap="none" strike="noStrike">
                <a:solidFill>
                  <a:schemeClr val="dk1"/>
                </a:solidFill>
                <a:latin typeface="Archivo"/>
                <a:ea typeface="Archivo"/>
                <a:cs typeface="Archivo"/>
                <a:sym typeface="Archivo"/>
              </a:rPr>
              <a:t>get_product(product_id)</a:t>
            </a:r>
            <a:endParaRPr i="0" sz="1200" u="none" cap="none" strike="noStrike">
              <a:solidFill>
                <a:schemeClr val="dk1"/>
              </a:solidFill>
              <a:latin typeface="Archivo"/>
              <a:ea typeface="Archivo"/>
              <a:cs typeface="Archivo"/>
              <a:sym typeface="Archivo"/>
            </a:endParaRPr>
          </a:p>
        </p:txBody>
      </p:sp>
      <p:sp>
        <p:nvSpPr>
          <p:cNvPr id="243" name="Google Shape;243;p21"/>
          <p:cNvSpPr/>
          <p:nvPr/>
        </p:nvSpPr>
        <p:spPr>
          <a:xfrm>
            <a:off x="537488" y="3457975"/>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Product metadata, category, warranty</a:t>
            </a:r>
            <a:endParaRPr i="0" sz="1022" u="none" cap="none" strike="noStrike">
              <a:solidFill>
                <a:schemeClr val="dk1"/>
              </a:solidFill>
              <a:latin typeface="Archivo"/>
              <a:ea typeface="Archivo"/>
              <a:cs typeface="Archivo"/>
              <a:sym typeface="Archivo"/>
            </a:endParaRPr>
          </a:p>
        </p:txBody>
      </p:sp>
      <p:sp>
        <p:nvSpPr>
          <p:cNvPr id="244" name="Google Shape;244;p21"/>
          <p:cNvSpPr/>
          <p:nvPr/>
        </p:nvSpPr>
        <p:spPr>
          <a:xfrm>
            <a:off x="4393011" y="3137535"/>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45" name="Google Shape;245;p21"/>
          <p:cNvSpPr/>
          <p:nvPr/>
        </p:nvSpPr>
        <p:spPr>
          <a:xfrm>
            <a:off x="4393011" y="3137535"/>
            <a:ext cx="33900" cy="624000"/>
          </a:xfrm>
          <a:prstGeom prst="rect">
            <a:avLst/>
          </a:prstGeom>
          <a:solidFill>
            <a:srgbClr val="6A1B9A"/>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46" name="Google Shape;246;p21"/>
          <p:cNvSpPr/>
          <p:nvPr/>
        </p:nvSpPr>
        <p:spPr>
          <a:xfrm>
            <a:off x="4610449" y="3204996"/>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968"/>
              <a:buFont typeface="Courier New"/>
              <a:buNone/>
            </a:pPr>
            <a:r>
              <a:rPr b="1" i="0" lang="en" sz="1200" u="none" cap="none" strike="noStrike">
                <a:solidFill>
                  <a:schemeClr val="dk1"/>
                </a:solidFill>
                <a:latin typeface="Archivo"/>
                <a:ea typeface="Archivo"/>
                <a:cs typeface="Archivo"/>
                <a:sym typeface="Archivo"/>
              </a:rPr>
              <a:t>send_reply(ticket_id, message)</a:t>
            </a:r>
            <a:endParaRPr i="0" sz="1200" u="none" cap="none" strike="noStrike">
              <a:solidFill>
                <a:schemeClr val="dk1"/>
              </a:solidFill>
              <a:latin typeface="Archivo"/>
              <a:ea typeface="Archivo"/>
              <a:cs typeface="Archivo"/>
              <a:sym typeface="Archivo"/>
            </a:endParaRPr>
          </a:p>
        </p:txBody>
      </p:sp>
      <p:sp>
        <p:nvSpPr>
          <p:cNvPr id="247" name="Google Shape;247;p21"/>
          <p:cNvSpPr/>
          <p:nvPr/>
        </p:nvSpPr>
        <p:spPr>
          <a:xfrm>
            <a:off x="4610449" y="3457975"/>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Sends response to the customer</a:t>
            </a:r>
            <a:endParaRPr i="0" sz="1022" u="none" cap="none" strike="noStrike">
              <a:solidFill>
                <a:schemeClr val="dk1"/>
              </a:solidFill>
              <a:latin typeface="Archivo"/>
              <a:ea typeface="Archivo"/>
              <a:cs typeface="Archivo"/>
              <a:sym typeface="Archivo"/>
            </a:endParaRPr>
          </a:p>
        </p:txBody>
      </p:sp>
      <p:sp>
        <p:nvSpPr>
          <p:cNvPr id="248" name="Google Shape;248;p21"/>
          <p:cNvSpPr/>
          <p:nvPr/>
        </p:nvSpPr>
        <p:spPr>
          <a:xfrm>
            <a:off x="320050" y="3854310"/>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49" name="Google Shape;249;p21"/>
          <p:cNvSpPr/>
          <p:nvPr/>
        </p:nvSpPr>
        <p:spPr>
          <a:xfrm>
            <a:off x="320050" y="3854310"/>
            <a:ext cx="33900" cy="624000"/>
          </a:xfrm>
          <a:prstGeom prst="rect">
            <a:avLst/>
          </a:prstGeom>
          <a:solidFill>
            <a:srgbClr val="1565C0"/>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50" name="Google Shape;250;p21"/>
          <p:cNvSpPr/>
          <p:nvPr/>
        </p:nvSpPr>
        <p:spPr>
          <a:xfrm>
            <a:off x="537488" y="3921771"/>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968"/>
              <a:buFont typeface="Courier New"/>
              <a:buNone/>
            </a:pPr>
            <a:r>
              <a:rPr b="1" i="0" lang="en" sz="1200" u="none" cap="none" strike="noStrike">
                <a:solidFill>
                  <a:schemeClr val="dk1"/>
                </a:solidFill>
                <a:latin typeface="Archivo"/>
                <a:ea typeface="Archivo"/>
                <a:cs typeface="Archivo"/>
                <a:sym typeface="Archivo"/>
              </a:rPr>
              <a:t>search_knowledge_base(query)</a:t>
            </a:r>
            <a:endParaRPr i="0" sz="1200" u="none" cap="none" strike="noStrike">
              <a:solidFill>
                <a:schemeClr val="dk1"/>
              </a:solidFill>
              <a:latin typeface="Archivo"/>
              <a:ea typeface="Archivo"/>
              <a:cs typeface="Archivo"/>
              <a:sym typeface="Archivo"/>
            </a:endParaRPr>
          </a:p>
        </p:txBody>
      </p:sp>
      <p:sp>
        <p:nvSpPr>
          <p:cNvPr id="251" name="Google Shape;251;p21"/>
          <p:cNvSpPr/>
          <p:nvPr/>
        </p:nvSpPr>
        <p:spPr>
          <a:xfrm>
            <a:off x="537488" y="4174750"/>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Policy &amp; FAQ semantic search</a:t>
            </a:r>
            <a:endParaRPr i="0" sz="1022" u="none" cap="none" strike="noStrike">
              <a:solidFill>
                <a:schemeClr val="dk1"/>
              </a:solidFill>
              <a:latin typeface="Archivo"/>
              <a:ea typeface="Archivo"/>
              <a:cs typeface="Archivo"/>
              <a:sym typeface="Archivo"/>
            </a:endParaRPr>
          </a:p>
        </p:txBody>
      </p:sp>
      <p:sp>
        <p:nvSpPr>
          <p:cNvPr id="252" name="Google Shape;252;p21"/>
          <p:cNvSpPr/>
          <p:nvPr/>
        </p:nvSpPr>
        <p:spPr>
          <a:xfrm>
            <a:off x="4393011" y="3854310"/>
            <a:ext cx="3794700" cy="624000"/>
          </a:xfrm>
          <a:prstGeom prst="rect">
            <a:avLst/>
          </a:prstGeom>
          <a:solidFill>
            <a:srgbClr val="F8F4FF"/>
          </a:solidFill>
          <a:ln cap="flat" cmpd="sng" w="88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53" name="Google Shape;253;p21"/>
          <p:cNvSpPr/>
          <p:nvPr/>
        </p:nvSpPr>
        <p:spPr>
          <a:xfrm>
            <a:off x="4393011" y="3854310"/>
            <a:ext cx="33900" cy="624000"/>
          </a:xfrm>
          <a:prstGeom prst="rect">
            <a:avLst/>
          </a:prstGeom>
          <a:solidFill>
            <a:srgbClr val="E91E8C"/>
          </a:solidFill>
          <a:ln>
            <a:noFill/>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54" name="Google Shape;254;p21"/>
          <p:cNvSpPr/>
          <p:nvPr/>
        </p:nvSpPr>
        <p:spPr>
          <a:xfrm>
            <a:off x="4610449" y="3921771"/>
            <a:ext cx="35415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68"/>
              <a:buFont typeface="Courier New"/>
              <a:buNone/>
            </a:pPr>
            <a:r>
              <a:rPr b="1" i="0" lang="en" sz="1200" u="none" cap="none" strike="noStrike">
                <a:solidFill>
                  <a:schemeClr val="dk1"/>
                </a:solidFill>
                <a:latin typeface="Archivo"/>
                <a:ea typeface="Archivo"/>
                <a:cs typeface="Archivo"/>
                <a:sym typeface="Archivo"/>
              </a:rPr>
              <a:t>escalate(ticket_id, summary, priority)</a:t>
            </a:r>
            <a:endParaRPr i="0" sz="1200" u="none" cap="none" strike="noStrike">
              <a:solidFill>
                <a:schemeClr val="dk1"/>
              </a:solidFill>
              <a:latin typeface="Archivo"/>
              <a:ea typeface="Archivo"/>
              <a:cs typeface="Archivo"/>
              <a:sym typeface="Archivo"/>
            </a:endParaRPr>
          </a:p>
        </p:txBody>
      </p:sp>
      <p:sp>
        <p:nvSpPr>
          <p:cNvPr id="255" name="Google Shape;255;p21"/>
          <p:cNvSpPr/>
          <p:nvPr/>
        </p:nvSpPr>
        <p:spPr>
          <a:xfrm>
            <a:off x="4610449" y="4174750"/>
            <a:ext cx="3541500" cy="2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22"/>
              <a:buFont typeface="Trebuchet MS"/>
              <a:buNone/>
            </a:pPr>
            <a:r>
              <a:rPr i="0" lang="en" sz="1022" u="none" cap="none" strike="noStrike">
                <a:solidFill>
                  <a:srgbClr val="4A3F6B"/>
                </a:solidFill>
                <a:latin typeface="Archivo"/>
                <a:ea typeface="Archivo"/>
                <a:cs typeface="Archivo"/>
                <a:sym typeface="Archivo"/>
              </a:rPr>
              <a:t>Routes to human with full context</a:t>
            </a:r>
            <a:endParaRPr i="0" sz="1022" u="none" cap="none" strike="noStrike">
              <a:solidFill>
                <a:schemeClr val="dk1"/>
              </a:solidFill>
              <a:latin typeface="Archivo"/>
              <a:ea typeface="Archivo"/>
              <a:cs typeface="Archivo"/>
              <a:sym typeface="Archivo"/>
            </a:endParaRPr>
          </a:p>
        </p:txBody>
      </p:sp>
      <p:sp>
        <p:nvSpPr>
          <p:cNvPr id="256" name="Google Shape;256;p21"/>
          <p:cNvSpPr/>
          <p:nvPr/>
        </p:nvSpPr>
        <p:spPr>
          <a:xfrm>
            <a:off x="4215926" y="1400409"/>
            <a:ext cx="9900" cy="3002100"/>
          </a:xfrm>
          <a:prstGeom prst="rect">
            <a:avLst/>
          </a:prstGeom>
          <a:solidFill>
            <a:srgbClr val="E8E0FF"/>
          </a:solidFill>
          <a:ln cap="flat" cmpd="sng" w="11700">
            <a:solidFill>
              <a:srgbClr val="E8E0FF"/>
            </a:solidFill>
            <a:prstDash val="solid"/>
            <a:round/>
            <a:headEnd len="sm" w="sm" type="none"/>
            <a:tailEnd len="sm" w="sm" type="none"/>
          </a:ln>
        </p:spPr>
        <p:txBody>
          <a:bodyPr anchorCtr="0" anchor="ctr" bIns="84325" lIns="84325" spcFirstLastPara="1" rIns="84325" wrap="square" tIns="84325">
            <a:noAutofit/>
          </a:bodyPr>
          <a:lstStyle/>
          <a:p>
            <a:pPr indent="0" lvl="0" marL="0" rtl="0" algn="l">
              <a:spcBef>
                <a:spcPts val="0"/>
              </a:spcBef>
              <a:spcAft>
                <a:spcPts val="0"/>
              </a:spcAft>
              <a:buNone/>
            </a:pPr>
            <a:r>
              <a:t/>
            </a:r>
            <a:endParaRPr/>
          </a:p>
        </p:txBody>
      </p:sp>
      <p:sp>
        <p:nvSpPr>
          <p:cNvPr id="257" name="Google Shape;257;p21"/>
          <p:cNvSpPr/>
          <p:nvPr/>
        </p:nvSpPr>
        <p:spPr>
          <a:xfrm>
            <a:off x="0" y="4645150"/>
            <a:ext cx="7573200" cy="292500"/>
          </a:xfrm>
          <a:prstGeom prst="rect">
            <a:avLst/>
          </a:prstGeom>
          <a:solidFill>
            <a:srgbClr val="F8F4FF"/>
          </a:solidFill>
          <a:ln cap="flat" cmpd="sng" w="9525">
            <a:solidFill>
              <a:srgbClr val="E8E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320040" y="4663440"/>
            <a:ext cx="85039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1050"/>
              <a:buFont typeface="Trebuchet MS"/>
              <a:buNone/>
            </a:pPr>
            <a:r>
              <a:rPr i="1" lang="en" sz="1200" u="none" cap="none" strike="noStrike">
                <a:solidFill>
                  <a:schemeClr val="dk1"/>
                </a:solidFill>
                <a:latin typeface="Archivo"/>
                <a:ea typeface="Archivo"/>
                <a:cs typeface="Archivo"/>
                <a:sym typeface="Archivo"/>
              </a:rPr>
              <a:t>Lazy mocks = lazy thinking. Build mocks that fail realistically </a:t>
            </a:r>
            <a:r>
              <a:rPr i="1" lang="en" sz="1200">
                <a:solidFill>
                  <a:schemeClr val="dk1"/>
                </a:solidFill>
                <a:latin typeface="Archivo"/>
                <a:ea typeface="Archivo"/>
                <a:cs typeface="Archivo"/>
                <a:sym typeface="Archivo"/>
              </a:rPr>
              <a:t>-</a:t>
            </a:r>
            <a:r>
              <a:rPr i="1" lang="en" sz="1200" u="none" cap="none" strike="noStrike">
                <a:solidFill>
                  <a:schemeClr val="dk1"/>
                </a:solidFill>
                <a:latin typeface="Archivo"/>
                <a:ea typeface="Archivo"/>
                <a:cs typeface="Archivo"/>
                <a:sym typeface="Archivo"/>
              </a:rPr>
              <a:t> timeouts, malformed data, partial responses.</a:t>
            </a:r>
            <a:endParaRPr i="0" sz="1200" u="none" cap="none" strike="noStrike">
              <a:solidFill>
                <a:schemeClr val="dk1"/>
              </a:solidFill>
              <a:latin typeface="Archivo"/>
              <a:ea typeface="Archivo"/>
              <a:cs typeface="Archivo"/>
              <a:sym typeface="Archivo"/>
            </a:endParaRPr>
          </a:p>
        </p:txBody>
      </p:sp>
      <p:sp>
        <p:nvSpPr>
          <p:cNvPr id="259" name="Google Shape;259;p21"/>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1"/>
          <p:cNvPicPr preferRelativeResize="0"/>
          <p:nvPr/>
        </p:nvPicPr>
        <p:blipFill>
          <a:blip r:embed="rId5">
            <a:alphaModFix/>
          </a:blip>
          <a:stretch>
            <a:fillRect/>
          </a:stretch>
        </p:blipFill>
        <p:spPr>
          <a:xfrm>
            <a:off x="289725" y="116714"/>
            <a:ext cx="1212247" cy="329101"/>
          </a:xfrm>
          <a:prstGeom prst="rect">
            <a:avLst/>
          </a:prstGeom>
          <a:noFill/>
          <a:ln>
            <a:noFill/>
          </a:ln>
        </p:spPr>
      </p:pic>
      <p:pic>
        <p:nvPicPr>
          <p:cNvPr id="262" name="Google Shape;262;p21"/>
          <p:cNvPicPr preferRelativeResize="0"/>
          <p:nvPr/>
        </p:nvPicPr>
        <p:blipFill>
          <a:blip r:embed="rId6">
            <a:alphaModFix/>
          </a:blip>
          <a:stretch>
            <a:fillRect/>
          </a:stretch>
        </p:blipFill>
        <p:spPr>
          <a:xfrm>
            <a:off x="7840150" y="4866852"/>
            <a:ext cx="1047829" cy="151137"/>
          </a:xfrm>
          <a:prstGeom prst="rect">
            <a:avLst/>
          </a:prstGeom>
          <a:noFill/>
          <a:ln>
            <a:noFill/>
          </a:ln>
        </p:spPr>
      </p:pic>
      <p:pic>
        <p:nvPicPr>
          <p:cNvPr id="263" name="Google Shape;263;p21" title="Group 1321315272.png"/>
          <p:cNvPicPr preferRelativeResize="0"/>
          <p:nvPr/>
        </p:nvPicPr>
        <p:blipFill>
          <a:blip r:embed="rId7">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title="Rectangle 10139.png"/>
          <p:cNvPicPr preferRelativeResize="0"/>
          <p:nvPr/>
        </p:nvPicPr>
        <p:blipFill rotWithShape="1">
          <a:blip r:embed="rId3">
            <a:alphaModFix/>
          </a:blip>
          <a:srcRect b="0" l="0" r="0" t="68422"/>
          <a:stretch/>
        </p:blipFill>
        <p:spPr>
          <a:xfrm>
            <a:off x="0" y="530352"/>
            <a:ext cx="9144000" cy="658368"/>
          </a:xfrm>
          <a:prstGeom prst="rect">
            <a:avLst/>
          </a:prstGeom>
          <a:noFill/>
          <a:ln>
            <a:noFill/>
          </a:ln>
        </p:spPr>
      </p:pic>
      <p:sp>
        <p:nvSpPr>
          <p:cNvPr id="270" name="Google Shape;270;p22"/>
          <p:cNvSpPr/>
          <p:nvPr/>
        </p:nvSpPr>
        <p:spPr>
          <a:xfrm>
            <a:off x="320040" y="775541"/>
            <a:ext cx="3200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Trebuchet MS"/>
              <a:buNone/>
            </a:pPr>
            <a:r>
              <a:rPr b="1" i="0" lang="en" sz="1000" u="none" cap="none" strike="noStrike">
                <a:solidFill>
                  <a:schemeClr val="dk1"/>
                </a:solidFill>
                <a:latin typeface="Archivo"/>
                <a:ea typeface="Archivo"/>
                <a:cs typeface="Archivo"/>
                <a:sym typeface="Archivo"/>
              </a:rPr>
              <a:t>RECOMMENDED STACK &amp; TIPS</a:t>
            </a:r>
            <a:endParaRPr i="0" sz="1000" u="none" cap="none" strike="noStrike">
              <a:solidFill>
                <a:schemeClr val="dk1"/>
              </a:solidFill>
              <a:latin typeface="Archivo"/>
              <a:ea typeface="Archivo"/>
              <a:cs typeface="Archivo"/>
              <a:sym typeface="Archivo"/>
            </a:endParaRPr>
          </a:p>
        </p:txBody>
      </p:sp>
      <p:sp>
        <p:nvSpPr>
          <p:cNvPr id="271" name="Google Shape;271;p22"/>
          <p:cNvSpPr/>
          <p:nvPr/>
        </p:nvSpPr>
        <p:spPr>
          <a:xfrm>
            <a:off x="3657600" y="686141"/>
            <a:ext cx="5120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Trebuchet MS"/>
              <a:buNone/>
            </a:pPr>
            <a:r>
              <a:rPr b="1" i="0" lang="en" sz="1800" u="none" cap="none" strike="noStrike">
                <a:solidFill>
                  <a:schemeClr val="dk1"/>
                </a:solidFill>
                <a:latin typeface="Archivo"/>
                <a:ea typeface="Archivo"/>
                <a:cs typeface="Archivo"/>
                <a:sym typeface="Archivo"/>
              </a:rPr>
              <a:t>Use what you know. Build what works.</a:t>
            </a:r>
            <a:endParaRPr i="0" sz="1800" u="none" cap="none" strike="noStrike">
              <a:solidFill>
                <a:schemeClr val="dk1"/>
              </a:solidFill>
              <a:latin typeface="Archivo"/>
              <a:ea typeface="Archivo"/>
              <a:cs typeface="Archivo"/>
              <a:sym typeface="Archivo"/>
            </a:endParaRPr>
          </a:p>
        </p:txBody>
      </p:sp>
      <p:pic>
        <p:nvPicPr>
          <p:cNvPr descr="preencoded.png" id="272" name="Google Shape;272;p22"/>
          <p:cNvPicPr preferRelativeResize="0"/>
          <p:nvPr/>
        </p:nvPicPr>
        <p:blipFill rotWithShape="1">
          <a:blip r:embed="rId4">
            <a:alphaModFix/>
          </a:blip>
          <a:srcRect b="0" l="0" r="0" t="0"/>
          <a:stretch/>
        </p:blipFill>
        <p:spPr>
          <a:xfrm>
            <a:off x="4555659" y="1325880"/>
            <a:ext cx="18288" cy="3200400"/>
          </a:xfrm>
          <a:prstGeom prst="rect">
            <a:avLst/>
          </a:prstGeom>
          <a:noFill/>
          <a:ln>
            <a:noFill/>
          </a:ln>
        </p:spPr>
      </p:pic>
      <p:sp>
        <p:nvSpPr>
          <p:cNvPr id="273" name="Google Shape;273;p22"/>
          <p:cNvSpPr/>
          <p:nvPr/>
        </p:nvSpPr>
        <p:spPr>
          <a:xfrm>
            <a:off x="320040" y="1325880"/>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i="0" lang="en" sz="1200" u="none" cap="none" strike="noStrike">
                <a:solidFill>
                  <a:schemeClr val="dk1"/>
                </a:solidFill>
                <a:latin typeface="Archivo"/>
                <a:ea typeface="Archivo"/>
                <a:cs typeface="Archivo"/>
                <a:sym typeface="Archivo"/>
              </a:rPr>
              <a:t>STACK OPTIONS</a:t>
            </a:r>
            <a:endParaRPr b="1" i="0" sz="1200" u="none" cap="none" strike="noStrike">
              <a:solidFill>
                <a:schemeClr val="dk1"/>
              </a:solidFill>
              <a:latin typeface="Archivo"/>
              <a:ea typeface="Archivo"/>
              <a:cs typeface="Archivo"/>
              <a:sym typeface="Archivo"/>
            </a:endParaRPr>
          </a:p>
        </p:txBody>
      </p:sp>
      <p:sp>
        <p:nvSpPr>
          <p:cNvPr id="274" name="Google Shape;274;p22"/>
          <p:cNvSpPr/>
          <p:nvPr/>
        </p:nvSpPr>
        <p:spPr>
          <a:xfrm>
            <a:off x="4773168" y="1325880"/>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i="0" lang="en" sz="1200" u="none" cap="none" strike="noStrike">
                <a:solidFill>
                  <a:schemeClr val="dk1"/>
                </a:solidFill>
                <a:latin typeface="Archivo"/>
                <a:ea typeface="Archivo"/>
                <a:cs typeface="Archivo"/>
                <a:sym typeface="Archivo"/>
              </a:rPr>
              <a:t>WHAT SEPARATES GOOD FROM GREAT</a:t>
            </a:r>
            <a:endParaRPr i="0" sz="1200" u="none" cap="none" strike="noStrike">
              <a:solidFill>
                <a:schemeClr val="dk1"/>
              </a:solidFill>
              <a:latin typeface="Archivo"/>
              <a:ea typeface="Archivo"/>
              <a:cs typeface="Archivo"/>
              <a:sym typeface="Archivo"/>
            </a:endParaRPr>
          </a:p>
        </p:txBody>
      </p:sp>
      <p:pic>
        <p:nvPicPr>
          <p:cNvPr descr="preencoded.png" id="275" name="Google Shape;275;p22"/>
          <p:cNvPicPr preferRelativeResize="0"/>
          <p:nvPr/>
        </p:nvPicPr>
        <p:blipFill rotWithShape="1">
          <a:blip r:embed="rId4">
            <a:alphaModFix/>
          </a:blip>
          <a:srcRect b="0" l="0" r="0" t="0"/>
          <a:stretch/>
        </p:blipFill>
        <p:spPr>
          <a:xfrm>
            <a:off x="320040" y="1549808"/>
            <a:ext cx="4069080" cy="18288"/>
          </a:xfrm>
          <a:prstGeom prst="rect">
            <a:avLst/>
          </a:prstGeom>
          <a:noFill/>
          <a:ln>
            <a:noFill/>
          </a:ln>
        </p:spPr>
      </p:pic>
      <p:pic>
        <p:nvPicPr>
          <p:cNvPr descr="preencoded.png" id="276" name="Google Shape;276;p22"/>
          <p:cNvPicPr preferRelativeResize="0"/>
          <p:nvPr/>
        </p:nvPicPr>
        <p:blipFill rotWithShape="1">
          <a:blip r:embed="rId4">
            <a:alphaModFix/>
          </a:blip>
          <a:srcRect b="0" l="0" r="0" t="0"/>
          <a:stretch/>
        </p:blipFill>
        <p:spPr>
          <a:xfrm>
            <a:off x="4773168" y="1549808"/>
            <a:ext cx="4069080" cy="18288"/>
          </a:xfrm>
          <a:prstGeom prst="rect">
            <a:avLst/>
          </a:prstGeom>
          <a:noFill/>
          <a:ln>
            <a:noFill/>
          </a:ln>
        </p:spPr>
      </p:pic>
      <p:sp>
        <p:nvSpPr>
          <p:cNvPr id="277" name="Google Shape;277;p22"/>
          <p:cNvSpPr/>
          <p:nvPr/>
        </p:nvSpPr>
        <p:spPr>
          <a:xfrm>
            <a:off x="320040" y="1664208"/>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Orchestration</a:t>
            </a:r>
            <a:endParaRPr i="0" sz="1200" u="none" cap="none" strike="noStrike">
              <a:solidFill>
                <a:schemeClr val="dk1"/>
              </a:solidFill>
              <a:latin typeface="Archivo Medium"/>
              <a:ea typeface="Archivo Medium"/>
              <a:cs typeface="Archivo Medium"/>
              <a:sym typeface="Archivo Medium"/>
            </a:endParaRPr>
          </a:p>
        </p:txBody>
      </p:sp>
      <p:sp>
        <p:nvSpPr>
          <p:cNvPr id="278" name="Google Shape;278;p22"/>
          <p:cNvSpPr/>
          <p:nvPr/>
        </p:nvSpPr>
        <p:spPr>
          <a:xfrm>
            <a:off x="320040" y="1938528"/>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LangGraph, AutoGen, or custom ReAct loop</a:t>
            </a:r>
            <a:endParaRPr i="0" sz="1050" u="none" cap="none" strike="noStrike">
              <a:solidFill>
                <a:schemeClr val="dk2"/>
              </a:solidFill>
              <a:latin typeface="Archivo"/>
              <a:ea typeface="Archivo"/>
              <a:cs typeface="Archivo"/>
              <a:sym typeface="Archivo"/>
            </a:endParaRPr>
          </a:p>
        </p:txBody>
      </p:sp>
      <p:sp>
        <p:nvSpPr>
          <p:cNvPr id="279" name="Google Shape;279;p22"/>
          <p:cNvSpPr/>
          <p:nvPr/>
        </p:nvSpPr>
        <p:spPr>
          <a:xfrm>
            <a:off x="320040" y="2350008"/>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2"/>
          <p:cNvSpPr/>
          <p:nvPr/>
        </p:nvSpPr>
        <p:spPr>
          <a:xfrm>
            <a:off x="320040" y="2414016"/>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LLMs</a:t>
            </a:r>
            <a:endParaRPr i="0" sz="1200" u="none" cap="none" strike="noStrike">
              <a:solidFill>
                <a:schemeClr val="dk1"/>
              </a:solidFill>
              <a:latin typeface="Archivo Medium"/>
              <a:ea typeface="Archivo Medium"/>
              <a:cs typeface="Archivo Medium"/>
              <a:sym typeface="Archivo Medium"/>
            </a:endParaRPr>
          </a:p>
        </p:txBody>
      </p:sp>
      <p:sp>
        <p:nvSpPr>
          <p:cNvPr id="281" name="Google Shape;281;p22"/>
          <p:cNvSpPr/>
          <p:nvPr/>
        </p:nvSpPr>
        <p:spPr>
          <a:xfrm>
            <a:off x="320040" y="2688336"/>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OpenAI, Anthropic, Gemini, or Ollama (open-source)</a:t>
            </a:r>
            <a:endParaRPr i="0" sz="1050" u="none" cap="none" strike="noStrike">
              <a:solidFill>
                <a:schemeClr val="dk2"/>
              </a:solidFill>
              <a:latin typeface="Archivo"/>
              <a:ea typeface="Archivo"/>
              <a:cs typeface="Archivo"/>
              <a:sym typeface="Archivo"/>
            </a:endParaRPr>
          </a:p>
        </p:txBody>
      </p:sp>
      <p:sp>
        <p:nvSpPr>
          <p:cNvPr id="282" name="Google Shape;282;p22"/>
          <p:cNvSpPr/>
          <p:nvPr/>
        </p:nvSpPr>
        <p:spPr>
          <a:xfrm>
            <a:off x="320040" y="3099816"/>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2"/>
          <p:cNvSpPr/>
          <p:nvPr/>
        </p:nvSpPr>
        <p:spPr>
          <a:xfrm>
            <a:off x="320040" y="3163824"/>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Language</a:t>
            </a:r>
            <a:endParaRPr i="0" sz="1200" u="none" cap="none" strike="noStrike">
              <a:solidFill>
                <a:schemeClr val="dk1"/>
              </a:solidFill>
              <a:latin typeface="Archivo Medium"/>
              <a:ea typeface="Archivo Medium"/>
              <a:cs typeface="Archivo Medium"/>
              <a:sym typeface="Archivo Medium"/>
            </a:endParaRPr>
          </a:p>
        </p:txBody>
      </p:sp>
      <p:sp>
        <p:nvSpPr>
          <p:cNvPr id="284" name="Google Shape;284;p22"/>
          <p:cNvSpPr/>
          <p:nvPr/>
        </p:nvSpPr>
        <p:spPr>
          <a:xfrm>
            <a:off x="320040" y="3438144"/>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Python preferred — TypeScript accepted</a:t>
            </a:r>
            <a:endParaRPr i="0" sz="1050" u="none" cap="none" strike="noStrike">
              <a:solidFill>
                <a:schemeClr val="dk2"/>
              </a:solidFill>
              <a:latin typeface="Archivo"/>
              <a:ea typeface="Archivo"/>
              <a:cs typeface="Archivo"/>
              <a:sym typeface="Archivo"/>
            </a:endParaRPr>
          </a:p>
        </p:txBody>
      </p:sp>
      <p:sp>
        <p:nvSpPr>
          <p:cNvPr id="285" name="Google Shape;285;p22"/>
          <p:cNvSpPr/>
          <p:nvPr/>
        </p:nvSpPr>
        <p:spPr>
          <a:xfrm>
            <a:off x="320040" y="3849624"/>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
          <p:cNvSpPr/>
          <p:nvPr/>
        </p:nvSpPr>
        <p:spPr>
          <a:xfrm>
            <a:off x="320040" y="3913632"/>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Infra</a:t>
            </a:r>
            <a:endParaRPr i="0" sz="1200" u="none" cap="none" strike="noStrike">
              <a:solidFill>
                <a:schemeClr val="dk1"/>
              </a:solidFill>
              <a:latin typeface="Archivo Medium"/>
              <a:ea typeface="Archivo Medium"/>
              <a:cs typeface="Archivo Medium"/>
              <a:sym typeface="Archivo Medium"/>
            </a:endParaRPr>
          </a:p>
        </p:txBody>
      </p:sp>
      <p:sp>
        <p:nvSpPr>
          <p:cNvPr id="287" name="Google Shape;287;p22"/>
          <p:cNvSpPr/>
          <p:nvPr/>
        </p:nvSpPr>
        <p:spPr>
          <a:xfrm>
            <a:off x="320040" y="4187952"/>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Local-first is fine. Docker = bonus points.</a:t>
            </a:r>
            <a:endParaRPr i="0" sz="1050" u="none" cap="none" strike="noStrike">
              <a:solidFill>
                <a:schemeClr val="dk2"/>
              </a:solidFill>
              <a:latin typeface="Archivo"/>
              <a:ea typeface="Archivo"/>
              <a:cs typeface="Archivo"/>
              <a:sym typeface="Archivo"/>
            </a:endParaRPr>
          </a:p>
        </p:txBody>
      </p:sp>
      <p:sp>
        <p:nvSpPr>
          <p:cNvPr id="288" name="Google Shape;288;p22"/>
          <p:cNvSpPr/>
          <p:nvPr/>
        </p:nvSpPr>
        <p:spPr>
          <a:xfrm>
            <a:off x="4773168" y="1664208"/>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Retry budgets</a:t>
            </a:r>
            <a:endParaRPr i="0" sz="1200" u="none" cap="none" strike="noStrike">
              <a:solidFill>
                <a:schemeClr val="dk1"/>
              </a:solidFill>
              <a:latin typeface="Archivo Medium"/>
              <a:ea typeface="Archivo Medium"/>
              <a:cs typeface="Archivo Medium"/>
              <a:sym typeface="Archivo Medium"/>
            </a:endParaRPr>
          </a:p>
        </p:txBody>
      </p:sp>
      <p:sp>
        <p:nvSpPr>
          <p:cNvPr id="289" name="Google Shape;289;p22"/>
          <p:cNvSpPr/>
          <p:nvPr/>
        </p:nvSpPr>
        <p:spPr>
          <a:xfrm>
            <a:off x="4773168" y="1938528"/>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Backoff on tool failures, not silent errors</a:t>
            </a:r>
            <a:endParaRPr i="0" sz="1050" u="none" cap="none" strike="noStrike">
              <a:solidFill>
                <a:schemeClr val="dk2"/>
              </a:solidFill>
              <a:latin typeface="Archivo"/>
              <a:ea typeface="Archivo"/>
              <a:cs typeface="Archivo"/>
              <a:sym typeface="Archivo"/>
            </a:endParaRPr>
          </a:p>
        </p:txBody>
      </p:sp>
      <p:sp>
        <p:nvSpPr>
          <p:cNvPr id="290" name="Google Shape;290;p22"/>
          <p:cNvSpPr/>
          <p:nvPr/>
        </p:nvSpPr>
        <p:spPr>
          <a:xfrm>
            <a:off x="4773168" y="2350008"/>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4773168" y="2414016"/>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Dead-letter queues</a:t>
            </a:r>
            <a:endParaRPr i="0" sz="1200" u="none" cap="none" strike="noStrike">
              <a:solidFill>
                <a:schemeClr val="dk1"/>
              </a:solidFill>
              <a:latin typeface="Archivo Medium"/>
              <a:ea typeface="Archivo Medium"/>
              <a:cs typeface="Archivo Medium"/>
              <a:sym typeface="Archivo Medium"/>
            </a:endParaRPr>
          </a:p>
        </p:txBody>
      </p:sp>
      <p:sp>
        <p:nvSpPr>
          <p:cNvPr id="292" name="Google Shape;292;p22"/>
          <p:cNvSpPr/>
          <p:nvPr/>
        </p:nvSpPr>
        <p:spPr>
          <a:xfrm>
            <a:off x="4773168" y="2688336"/>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Failed tickets don't disappear — they get logged</a:t>
            </a:r>
            <a:endParaRPr i="0" sz="1050" u="none" cap="none" strike="noStrike">
              <a:solidFill>
                <a:schemeClr val="dk2"/>
              </a:solidFill>
              <a:latin typeface="Archivo"/>
              <a:ea typeface="Archivo"/>
              <a:cs typeface="Archivo"/>
              <a:sym typeface="Archivo"/>
            </a:endParaRPr>
          </a:p>
        </p:txBody>
      </p:sp>
      <p:sp>
        <p:nvSpPr>
          <p:cNvPr id="293" name="Google Shape;293;p22"/>
          <p:cNvSpPr/>
          <p:nvPr/>
        </p:nvSpPr>
        <p:spPr>
          <a:xfrm>
            <a:off x="4773168" y="3099816"/>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2"/>
          <p:cNvSpPr/>
          <p:nvPr/>
        </p:nvSpPr>
        <p:spPr>
          <a:xfrm>
            <a:off x="4773168" y="3163824"/>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Confidence calibration</a:t>
            </a:r>
            <a:endParaRPr i="0" sz="1200" u="none" cap="none" strike="noStrike">
              <a:solidFill>
                <a:schemeClr val="dk1"/>
              </a:solidFill>
              <a:latin typeface="Archivo Medium"/>
              <a:ea typeface="Archivo Medium"/>
              <a:cs typeface="Archivo Medium"/>
              <a:sym typeface="Archivo Medium"/>
            </a:endParaRPr>
          </a:p>
        </p:txBody>
      </p:sp>
      <p:sp>
        <p:nvSpPr>
          <p:cNvPr id="295" name="Google Shape;295;p22"/>
          <p:cNvSpPr/>
          <p:nvPr/>
        </p:nvSpPr>
        <p:spPr>
          <a:xfrm>
            <a:off x="4773168" y="3438144"/>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Your agent should know what it doesn't know</a:t>
            </a:r>
            <a:endParaRPr i="0" sz="1050" u="none" cap="none" strike="noStrike">
              <a:solidFill>
                <a:schemeClr val="dk2"/>
              </a:solidFill>
              <a:latin typeface="Archivo"/>
              <a:ea typeface="Archivo"/>
              <a:cs typeface="Archivo"/>
              <a:sym typeface="Archivo"/>
            </a:endParaRPr>
          </a:p>
        </p:txBody>
      </p:sp>
      <p:sp>
        <p:nvSpPr>
          <p:cNvPr id="296" name="Google Shape;296;p22"/>
          <p:cNvSpPr/>
          <p:nvPr/>
        </p:nvSpPr>
        <p:spPr>
          <a:xfrm>
            <a:off x="4773168" y="3849624"/>
            <a:ext cx="4069080" cy="10973"/>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4773168" y="3913632"/>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i="0" lang="en" sz="1200" u="none" cap="none" strike="noStrike">
                <a:solidFill>
                  <a:schemeClr val="dk1"/>
                </a:solidFill>
                <a:latin typeface="Archivo Medium"/>
                <a:ea typeface="Archivo Medium"/>
                <a:cs typeface="Archivo Medium"/>
                <a:sym typeface="Archivo Medium"/>
              </a:rPr>
              <a:t>Schema validation</a:t>
            </a:r>
            <a:endParaRPr i="0" sz="1200" u="none" cap="none" strike="noStrike">
              <a:solidFill>
                <a:schemeClr val="dk1"/>
              </a:solidFill>
              <a:latin typeface="Archivo Medium"/>
              <a:ea typeface="Archivo Medium"/>
              <a:cs typeface="Archivo Medium"/>
              <a:sym typeface="Archivo Medium"/>
            </a:endParaRPr>
          </a:p>
        </p:txBody>
      </p:sp>
      <p:sp>
        <p:nvSpPr>
          <p:cNvPr id="298" name="Google Shape;298;p22"/>
          <p:cNvSpPr/>
          <p:nvPr/>
        </p:nvSpPr>
        <p:spPr>
          <a:xfrm>
            <a:off x="4773168" y="4187952"/>
            <a:ext cx="4069080" cy="2743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DC3"/>
              </a:buClr>
              <a:buSzPts val="1050"/>
              <a:buFont typeface="Trebuchet MS"/>
              <a:buNone/>
            </a:pPr>
            <a:r>
              <a:rPr i="0" lang="en" sz="1050" u="none" cap="none" strike="noStrike">
                <a:solidFill>
                  <a:schemeClr val="dk2"/>
                </a:solidFill>
                <a:latin typeface="Archivo"/>
                <a:ea typeface="Archivo"/>
                <a:cs typeface="Archivo"/>
                <a:sym typeface="Archivo"/>
              </a:rPr>
              <a:t>Validate tool outputs before acting on them</a:t>
            </a:r>
            <a:endParaRPr i="0" sz="1050" u="none" cap="none" strike="noStrike">
              <a:solidFill>
                <a:schemeClr val="dk2"/>
              </a:solidFill>
              <a:latin typeface="Archivo"/>
              <a:ea typeface="Archivo"/>
              <a:cs typeface="Archivo"/>
              <a:sym typeface="Archivo"/>
            </a:endParaRPr>
          </a:p>
        </p:txBody>
      </p:sp>
      <p:sp>
        <p:nvSpPr>
          <p:cNvPr id="299" name="Google Shape;299;p22"/>
          <p:cNvSpPr/>
          <p:nvPr/>
        </p:nvSpPr>
        <p:spPr>
          <a:xfrm>
            <a:off x="0" y="4681728"/>
            <a:ext cx="9144000" cy="3108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
          <p:cNvSpPr/>
          <p:nvPr/>
        </p:nvSpPr>
        <p:spPr>
          <a:xfrm>
            <a:off x="304046" y="4709160"/>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 sz="1200" u="none" cap="none" strike="noStrike">
                <a:solidFill>
                  <a:srgbClr val="1565C0"/>
                </a:solidFill>
                <a:latin typeface="Archivo"/>
                <a:ea typeface="Archivo"/>
                <a:cs typeface="Archivo"/>
                <a:sym typeface="Archivo"/>
              </a:rPr>
              <a:t>Good luck. Build something real.</a:t>
            </a:r>
            <a:endParaRPr i="0" sz="1200" u="none" cap="none" strike="noStrike">
              <a:solidFill>
                <a:srgbClr val="1565C0"/>
              </a:solidFill>
              <a:latin typeface="Archivo"/>
              <a:ea typeface="Archivo"/>
              <a:cs typeface="Archivo"/>
              <a:sym typeface="Archivo"/>
            </a:endParaRPr>
          </a:p>
        </p:txBody>
      </p:sp>
      <p:sp>
        <p:nvSpPr>
          <p:cNvPr id="301" name="Google Shape;301;p22"/>
          <p:cNvSpPr/>
          <p:nvPr/>
        </p:nvSpPr>
        <p:spPr>
          <a:xfrm>
            <a:off x="4572000" y="4736592"/>
            <a:ext cx="440740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DC3"/>
              </a:buClr>
              <a:buSzPts val="950"/>
              <a:buFont typeface="Trebuchet MS"/>
              <a:buNone/>
            </a:pPr>
            <a:r>
              <a:rPr i="1" lang="en" sz="1000" u="none" cap="none" strike="noStrike">
                <a:solidFill>
                  <a:schemeClr val="dk1"/>
                </a:solidFill>
                <a:latin typeface="Archivo"/>
                <a:ea typeface="Archivo"/>
                <a:cs typeface="Archivo"/>
                <a:sym typeface="Archivo"/>
              </a:rPr>
              <a:t>The best submission will make us ask — why isn't this already in production?</a:t>
            </a:r>
            <a:endParaRPr i="0" sz="1000" u="none" cap="none" strike="noStrike">
              <a:solidFill>
                <a:schemeClr val="dk1"/>
              </a:solidFill>
              <a:latin typeface="Archivo"/>
              <a:ea typeface="Archivo"/>
              <a:cs typeface="Archivo"/>
              <a:sym typeface="Archivo"/>
            </a:endParaRPr>
          </a:p>
        </p:txBody>
      </p:sp>
      <p:sp>
        <p:nvSpPr>
          <p:cNvPr id="302" name="Google Shape;302;p22"/>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 name="Google Shape;304;p22"/>
          <p:cNvPicPr preferRelativeResize="0"/>
          <p:nvPr/>
        </p:nvPicPr>
        <p:blipFill>
          <a:blip r:embed="rId5">
            <a:alphaModFix/>
          </a:blip>
          <a:stretch>
            <a:fillRect/>
          </a:stretch>
        </p:blipFill>
        <p:spPr>
          <a:xfrm>
            <a:off x="289725" y="116714"/>
            <a:ext cx="1212247" cy="329101"/>
          </a:xfrm>
          <a:prstGeom prst="rect">
            <a:avLst/>
          </a:prstGeom>
          <a:noFill/>
          <a:ln>
            <a:noFill/>
          </a:ln>
        </p:spPr>
      </p:pic>
      <p:pic>
        <p:nvPicPr>
          <p:cNvPr id="305" name="Google Shape;305;p22" title="Group 1321315272.png"/>
          <p:cNvPicPr preferRelativeResize="0"/>
          <p:nvPr/>
        </p:nvPicPr>
        <p:blipFill>
          <a:blip r:embed="rId6">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pic>
        <p:nvPicPr>
          <p:cNvPr id="311" name="Google Shape;311;p23"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312" name="Google Shape;312;p23"/>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DELIVERABLES</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Submission </a:t>
            </a:r>
            <a:r>
              <a:rPr b="1" lang="en" sz="2100">
                <a:solidFill>
                  <a:schemeClr val="dk1"/>
                </a:solidFill>
                <a:latin typeface="Archivo"/>
                <a:ea typeface="Archivo"/>
                <a:cs typeface="Archivo"/>
                <a:sym typeface="Archivo"/>
              </a:rPr>
              <a:t>C</a:t>
            </a:r>
            <a:r>
              <a:rPr b="1" i="0" lang="en" sz="2100" u="none" cap="none" strike="noStrike">
                <a:solidFill>
                  <a:schemeClr val="dk1"/>
                </a:solidFill>
                <a:latin typeface="Archivo"/>
                <a:ea typeface="Archivo"/>
                <a:cs typeface="Archivo"/>
                <a:sym typeface="Archivo"/>
              </a:rPr>
              <a:t>hecklist</a:t>
            </a:r>
            <a:endParaRPr i="0" sz="900" u="none" cap="none" strike="noStrike">
              <a:solidFill>
                <a:schemeClr val="dk1"/>
              </a:solidFill>
              <a:latin typeface="Archivo"/>
              <a:ea typeface="Archivo"/>
              <a:cs typeface="Archivo"/>
              <a:sym typeface="Archivo"/>
            </a:endParaRPr>
          </a:p>
        </p:txBody>
      </p:sp>
      <p:sp>
        <p:nvSpPr>
          <p:cNvPr id="313" name="Google Shape;313;p23"/>
          <p:cNvSpPr/>
          <p:nvPr/>
        </p:nvSpPr>
        <p:spPr>
          <a:xfrm>
            <a:off x="320050" y="1551912"/>
            <a:ext cx="351600" cy="351600"/>
          </a:xfrm>
          <a:prstGeom prst="ellipse">
            <a:avLst/>
          </a:prstGeom>
          <a:solidFill>
            <a:srgbClr val="1565C0"/>
          </a:solidFill>
          <a:ln cap="flat" cmpd="sng" w="11100">
            <a:solidFill>
              <a:srgbClr val="1565C0"/>
            </a:solidFill>
            <a:prstDash val="solid"/>
            <a:round/>
            <a:headEnd len="sm" w="sm" type="none"/>
            <a:tailEnd len="sm" w="sm" type="none"/>
          </a:ln>
          <a:effectLst>
            <a:outerShdw blurRad="111022" rotWithShape="0" algn="bl" dir="8100000" dist="33307">
              <a:srgbClr val="6C2BD9">
                <a:alpha val="7843"/>
              </a:srgbClr>
            </a:outerShdw>
          </a:effectLst>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pic>
        <p:nvPicPr>
          <p:cNvPr descr="preencoded.png" id="314" name="Google Shape;314;p23"/>
          <p:cNvPicPr preferRelativeResize="0"/>
          <p:nvPr/>
        </p:nvPicPr>
        <p:blipFill rotWithShape="1">
          <a:blip r:embed="rId4">
            <a:alphaModFix/>
          </a:blip>
          <a:srcRect b="0" l="0" r="0" t="0"/>
          <a:stretch/>
        </p:blipFill>
        <p:spPr>
          <a:xfrm>
            <a:off x="376005" y="1607868"/>
            <a:ext cx="239808" cy="239808"/>
          </a:xfrm>
          <a:prstGeom prst="rect">
            <a:avLst/>
          </a:prstGeom>
          <a:noFill/>
          <a:ln>
            <a:noFill/>
          </a:ln>
        </p:spPr>
      </p:pic>
      <p:sp>
        <p:nvSpPr>
          <p:cNvPr id="315" name="Google Shape;315;p23"/>
          <p:cNvSpPr/>
          <p:nvPr/>
        </p:nvSpPr>
        <p:spPr>
          <a:xfrm>
            <a:off x="775685" y="1535925"/>
            <a:ext cx="351600" cy="31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748"/>
              <a:buFont typeface="Trebuchet MS"/>
              <a:buNone/>
            </a:pPr>
            <a:r>
              <a:rPr b="1" i="0" lang="en" sz="1748" u="none" cap="none" strike="noStrike">
                <a:solidFill>
                  <a:srgbClr val="1565C0"/>
                </a:solidFill>
                <a:latin typeface="Trebuchet MS"/>
                <a:ea typeface="Trebuchet MS"/>
                <a:cs typeface="Trebuchet MS"/>
                <a:sym typeface="Trebuchet MS"/>
              </a:rPr>
              <a:t>01</a:t>
            </a:r>
            <a:endParaRPr b="0" i="0" sz="1748" u="none" cap="none" strike="noStrike">
              <a:solidFill>
                <a:schemeClr val="dk1"/>
              </a:solidFill>
              <a:latin typeface="Calibri"/>
              <a:ea typeface="Calibri"/>
              <a:cs typeface="Calibri"/>
              <a:sym typeface="Calibri"/>
            </a:endParaRPr>
          </a:p>
        </p:txBody>
      </p:sp>
      <p:pic>
        <p:nvPicPr>
          <p:cNvPr descr="preencoded.png" id="316" name="Google Shape;316;p23"/>
          <p:cNvPicPr preferRelativeResize="0"/>
          <p:nvPr/>
        </p:nvPicPr>
        <p:blipFill rotWithShape="1">
          <a:blip r:embed="rId5">
            <a:alphaModFix/>
          </a:blip>
          <a:srcRect b="0" l="0" r="0" t="0"/>
          <a:stretch/>
        </p:blipFill>
        <p:spPr>
          <a:xfrm>
            <a:off x="1159379" y="1535925"/>
            <a:ext cx="31973" cy="431658"/>
          </a:xfrm>
          <a:prstGeom prst="rect">
            <a:avLst/>
          </a:prstGeom>
          <a:noFill/>
          <a:ln>
            <a:noFill/>
          </a:ln>
        </p:spPr>
      </p:pic>
      <p:sp>
        <p:nvSpPr>
          <p:cNvPr id="317" name="Google Shape;317;p23"/>
          <p:cNvSpPr/>
          <p:nvPr/>
        </p:nvSpPr>
        <p:spPr>
          <a:xfrm>
            <a:off x="1342783" y="1535925"/>
            <a:ext cx="31974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80"/>
              <a:buFont typeface="Trebuchet MS"/>
              <a:buNone/>
            </a:pPr>
            <a:r>
              <a:rPr b="1" i="0" lang="en" sz="1200" u="none" cap="none" strike="noStrike">
                <a:solidFill>
                  <a:srgbClr val="1A1033"/>
                </a:solidFill>
                <a:latin typeface="Archivo"/>
                <a:ea typeface="Archivo"/>
                <a:cs typeface="Archivo"/>
                <a:sym typeface="Archivo"/>
              </a:rPr>
              <a:t>Working Agent</a:t>
            </a:r>
            <a:endParaRPr i="0" sz="1200" u="none" cap="none" strike="noStrike">
              <a:solidFill>
                <a:schemeClr val="dk1"/>
              </a:solidFill>
              <a:latin typeface="Archivo"/>
              <a:ea typeface="Archivo"/>
              <a:cs typeface="Archivo"/>
              <a:sym typeface="Archivo"/>
            </a:endParaRPr>
          </a:p>
        </p:txBody>
      </p:sp>
      <p:sp>
        <p:nvSpPr>
          <p:cNvPr id="318" name="Google Shape;318;p23"/>
          <p:cNvSpPr/>
          <p:nvPr/>
        </p:nvSpPr>
        <p:spPr>
          <a:xfrm>
            <a:off x="1342783" y="1775734"/>
            <a:ext cx="6474600" cy="2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18"/>
              <a:buFont typeface="Trebuchet MS"/>
              <a:buNone/>
            </a:pPr>
            <a:r>
              <a:rPr i="0" lang="en" sz="1018" u="none" cap="none" strike="noStrike">
                <a:solidFill>
                  <a:srgbClr val="4A3F6B"/>
                </a:solidFill>
                <a:latin typeface="Archivo"/>
                <a:ea typeface="Archivo"/>
                <a:cs typeface="Archivo"/>
                <a:sym typeface="Archivo"/>
              </a:rPr>
              <a:t>Runnable code with a clear entry point. README is mandatory.</a:t>
            </a:r>
            <a:endParaRPr i="0" sz="1018" u="none" cap="none" strike="noStrike">
              <a:solidFill>
                <a:schemeClr val="dk1"/>
              </a:solidFill>
              <a:latin typeface="Archivo"/>
              <a:ea typeface="Archivo"/>
              <a:cs typeface="Archivo"/>
              <a:sym typeface="Archivo"/>
            </a:endParaRPr>
          </a:p>
        </p:txBody>
      </p:sp>
      <p:sp>
        <p:nvSpPr>
          <p:cNvPr id="319" name="Google Shape;319;p23"/>
          <p:cNvSpPr/>
          <p:nvPr/>
        </p:nvSpPr>
        <p:spPr>
          <a:xfrm>
            <a:off x="320050" y="2063506"/>
            <a:ext cx="7434000" cy="9600"/>
          </a:xfrm>
          <a:prstGeom prst="rect">
            <a:avLst/>
          </a:prstGeom>
          <a:solidFill>
            <a:srgbClr val="E8E0FF"/>
          </a:solidFill>
          <a:ln>
            <a:noFill/>
          </a:ln>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sp>
        <p:nvSpPr>
          <p:cNvPr id="320" name="Google Shape;320;p23"/>
          <p:cNvSpPr/>
          <p:nvPr/>
        </p:nvSpPr>
        <p:spPr>
          <a:xfrm>
            <a:off x="320050" y="2191404"/>
            <a:ext cx="351600" cy="351600"/>
          </a:xfrm>
          <a:prstGeom prst="ellipse">
            <a:avLst/>
          </a:prstGeom>
          <a:solidFill>
            <a:srgbClr val="6A1B9A"/>
          </a:solidFill>
          <a:ln cap="flat" cmpd="sng" w="11100">
            <a:solidFill>
              <a:srgbClr val="6A1B9A"/>
            </a:solidFill>
            <a:prstDash val="solid"/>
            <a:round/>
            <a:headEnd len="sm" w="sm" type="none"/>
            <a:tailEnd len="sm" w="sm" type="none"/>
          </a:ln>
          <a:effectLst>
            <a:outerShdw blurRad="111022" rotWithShape="0" algn="bl" dir="8100000" dist="33307">
              <a:srgbClr val="6C2BD9">
                <a:alpha val="7843"/>
              </a:srgbClr>
            </a:outerShdw>
          </a:effectLst>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pic>
        <p:nvPicPr>
          <p:cNvPr descr="preencoded.png" id="321" name="Google Shape;321;p23"/>
          <p:cNvPicPr preferRelativeResize="0"/>
          <p:nvPr/>
        </p:nvPicPr>
        <p:blipFill rotWithShape="1">
          <a:blip r:embed="rId6">
            <a:alphaModFix/>
          </a:blip>
          <a:srcRect b="0" l="0" r="0" t="0"/>
          <a:stretch/>
        </p:blipFill>
        <p:spPr>
          <a:xfrm>
            <a:off x="376005" y="2247359"/>
            <a:ext cx="239808" cy="239808"/>
          </a:xfrm>
          <a:prstGeom prst="rect">
            <a:avLst/>
          </a:prstGeom>
          <a:noFill/>
          <a:ln>
            <a:noFill/>
          </a:ln>
        </p:spPr>
      </p:pic>
      <p:sp>
        <p:nvSpPr>
          <p:cNvPr id="322" name="Google Shape;322;p23"/>
          <p:cNvSpPr/>
          <p:nvPr/>
        </p:nvSpPr>
        <p:spPr>
          <a:xfrm>
            <a:off x="775685" y="2175417"/>
            <a:ext cx="351600" cy="31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1748"/>
              <a:buFont typeface="Trebuchet MS"/>
              <a:buNone/>
            </a:pPr>
            <a:r>
              <a:rPr b="1" i="0" lang="en" sz="1748" u="none" cap="none" strike="noStrike">
                <a:solidFill>
                  <a:srgbClr val="6A1B9A"/>
                </a:solidFill>
                <a:latin typeface="Trebuchet MS"/>
                <a:ea typeface="Trebuchet MS"/>
                <a:cs typeface="Trebuchet MS"/>
                <a:sym typeface="Trebuchet MS"/>
              </a:rPr>
              <a:t>02</a:t>
            </a:r>
            <a:endParaRPr b="0" i="0" sz="1748" u="none" cap="none" strike="noStrike">
              <a:solidFill>
                <a:schemeClr val="dk1"/>
              </a:solidFill>
              <a:latin typeface="Calibri"/>
              <a:ea typeface="Calibri"/>
              <a:cs typeface="Calibri"/>
              <a:sym typeface="Calibri"/>
            </a:endParaRPr>
          </a:p>
        </p:txBody>
      </p:sp>
      <p:pic>
        <p:nvPicPr>
          <p:cNvPr descr="preencoded.png" id="323" name="Google Shape;323;p23"/>
          <p:cNvPicPr preferRelativeResize="0"/>
          <p:nvPr/>
        </p:nvPicPr>
        <p:blipFill rotWithShape="1">
          <a:blip r:embed="rId5">
            <a:alphaModFix/>
          </a:blip>
          <a:srcRect b="0" l="0" r="0" t="0"/>
          <a:stretch/>
        </p:blipFill>
        <p:spPr>
          <a:xfrm>
            <a:off x="1159379" y="2175417"/>
            <a:ext cx="31973" cy="431658"/>
          </a:xfrm>
          <a:prstGeom prst="rect">
            <a:avLst/>
          </a:prstGeom>
          <a:noFill/>
          <a:ln>
            <a:noFill/>
          </a:ln>
        </p:spPr>
      </p:pic>
      <p:sp>
        <p:nvSpPr>
          <p:cNvPr id="324" name="Google Shape;324;p23"/>
          <p:cNvSpPr/>
          <p:nvPr/>
        </p:nvSpPr>
        <p:spPr>
          <a:xfrm>
            <a:off x="1342783" y="2175417"/>
            <a:ext cx="31974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80"/>
              <a:buFont typeface="Trebuchet MS"/>
              <a:buNone/>
            </a:pPr>
            <a:r>
              <a:rPr b="1" i="0" lang="en" sz="1200" u="none" cap="none" strike="noStrike">
                <a:solidFill>
                  <a:srgbClr val="1A1033"/>
                </a:solidFill>
                <a:latin typeface="Archivo"/>
                <a:ea typeface="Archivo"/>
                <a:cs typeface="Archivo"/>
                <a:sym typeface="Archivo"/>
              </a:rPr>
              <a:t>Architecture Diagram</a:t>
            </a:r>
            <a:endParaRPr i="0" sz="1200" u="none" cap="none" strike="noStrike">
              <a:solidFill>
                <a:schemeClr val="dk1"/>
              </a:solidFill>
              <a:latin typeface="Archivo"/>
              <a:ea typeface="Archivo"/>
              <a:cs typeface="Archivo"/>
              <a:sym typeface="Archivo"/>
            </a:endParaRPr>
          </a:p>
        </p:txBody>
      </p:sp>
      <p:sp>
        <p:nvSpPr>
          <p:cNvPr id="325" name="Google Shape;325;p23"/>
          <p:cNvSpPr/>
          <p:nvPr/>
        </p:nvSpPr>
        <p:spPr>
          <a:xfrm>
            <a:off x="1342783" y="2415226"/>
            <a:ext cx="6474600" cy="2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18"/>
              <a:buFont typeface="Trebuchet MS"/>
              <a:buNone/>
            </a:pPr>
            <a:r>
              <a:rPr i="0" lang="en" sz="1018" u="none" cap="none" strike="noStrike">
                <a:solidFill>
                  <a:srgbClr val="4A3F6B"/>
                </a:solidFill>
                <a:latin typeface="Archivo"/>
                <a:ea typeface="Archivo"/>
                <a:cs typeface="Archivo"/>
                <a:sym typeface="Archivo"/>
              </a:rPr>
              <a:t>1-page: agent loop, tool design, memory/state management</a:t>
            </a:r>
            <a:endParaRPr i="0" sz="1018" u="none" cap="none" strike="noStrike">
              <a:solidFill>
                <a:schemeClr val="dk1"/>
              </a:solidFill>
              <a:latin typeface="Archivo"/>
              <a:ea typeface="Archivo"/>
              <a:cs typeface="Archivo"/>
              <a:sym typeface="Archivo"/>
            </a:endParaRPr>
          </a:p>
        </p:txBody>
      </p:sp>
      <p:sp>
        <p:nvSpPr>
          <p:cNvPr id="326" name="Google Shape;326;p23"/>
          <p:cNvSpPr/>
          <p:nvPr/>
        </p:nvSpPr>
        <p:spPr>
          <a:xfrm>
            <a:off x="288387" y="2758988"/>
            <a:ext cx="351600" cy="351600"/>
          </a:xfrm>
          <a:prstGeom prst="ellipse">
            <a:avLst/>
          </a:prstGeom>
          <a:solidFill>
            <a:srgbClr val="C62828"/>
          </a:solidFill>
          <a:ln cap="flat" cmpd="sng" w="11100">
            <a:solidFill>
              <a:srgbClr val="C62828"/>
            </a:solidFill>
            <a:prstDash val="solid"/>
            <a:round/>
            <a:headEnd len="sm" w="sm" type="none"/>
            <a:tailEnd len="sm" w="sm" type="none"/>
          </a:ln>
          <a:effectLst>
            <a:outerShdw blurRad="111022" rotWithShape="0" algn="bl" dir="8100000" dist="33307">
              <a:srgbClr val="6C2BD9">
                <a:alpha val="7843"/>
              </a:srgbClr>
            </a:outerShdw>
          </a:effectLst>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pic>
        <p:nvPicPr>
          <p:cNvPr descr="preencoded.png" id="327" name="Google Shape;327;p23"/>
          <p:cNvPicPr preferRelativeResize="0"/>
          <p:nvPr/>
        </p:nvPicPr>
        <p:blipFill rotWithShape="1">
          <a:blip r:embed="rId7">
            <a:alphaModFix/>
          </a:blip>
          <a:srcRect b="0" l="0" r="0" t="0"/>
          <a:stretch/>
        </p:blipFill>
        <p:spPr>
          <a:xfrm>
            <a:off x="344343" y="2814943"/>
            <a:ext cx="239808" cy="239808"/>
          </a:xfrm>
          <a:prstGeom prst="rect">
            <a:avLst/>
          </a:prstGeom>
          <a:noFill/>
          <a:ln>
            <a:noFill/>
          </a:ln>
        </p:spPr>
      </p:pic>
      <p:sp>
        <p:nvSpPr>
          <p:cNvPr id="328" name="Google Shape;328;p23"/>
          <p:cNvSpPr/>
          <p:nvPr/>
        </p:nvSpPr>
        <p:spPr>
          <a:xfrm>
            <a:off x="744023" y="2743001"/>
            <a:ext cx="351600" cy="31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1748"/>
              <a:buFont typeface="Trebuchet MS"/>
              <a:buNone/>
            </a:pPr>
            <a:r>
              <a:rPr b="1" i="0" lang="en" sz="1748" u="none" cap="none" strike="noStrike">
                <a:solidFill>
                  <a:srgbClr val="C62828"/>
                </a:solidFill>
                <a:latin typeface="Trebuchet MS"/>
                <a:ea typeface="Trebuchet MS"/>
                <a:cs typeface="Trebuchet MS"/>
                <a:sym typeface="Trebuchet MS"/>
              </a:rPr>
              <a:t>0</a:t>
            </a:r>
            <a:r>
              <a:rPr b="1" lang="en" sz="1748">
                <a:solidFill>
                  <a:srgbClr val="C62828"/>
                </a:solidFill>
                <a:latin typeface="Trebuchet MS"/>
                <a:ea typeface="Trebuchet MS"/>
                <a:cs typeface="Trebuchet MS"/>
                <a:sym typeface="Trebuchet MS"/>
              </a:rPr>
              <a:t>3</a:t>
            </a:r>
            <a:endParaRPr b="0" i="0" sz="1748" u="none" cap="none" strike="noStrike">
              <a:solidFill>
                <a:schemeClr val="dk1"/>
              </a:solidFill>
              <a:latin typeface="Calibri"/>
              <a:ea typeface="Calibri"/>
              <a:cs typeface="Calibri"/>
              <a:sym typeface="Calibri"/>
            </a:endParaRPr>
          </a:p>
        </p:txBody>
      </p:sp>
      <p:pic>
        <p:nvPicPr>
          <p:cNvPr descr="preencoded.png" id="329" name="Google Shape;329;p23"/>
          <p:cNvPicPr preferRelativeResize="0"/>
          <p:nvPr/>
        </p:nvPicPr>
        <p:blipFill rotWithShape="1">
          <a:blip r:embed="rId5">
            <a:alphaModFix/>
          </a:blip>
          <a:srcRect b="0" l="0" r="0" t="0"/>
          <a:stretch/>
        </p:blipFill>
        <p:spPr>
          <a:xfrm flipH="1">
            <a:off x="1159668" y="2743000"/>
            <a:ext cx="31973" cy="431650"/>
          </a:xfrm>
          <a:prstGeom prst="rect">
            <a:avLst/>
          </a:prstGeom>
          <a:noFill/>
          <a:ln>
            <a:noFill/>
          </a:ln>
        </p:spPr>
      </p:pic>
      <p:sp>
        <p:nvSpPr>
          <p:cNvPr id="330" name="Google Shape;330;p23"/>
          <p:cNvSpPr/>
          <p:nvPr/>
        </p:nvSpPr>
        <p:spPr>
          <a:xfrm>
            <a:off x="1311120" y="2743001"/>
            <a:ext cx="31974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80"/>
              <a:buFont typeface="Trebuchet MS"/>
              <a:buNone/>
            </a:pPr>
            <a:r>
              <a:rPr b="1" i="0" lang="en" sz="1200" u="none" cap="none" strike="noStrike">
                <a:solidFill>
                  <a:srgbClr val="1A1033"/>
                </a:solidFill>
                <a:latin typeface="Archivo"/>
                <a:ea typeface="Archivo"/>
                <a:cs typeface="Archivo"/>
                <a:sym typeface="Archivo"/>
              </a:rPr>
              <a:t>Failure Mode Analysis</a:t>
            </a:r>
            <a:endParaRPr i="0" sz="1200" u="none" cap="none" strike="noStrike">
              <a:solidFill>
                <a:schemeClr val="dk1"/>
              </a:solidFill>
              <a:latin typeface="Archivo"/>
              <a:ea typeface="Archivo"/>
              <a:cs typeface="Archivo"/>
              <a:sym typeface="Archivo"/>
            </a:endParaRPr>
          </a:p>
        </p:txBody>
      </p:sp>
      <p:sp>
        <p:nvSpPr>
          <p:cNvPr id="331" name="Google Shape;331;p23"/>
          <p:cNvSpPr/>
          <p:nvPr/>
        </p:nvSpPr>
        <p:spPr>
          <a:xfrm>
            <a:off x="1311120" y="2982810"/>
            <a:ext cx="6474600" cy="2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18"/>
              <a:buFont typeface="Trebuchet MS"/>
              <a:buNone/>
            </a:pPr>
            <a:r>
              <a:rPr i="0" lang="en" sz="1018" u="none" cap="none" strike="noStrike">
                <a:solidFill>
                  <a:srgbClr val="4A3F6B"/>
                </a:solidFill>
                <a:latin typeface="Archivo"/>
                <a:ea typeface="Archivo"/>
                <a:cs typeface="Archivo"/>
                <a:sym typeface="Archivo"/>
              </a:rPr>
              <a:t>At least 3 failure scenarios documented with how your system responds</a:t>
            </a:r>
            <a:endParaRPr i="0" sz="1018" u="none" cap="none" strike="noStrike">
              <a:solidFill>
                <a:schemeClr val="dk1"/>
              </a:solidFill>
              <a:latin typeface="Archivo"/>
              <a:ea typeface="Archivo"/>
              <a:cs typeface="Archivo"/>
              <a:sym typeface="Archivo"/>
            </a:endParaRPr>
          </a:p>
        </p:txBody>
      </p:sp>
      <p:sp>
        <p:nvSpPr>
          <p:cNvPr id="332" name="Google Shape;332;p23"/>
          <p:cNvSpPr/>
          <p:nvPr/>
        </p:nvSpPr>
        <p:spPr>
          <a:xfrm>
            <a:off x="288387" y="3310594"/>
            <a:ext cx="7434000" cy="9600"/>
          </a:xfrm>
          <a:prstGeom prst="rect">
            <a:avLst/>
          </a:prstGeom>
          <a:solidFill>
            <a:srgbClr val="E8E0FF"/>
          </a:solidFill>
          <a:ln>
            <a:noFill/>
          </a:ln>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sp>
        <p:nvSpPr>
          <p:cNvPr id="333" name="Google Shape;333;p23"/>
          <p:cNvSpPr/>
          <p:nvPr/>
        </p:nvSpPr>
        <p:spPr>
          <a:xfrm>
            <a:off x="288387" y="3438492"/>
            <a:ext cx="351600" cy="351600"/>
          </a:xfrm>
          <a:prstGeom prst="ellipse">
            <a:avLst/>
          </a:prstGeom>
          <a:solidFill>
            <a:srgbClr val="1B6B3A"/>
          </a:solidFill>
          <a:ln cap="flat" cmpd="sng" w="11100">
            <a:solidFill>
              <a:srgbClr val="1B6B3A"/>
            </a:solidFill>
            <a:prstDash val="solid"/>
            <a:round/>
            <a:headEnd len="sm" w="sm" type="none"/>
            <a:tailEnd len="sm" w="sm" type="none"/>
          </a:ln>
          <a:effectLst>
            <a:outerShdw blurRad="111022" rotWithShape="0" algn="bl" dir="8100000" dist="33307">
              <a:srgbClr val="6C2BD9">
                <a:alpha val="7843"/>
              </a:srgbClr>
            </a:outerShdw>
          </a:effectLst>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pic>
        <p:nvPicPr>
          <p:cNvPr descr="preencoded.png" id="334" name="Google Shape;334;p23"/>
          <p:cNvPicPr preferRelativeResize="0"/>
          <p:nvPr/>
        </p:nvPicPr>
        <p:blipFill rotWithShape="1">
          <a:blip r:embed="rId8">
            <a:alphaModFix/>
          </a:blip>
          <a:srcRect b="0" l="0" r="0" t="0"/>
          <a:stretch/>
        </p:blipFill>
        <p:spPr>
          <a:xfrm>
            <a:off x="344343" y="3494448"/>
            <a:ext cx="239808" cy="239808"/>
          </a:xfrm>
          <a:prstGeom prst="rect">
            <a:avLst/>
          </a:prstGeom>
          <a:noFill/>
          <a:ln>
            <a:noFill/>
          </a:ln>
        </p:spPr>
      </p:pic>
      <p:sp>
        <p:nvSpPr>
          <p:cNvPr id="335" name="Google Shape;335;p23"/>
          <p:cNvSpPr/>
          <p:nvPr/>
        </p:nvSpPr>
        <p:spPr>
          <a:xfrm>
            <a:off x="744023" y="3422505"/>
            <a:ext cx="351600" cy="31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6B3A"/>
              </a:buClr>
              <a:buSzPts val="1748"/>
              <a:buFont typeface="Trebuchet MS"/>
              <a:buNone/>
            </a:pPr>
            <a:r>
              <a:rPr b="1" i="0" lang="en" sz="1748" u="none" cap="none" strike="noStrike">
                <a:solidFill>
                  <a:srgbClr val="1B6B3A"/>
                </a:solidFill>
                <a:latin typeface="Trebuchet MS"/>
                <a:ea typeface="Trebuchet MS"/>
                <a:cs typeface="Trebuchet MS"/>
                <a:sym typeface="Trebuchet MS"/>
              </a:rPr>
              <a:t>0</a:t>
            </a:r>
            <a:r>
              <a:rPr b="1" lang="en" sz="1748">
                <a:solidFill>
                  <a:srgbClr val="1B6B3A"/>
                </a:solidFill>
                <a:latin typeface="Trebuchet MS"/>
                <a:ea typeface="Trebuchet MS"/>
                <a:cs typeface="Trebuchet MS"/>
                <a:sym typeface="Trebuchet MS"/>
              </a:rPr>
              <a:t>4</a:t>
            </a:r>
            <a:endParaRPr b="0" i="0" sz="1748" u="none" cap="none" strike="noStrike">
              <a:solidFill>
                <a:schemeClr val="dk1"/>
              </a:solidFill>
              <a:latin typeface="Calibri"/>
              <a:ea typeface="Calibri"/>
              <a:cs typeface="Calibri"/>
              <a:sym typeface="Calibri"/>
            </a:endParaRPr>
          </a:p>
        </p:txBody>
      </p:sp>
      <p:pic>
        <p:nvPicPr>
          <p:cNvPr descr="preencoded.png" id="336" name="Google Shape;336;p23"/>
          <p:cNvPicPr preferRelativeResize="0"/>
          <p:nvPr/>
        </p:nvPicPr>
        <p:blipFill rotWithShape="1">
          <a:blip r:embed="rId5">
            <a:alphaModFix/>
          </a:blip>
          <a:srcRect b="0" l="0" r="0" t="0"/>
          <a:stretch/>
        </p:blipFill>
        <p:spPr>
          <a:xfrm flipH="1">
            <a:off x="1159673" y="3422500"/>
            <a:ext cx="31973" cy="431675"/>
          </a:xfrm>
          <a:prstGeom prst="rect">
            <a:avLst/>
          </a:prstGeom>
          <a:noFill/>
          <a:ln>
            <a:noFill/>
          </a:ln>
        </p:spPr>
      </p:pic>
      <p:sp>
        <p:nvSpPr>
          <p:cNvPr id="337" name="Google Shape;337;p23"/>
          <p:cNvSpPr/>
          <p:nvPr/>
        </p:nvSpPr>
        <p:spPr>
          <a:xfrm>
            <a:off x="1311120" y="3422505"/>
            <a:ext cx="3197400" cy="22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80"/>
              <a:buFont typeface="Trebuchet MS"/>
              <a:buNone/>
            </a:pPr>
            <a:r>
              <a:rPr b="1" i="0" lang="en" sz="1200" u="none" cap="none" strike="noStrike">
                <a:solidFill>
                  <a:srgbClr val="1A1033"/>
                </a:solidFill>
                <a:latin typeface="Archivo"/>
                <a:ea typeface="Archivo"/>
                <a:cs typeface="Archivo"/>
                <a:sym typeface="Archivo"/>
              </a:rPr>
              <a:t>Demo Run</a:t>
            </a:r>
            <a:endParaRPr i="0" sz="1200" u="none" cap="none" strike="noStrike">
              <a:solidFill>
                <a:schemeClr val="dk1"/>
              </a:solidFill>
              <a:latin typeface="Archivo"/>
              <a:ea typeface="Archivo"/>
              <a:cs typeface="Archivo"/>
              <a:sym typeface="Archivo"/>
            </a:endParaRPr>
          </a:p>
        </p:txBody>
      </p:sp>
      <p:sp>
        <p:nvSpPr>
          <p:cNvPr id="338" name="Google Shape;338;p23"/>
          <p:cNvSpPr/>
          <p:nvPr/>
        </p:nvSpPr>
        <p:spPr>
          <a:xfrm>
            <a:off x="1311120" y="3662315"/>
            <a:ext cx="6474600" cy="2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18"/>
              <a:buFont typeface="Trebuchet MS"/>
              <a:buNone/>
            </a:pPr>
            <a:r>
              <a:rPr i="0" lang="en" sz="1018" u="none" cap="none" strike="noStrike">
                <a:solidFill>
                  <a:srgbClr val="4A3F6B"/>
                </a:solidFill>
                <a:latin typeface="Archivo"/>
                <a:ea typeface="Archivo"/>
                <a:cs typeface="Archivo"/>
                <a:sym typeface="Archivo"/>
              </a:rPr>
              <a:t>Live or recorded — processing all 20 mock tickets end-to-end</a:t>
            </a:r>
            <a:endParaRPr i="0" sz="1018" u="none" cap="none" strike="noStrike">
              <a:solidFill>
                <a:schemeClr val="dk1"/>
              </a:solidFill>
              <a:latin typeface="Archivo"/>
              <a:ea typeface="Archivo"/>
              <a:cs typeface="Archivo"/>
              <a:sym typeface="Archivo"/>
            </a:endParaRPr>
          </a:p>
        </p:txBody>
      </p:sp>
      <p:sp>
        <p:nvSpPr>
          <p:cNvPr id="339" name="Google Shape;339;p23"/>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 name="Google Shape;341;p23"/>
          <p:cNvPicPr preferRelativeResize="0"/>
          <p:nvPr/>
        </p:nvPicPr>
        <p:blipFill>
          <a:blip r:embed="rId9">
            <a:alphaModFix/>
          </a:blip>
          <a:stretch>
            <a:fillRect/>
          </a:stretch>
        </p:blipFill>
        <p:spPr>
          <a:xfrm>
            <a:off x="289725" y="116714"/>
            <a:ext cx="1212247" cy="329101"/>
          </a:xfrm>
          <a:prstGeom prst="rect">
            <a:avLst/>
          </a:prstGeom>
          <a:noFill/>
          <a:ln>
            <a:noFill/>
          </a:ln>
        </p:spPr>
      </p:pic>
      <p:pic>
        <p:nvPicPr>
          <p:cNvPr id="342" name="Google Shape;342;p23"/>
          <p:cNvPicPr preferRelativeResize="0"/>
          <p:nvPr/>
        </p:nvPicPr>
        <p:blipFill>
          <a:blip r:embed="rId10">
            <a:alphaModFix/>
          </a:blip>
          <a:stretch>
            <a:fillRect/>
          </a:stretch>
        </p:blipFill>
        <p:spPr>
          <a:xfrm>
            <a:off x="7840150" y="4866852"/>
            <a:ext cx="1047829" cy="151137"/>
          </a:xfrm>
          <a:prstGeom prst="rect">
            <a:avLst/>
          </a:prstGeom>
          <a:noFill/>
          <a:ln>
            <a:noFill/>
          </a:ln>
        </p:spPr>
      </p:pic>
      <p:sp>
        <p:nvSpPr>
          <p:cNvPr id="343" name="Google Shape;343;p23"/>
          <p:cNvSpPr/>
          <p:nvPr/>
        </p:nvSpPr>
        <p:spPr>
          <a:xfrm>
            <a:off x="288387" y="2638207"/>
            <a:ext cx="7434000" cy="9600"/>
          </a:xfrm>
          <a:prstGeom prst="rect">
            <a:avLst/>
          </a:prstGeom>
          <a:solidFill>
            <a:srgbClr val="E8E0FF"/>
          </a:solidFill>
          <a:ln>
            <a:noFill/>
          </a:ln>
        </p:spPr>
        <p:txBody>
          <a:bodyPr anchorCtr="0" anchor="ctr" bIns="79925" lIns="79925" spcFirstLastPara="1" rIns="79925" wrap="square" tIns="79925">
            <a:noAutofit/>
          </a:bodyPr>
          <a:lstStyle/>
          <a:p>
            <a:pPr indent="0" lvl="0" marL="0" rtl="0" algn="l">
              <a:spcBef>
                <a:spcPts val="0"/>
              </a:spcBef>
              <a:spcAft>
                <a:spcPts val="0"/>
              </a:spcAft>
              <a:buNone/>
            </a:pPr>
            <a:r>
              <a:t/>
            </a:r>
            <a:endParaRPr/>
          </a:p>
        </p:txBody>
      </p:sp>
      <p:pic>
        <p:nvPicPr>
          <p:cNvPr id="344" name="Google Shape;344;p23" title="Group 1321315272.png"/>
          <p:cNvPicPr preferRelativeResize="0"/>
          <p:nvPr/>
        </p:nvPicPr>
        <p:blipFill>
          <a:blip r:embed="rId11">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4" title="Rectangle 10139.png"/>
          <p:cNvPicPr preferRelativeResize="0"/>
          <p:nvPr/>
        </p:nvPicPr>
        <p:blipFill rotWithShape="1">
          <a:blip r:embed="rId3">
            <a:alphaModFix/>
          </a:blip>
          <a:srcRect b="0" l="0" r="0" t="68422"/>
          <a:stretch/>
        </p:blipFill>
        <p:spPr>
          <a:xfrm>
            <a:off x="0" y="530352"/>
            <a:ext cx="9144000" cy="658368"/>
          </a:xfrm>
          <a:prstGeom prst="rect">
            <a:avLst/>
          </a:prstGeom>
          <a:noFill/>
          <a:ln>
            <a:noFill/>
          </a:ln>
        </p:spPr>
      </p:pic>
      <p:pic>
        <p:nvPicPr>
          <p:cNvPr descr="preencoded.png" id="351" name="Google Shape;351;p24"/>
          <p:cNvPicPr preferRelativeResize="0"/>
          <p:nvPr/>
        </p:nvPicPr>
        <p:blipFill rotWithShape="1">
          <a:blip r:embed="rId4">
            <a:alphaModFix/>
          </a:blip>
          <a:srcRect b="0" l="0" r="0" t="0"/>
          <a:stretch/>
        </p:blipFill>
        <p:spPr>
          <a:xfrm>
            <a:off x="4555650" y="1325875"/>
            <a:ext cx="18302" cy="3646875"/>
          </a:xfrm>
          <a:prstGeom prst="rect">
            <a:avLst/>
          </a:prstGeom>
          <a:noFill/>
          <a:ln>
            <a:noFill/>
          </a:ln>
        </p:spPr>
      </p:pic>
      <p:sp>
        <p:nvSpPr>
          <p:cNvPr id="352" name="Google Shape;352;p24"/>
          <p:cNvSpPr/>
          <p:nvPr/>
        </p:nvSpPr>
        <p:spPr>
          <a:xfrm>
            <a:off x="320040" y="1325880"/>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lang="en" sz="1200">
                <a:solidFill>
                  <a:schemeClr val="dk1"/>
                </a:solidFill>
                <a:latin typeface="Archivo"/>
                <a:ea typeface="Archivo"/>
                <a:cs typeface="Archivo"/>
                <a:sym typeface="Archivo"/>
              </a:rPr>
              <a:t>Step 1 - Push your code to GitHub</a:t>
            </a:r>
            <a:endParaRPr b="1" i="0" sz="1200" u="none" cap="none" strike="noStrike">
              <a:solidFill>
                <a:schemeClr val="dk1"/>
              </a:solidFill>
              <a:latin typeface="Archivo"/>
              <a:ea typeface="Archivo"/>
              <a:cs typeface="Archivo"/>
              <a:sym typeface="Archivo"/>
            </a:endParaRPr>
          </a:p>
        </p:txBody>
      </p:sp>
      <p:pic>
        <p:nvPicPr>
          <p:cNvPr descr="preencoded.png" id="353" name="Google Shape;353;p24"/>
          <p:cNvPicPr preferRelativeResize="0"/>
          <p:nvPr/>
        </p:nvPicPr>
        <p:blipFill rotWithShape="1">
          <a:blip r:embed="rId4">
            <a:alphaModFix/>
          </a:blip>
          <a:srcRect b="0" l="0" r="0" t="0"/>
          <a:stretch/>
        </p:blipFill>
        <p:spPr>
          <a:xfrm>
            <a:off x="320040" y="1549808"/>
            <a:ext cx="4069080" cy="18288"/>
          </a:xfrm>
          <a:prstGeom prst="rect">
            <a:avLst/>
          </a:prstGeom>
          <a:noFill/>
          <a:ln>
            <a:noFill/>
          </a:ln>
        </p:spPr>
      </p:pic>
      <p:sp>
        <p:nvSpPr>
          <p:cNvPr id="354" name="Google Shape;354;p24"/>
          <p:cNvSpPr/>
          <p:nvPr/>
        </p:nvSpPr>
        <p:spPr>
          <a:xfrm>
            <a:off x="320040" y="1664208"/>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t/>
            </a:r>
            <a:endParaRPr i="0" sz="1200" u="none" cap="none" strike="noStrike">
              <a:solidFill>
                <a:schemeClr val="dk1"/>
              </a:solidFill>
              <a:latin typeface="Archivo Medium"/>
              <a:ea typeface="Archivo Medium"/>
              <a:cs typeface="Archivo Medium"/>
              <a:sym typeface="Archivo Medium"/>
            </a:endParaRPr>
          </a:p>
        </p:txBody>
      </p:sp>
      <p:sp>
        <p:nvSpPr>
          <p:cNvPr id="355" name="Google Shape;355;p24"/>
          <p:cNvSpPr/>
          <p:nvPr/>
        </p:nvSpPr>
        <p:spPr>
          <a:xfrm>
            <a:off x="319988" y="1703821"/>
            <a:ext cx="4069200" cy="65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DC3"/>
              </a:buClr>
              <a:buSzPts val="1050"/>
              <a:buFont typeface="Trebuchet MS"/>
              <a:buNone/>
            </a:pPr>
            <a:r>
              <a:rPr lang="en" sz="900">
                <a:solidFill>
                  <a:schemeClr val="dk1"/>
                </a:solidFill>
                <a:latin typeface="Archivo"/>
                <a:ea typeface="Archivo"/>
                <a:cs typeface="Archivo"/>
                <a:sym typeface="Archivo"/>
              </a:rPr>
              <a:t>Create a public GitHub repository named hackathon2026-[your-name]. Make sure your entire project is pushed before the deadline. Commits after the deadline will not be considered.</a:t>
            </a:r>
            <a:endParaRPr i="0" sz="900" u="none" cap="none" strike="noStrike">
              <a:solidFill>
                <a:schemeClr val="dk1"/>
              </a:solidFill>
              <a:latin typeface="Archivo"/>
              <a:ea typeface="Archivo"/>
              <a:cs typeface="Archivo"/>
              <a:sym typeface="Archivo"/>
            </a:endParaRPr>
          </a:p>
        </p:txBody>
      </p:sp>
      <p:sp>
        <p:nvSpPr>
          <p:cNvPr id="356" name="Google Shape;356;p24"/>
          <p:cNvSpPr/>
          <p:nvPr/>
        </p:nvSpPr>
        <p:spPr>
          <a:xfrm>
            <a:off x="320040" y="2414951"/>
            <a:ext cx="4069200" cy="11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9" name="Google Shape;359;p24"/>
          <p:cNvPicPr preferRelativeResize="0"/>
          <p:nvPr/>
        </p:nvPicPr>
        <p:blipFill>
          <a:blip r:embed="rId5">
            <a:alphaModFix/>
          </a:blip>
          <a:stretch>
            <a:fillRect/>
          </a:stretch>
        </p:blipFill>
        <p:spPr>
          <a:xfrm>
            <a:off x="289725" y="116714"/>
            <a:ext cx="1212247" cy="329101"/>
          </a:xfrm>
          <a:prstGeom prst="rect">
            <a:avLst/>
          </a:prstGeom>
          <a:noFill/>
          <a:ln>
            <a:noFill/>
          </a:ln>
        </p:spPr>
      </p:pic>
      <p:sp>
        <p:nvSpPr>
          <p:cNvPr id="360" name="Google Shape;360;p24"/>
          <p:cNvSpPr/>
          <p:nvPr/>
        </p:nvSpPr>
        <p:spPr>
          <a:xfrm>
            <a:off x="292608" y="539496"/>
            <a:ext cx="8595300" cy="70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lang="en" sz="2100">
                <a:solidFill>
                  <a:schemeClr val="dk1"/>
                </a:solidFill>
                <a:latin typeface="Archivo"/>
                <a:ea typeface="Archivo"/>
                <a:cs typeface="Archivo"/>
                <a:sym typeface="Archivo"/>
              </a:rPr>
              <a:t>Submission Instructions  (Deadline - Sunday, 19th April, 9 PM IST)</a:t>
            </a:r>
            <a:endParaRPr i="0" sz="900" u="none" cap="none" strike="noStrike">
              <a:solidFill>
                <a:schemeClr val="dk1"/>
              </a:solidFill>
              <a:latin typeface="Archivo"/>
              <a:ea typeface="Archivo"/>
              <a:cs typeface="Archivo"/>
              <a:sym typeface="Archivo"/>
            </a:endParaRPr>
          </a:p>
        </p:txBody>
      </p:sp>
      <p:sp>
        <p:nvSpPr>
          <p:cNvPr id="361" name="Google Shape;361;p24"/>
          <p:cNvSpPr/>
          <p:nvPr/>
        </p:nvSpPr>
        <p:spPr>
          <a:xfrm>
            <a:off x="326840" y="2573514"/>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lang="en" sz="1200">
                <a:solidFill>
                  <a:schemeClr val="dk1"/>
                </a:solidFill>
                <a:latin typeface="Archivo"/>
                <a:ea typeface="Archivo"/>
                <a:cs typeface="Archivo"/>
                <a:sym typeface="Archivo"/>
              </a:rPr>
              <a:t>Step 2 — Ensure your repo includes the following:</a:t>
            </a:r>
            <a:endParaRPr b="1" i="0" sz="1200" u="none" cap="none" strike="noStrike">
              <a:solidFill>
                <a:schemeClr val="dk1"/>
              </a:solidFill>
              <a:latin typeface="Archivo"/>
              <a:ea typeface="Archivo"/>
              <a:cs typeface="Archivo"/>
              <a:sym typeface="Archivo"/>
            </a:endParaRPr>
          </a:p>
        </p:txBody>
      </p:sp>
      <p:pic>
        <p:nvPicPr>
          <p:cNvPr descr="preencoded.png" id="362" name="Google Shape;362;p24"/>
          <p:cNvPicPr preferRelativeResize="0"/>
          <p:nvPr/>
        </p:nvPicPr>
        <p:blipFill rotWithShape="1">
          <a:blip r:embed="rId4">
            <a:alphaModFix/>
          </a:blip>
          <a:srcRect b="0" l="0" r="0" t="0"/>
          <a:stretch/>
        </p:blipFill>
        <p:spPr>
          <a:xfrm>
            <a:off x="326840" y="2797442"/>
            <a:ext cx="4069080" cy="18288"/>
          </a:xfrm>
          <a:prstGeom prst="rect">
            <a:avLst/>
          </a:prstGeom>
          <a:noFill/>
          <a:ln>
            <a:noFill/>
          </a:ln>
        </p:spPr>
      </p:pic>
      <p:sp>
        <p:nvSpPr>
          <p:cNvPr id="363" name="Google Shape;363;p24"/>
          <p:cNvSpPr/>
          <p:nvPr/>
        </p:nvSpPr>
        <p:spPr>
          <a:xfrm>
            <a:off x="326840" y="2911842"/>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t/>
            </a:r>
            <a:endParaRPr i="0" sz="1200" u="none" cap="none" strike="noStrike">
              <a:solidFill>
                <a:schemeClr val="dk1"/>
              </a:solidFill>
              <a:latin typeface="Archivo Medium"/>
              <a:ea typeface="Archivo Medium"/>
              <a:cs typeface="Archivo Medium"/>
              <a:sym typeface="Archivo Medium"/>
            </a:endParaRPr>
          </a:p>
        </p:txBody>
      </p:sp>
      <p:sp>
        <p:nvSpPr>
          <p:cNvPr id="364" name="Google Shape;364;p24"/>
          <p:cNvSpPr/>
          <p:nvPr/>
        </p:nvSpPr>
        <p:spPr>
          <a:xfrm>
            <a:off x="320000" y="2978380"/>
            <a:ext cx="4069200" cy="1987800"/>
          </a:xfrm>
          <a:prstGeom prst="rect">
            <a:avLst/>
          </a:prstGeom>
          <a:noFill/>
          <a:ln>
            <a:noFill/>
          </a:ln>
        </p:spPr>
        <p:txBody>
          <a:bodyPr anchorCtr="0" anchor="t" bIns="0" lIns="0" spcFirstLastPara="1" rIns="0" wrap="square" tIns="0">
            <a:noAutofit/>
          </a:bodyPr>
          <a:lstStyle/>
          <a:p>
            <a:pPr indent="-285750" lvl="0" marL="457200" rtl="0" algn="l">
              <a:lnSpc>
                <a:spcPct val="100000"/>
              </a:lnSpc>
              <a:spcBef>
                <a:spcPts val="0"/>
              </a:spcBef>
              <a:spcAft>
                <a:spcPts val="0"/>
              </a:spcAft>
              <a:buSzPts val="900"/>
              <a:buChar char="●"/>
            </a:pPr>
            <a:r>
              <a:rPr lang="en" sz="900">
                <a:solidFill>
                  <a:srgbClr val="188038"/>
                </a:solidFill>
                <a:latin typeface="Archivo"/>
                <a:ea typeface="Archivo"/>
                <a:cs typeface="Archivo"/>
                <a:sym typeface="Archivo"/>
              </a:rPr>
              <a:t>README.md</a:t>
            </a:r>
            <a:r>
              <a:rPr lang="en" sz="900">
                <a:solidFill>
                  <a:schemeClr val="dk1"/>
                </a:solidFill>
                <a:latin typeface="Archivo"/>
                <a:ea typeface="Archivo"/>
                <a:cs typeface="Archivo"/>
                <a:sym typeface="Archivo"/>
              </a:rPr>
              <a:t> - Setup instructions, how to run the agent, and your tech stack. Missing README = automatic 10 point deduction.</a:t>
            </a:r>
            <a:endParaRPr sz="900">
              <a:solidFill>
                <a:schemeClr val="dk1"/>
              </a:solidFill>
              <a:latin typeface="Archivo"/>
              <a:ea typeface="Archivo"/>
              <a:cs typeface="Archivo"/>
              <a:sym typeface="Archivo"/>
            </a:endParaRPr>
          </a:p>
          <a:p>
            <a:pPr indent="-285750" lvl="0" marL="457200" rtl="0" algn="l">
              <a:lnSpc>
                <a:spcPct val="100000"/>
              </a:lnSpc>
              <a:spcBef>
                <a:spcPts val="400"/>
              </a:spcBef>
              <a:spcAft>
                <a:spcPts val="0"/>
              </a:spcAft>
              <a:buSzPts val="900"/>
              <a:buChar char="●"/>
            </a:pPr>
            <a:r>
              <a:rPr lang="en" sz="900">
                <a:solidFill>
                  <a:srgbClr val="188038"/>
                </a:solidFill>
                <a:latin typeface="Archivo"/>
                <a:ea typeface="Archivo"/>
                <a:cs typeface="Archivo"/>
                <a:sym typeface="Archivo"/>
              </a:rPr>
              <a:t>architecture.pdf</a:t>
            </a:r>
            <a:r>
              <a:rPr lang="en" sz="900">
                <a:solidFill>
                  <a:schemeClr val="dk1"/>
                </a:solidFill>
                <a:latin typeface="Archivo"/>
                <a:ea typeface="Archivo"/>
                <a:cs typeface="Archivo"/>
                <a:sym typeface="Archivo"/>
              </a:rPr>
              <a:t> or </a:t>
            </a:r>
            <a:r>
              <a:rPr lang="en" sz="900">
                <a:solidFill>
                  <a:srgbClr val="188038"/>
                </a:solidFill>
                <a:latin typeface="Archivo"/>
                <a:ea typeface="Archivo"/>
                <a:cs typeface="Archivo"/>
                <a:sym typeface="Archivo"/>
              </a:rPr>
              <a:t>architecture.png</a:t>
            </a:r>
            <a:r>
              <a:rPr lang="en" sz="900">
                <a:solidFill>
                  <a:schemeClr val="dk1"/>
                </a:solidFill>
                <a:latin typeface="Archivo"/>
                <a:ea typeface="Archivo"/>
                <a:cs typeface="Archivo"/>
                <a:sym typeface="Archivo"/>
              </a:rPr>
              <a:t> - Your 1-page agent loop and tool design diagram.</a:t>
            </a:r>
            <a:endParaRPr sz="900">
              <a:solidFill>
                <a:schemeClr val="dk1"/>
              </a:solidFill>
              <a:latin typeface="Archivo"/>
              <a:ea typeface="Archivo"/>
              <a:cs typeface="Archivo"/>
              <a:sym typeface="Archivo"/>
            </a:endParaRPr>
          </a:p>
          <a:p>
            <a:pPr indent="-285750" lvl="0" marL="457200" rtl="0" algn="l">
              <a:lnSpc>
                <a:spcPct val="100000"/>
              </a:lnSpc>
              <a:spcBef>
                <a:spcPts val="400"/>
              </a:spcBef>
              <a:spcAft>
                <a:spcPts val="0"/>
              </a:spcAft>
              <a:buSzPts val="900"/>
              <a:buChar char="●"/>
            </a:pPr>
            <a:r>
              <a:rPr lang="en" sz="900">
                <a:solidFill>
                  <a:srgbClr val="188038"/>
                </a:solidFill>
                <a:latin typeface="Archivo"/>
                <a:ea typeface="Archivo"/>
                <a:cs typeface="Archivo"/>
                <a:sym typeface="Archivo"/>
              </a:rPr>
              <a:t>failure_modes.md</a:t>
            </a:r>
            <a:r>
              <a:rPr lang="en" sz="900">
                <a:solidFill>
                  <a:schemeClr val="dk1"/>
                </a:solidFill>
                <a:latin typeface="Archivo"/>
                <a:ea typeface="Archivo"/>
                <a:cs typeface="Archivo"/>
                <a:sym typeface="Archivo"/>
              </a:rPr>
              <a:t> -  At least 3 documented failure scenarios and how your system handles them.</a:t>
            </a:r>
            <a:endParaRPr sz="900">
              <a:solidFill>
                <a:srgbClr val="188038"/>
              </a:solidFill>
              <a:latin typeface="Archivo"/>
              <a:ea typeface="Archivo"/>
              <a:cs typeface="Archivo"/>
              <a:sym typeface="Archivo"/>
            </a:endParaRPr>
          </a:p>
          <a:p>
            <a:pPr indent="-285750" lvl="0" marL="457200" rtl="0" algn="l">
              <a:lnSpc>
                <a:spcPct val="100000"/>
              </a:lnSpc>
              <a:spcBef>
                <a:spcPts val="400"/>
              </a:spcBef>
              <a:spcAft>
                <a:spcPts val="0"/>
              </a:spcAft>
              <a:buSzPts val="900"/>
              <a:buChar char="●"/>
            </a:pPr>
            <a:r>
              <a:rPr lang="en" sz="900">
                <a:solidFill>
                  <a:srgbClr val="188038"/>
                </a:solidFill>
                <a:latin typeface="Archivo"/>
                <a:ea typeface="Archivo"/>
                <a:cs typeface="Archivo"/>
                <a:sym typeface="Archivo"/>
              </a:rPr>
              <a:t>audit_log.json</a:t>
            </a:r>
            <a:r>
              <a:rPr lang="en" sz="900">
                <a:solidFill>
                  <a:schemeClr val="dk1"/>
                </a:solidFill>
                <a:latin typeface="Archivo"/>
                <a:ea typeface="Archivo"/>
                <a:cs typeface="Archivo"/>
                <a:sym typeface="Archivo"/>
              </a:rPr>
              <a:t> or </a:t>
            </a:r>
            <a:r>
              <a:rPr lang="en" sz="900">
                <a:solidFill>
                  <a:srgbClr val="188038"/>
                </a:solidFill>
                <a:latin typeface="Archivo"/>
                <a:ea typeface="Archivo"/>
                <a:cs typeface="Archivo"/>
                <a:sym typeface="Archivo"/>
              </a:rPr>
              <a:t>audit_log.txt</a:t>
            </a:r>
            <a:r>
              <a:rPr lang="en" sz="900">
                <a:solidFill>
                  <a:schemeClr val="dk1"/>
                </a:solidFill>
                <a:latin typeface="Archivo"/>
                <a:ea typeface="Archivo"/>
                <a:cs typeface="Archivo"/>
                <a:sym typeface="Archivo"/>
              </a:rPr>
              <a:t> - Generated output from your demo run showing tool calls, reasoning, and decisions for all 20 tickets.</a:t>
            </a:r>
            <a:endParaRPr sz="900">
              <a:solidFill>
                <a:schemeClr val="dk1"/>
              </a:solidFill>
              <a:latin typeface="Archivo"/>
              <a:ea typeface="Archivo"/>
              <a:cs typeface="Archivo"/>
              <a:sym typeface="Archivo"/>
            </a:endParaRPr>
          </a:p>
          <a:p>
            <a:pPr indent="-285750" lvl="0" marL="457200" rtl="0" algn="l">
              <a:spcBef>
                <a:spcPts val="400"/>
              </a:spcBef>
              <a:spcAft>
                <a:spcPts val="0"/>
              </a:spcAft>
              <a:buClr>
                <a:schemeClr val="dk1"/>
              </a:buClr>
              <a:buSzPts val="900"/>
              <a:buFont typeface="Archivo"/>
              <a:buChar char="●"/>
            </a:pPr>
            <a:r>
              <a:rPr lang="en" sz="900">
                <a:solidFill>
                  <a:srgbClr val="188038"/>
                </a:solidFill>
                <a:latin typeface="Archivo"/>
                <a:ea typeface="Archivo"/>
                <a:cs typeface="Archivo"/>
                <a:sym typeface="Archivo"/>
              </a:rPr>
              <a:t>Recorded Demo</a:t>
            </a:r>
            <a:endParaRPr sz="900">
              <a:solidFill>
                <a:schemeClr val="dk1"/>
              </a:solidFill>
              <a:latin typeface="Archivo"/>
              <a:ea typeface="Archivo"/>
              <a:cs typeface="Archivo"/>
              <a:sym typeface="Archivo"/>
            </a:endParaRPr>
          </a:p>
          <a:p>
            <a:pPr indent="0" lvl="0" marL="0" marR="0" rtl="0" algn="l">
              <a:lnSpc>
                <a:spcPct val="100000"/>
              </a:lnSpc>
              <a:spcBef>
                <a:spcPts val="400"/>
              </a:spcBef>
              <a:spcAft>
                <a:spcPts val="400"/>
              </a:spcAft>
              <a:buClr>
                <a:srgbClr val="8B9DC3"/>
              </a:buClr>
              <a:buSzPts val="1050"/>
              <a:buFont typeface="Trebuchet MS"/>
              <a:buNone/>
            </a:pPr>
            <a:r>
              <a:t/>
            </a:r>
            <a:endParaRPr sz="900">
              <a:solidFill>
                <a:schemeClr val="dk2"/>
              </a:solidFill>
              <a:latin typeface="Archivo"/>
              <a:ea typeface="Archivo"/>
              <a:cs typeface="Archivo"/>
              <a:sym typeface="Archivo"/>
            </a:endParaRPr>
          </a:p>
        </p:txBody>
      </p:sp>
      <p:sp>
        <p:nvSpPr>
          <p:cNvPr id="365" name="Google Shape;365;p24"/>
          <p:cNvSpPr/>
          <p:nvPr/>
        </p:nvSpPr>
        <p:spPr>
          <a:xfrm>
            <a:off x="4733590" y="1316658"/>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lang="en" sz="1200">
                <a:solidFill>
                  <a:schemeClr val="dk1"/>
                </a:solidFill>
                <a:latin typeface="Archivo"/>
                <a:ea typeface="Archivo"/>
                <a:cs typeface="Archivo"/>
                <a:sym typeface="Archivo"/>
              </a:rPr>
              <a:t>Step 3 - Record or prepare your demo</a:t>
            </a:r>
            <a:endParaRPr b="1" i="0" sz="1200" u="none" cap="none" strike="noStrike">
              <a:solidFill>
                <a:schemeClr val="dk1"/>
              </a:solidFill>
              <a:latin typeface="Archivo"/>
              <a:ea typeface="Archivo"/>
              <a:cs typeface="Archivo"/>
              <a:sym typeface="Archivo"/>
            </a:endParaRPr>
          </a:p>
        </p:txBody>
      </p:sp>
      <p:pic>
        <p:nvPicPr>
          <p:cNvPr descr="preencoded.png" id="366" name="Google Shape;366;p24"/>
          <p:cNvPicPr preferRelativeResize="0"/>
          <p:nvPr/>
        </p:nvPicPr>
        <p:blipFill rotWithShape="1">
          <a:blip r:embed="rId4">
            <a:alphaModFix/>
          </a:blip>
          <a:srcRect b="0" l="0" r="0" t="0"/>
          <a:stretch/>
        </p:blipFill>
        <p:spPr>
          <a:xfrm>
            <a:off x="4733590" y="1540586"/>
            <a:ext cx="4069080" cy="18288"/>
          </a:xfrm>
          <a:prstGeom prst="rect">
            <a:avLst/>
          </a:prstGeom>
          <a:noFill/>
          <a:ln>
            <a:noFill/>
          </a:ln>
        </p:spPr>
      </p:pic>
      <p:sp>
        <p:nvSpPr>
          <p:cNvPr id="367" name="Google Shape;367;p24"/>
          <p:cNvSpPr/>
          <p:nvPr/>
        </p:nvSpPr>
        <p:spPr>
          <a:xfrm>
            <a:off x="4733590" y="1654986"/>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t/>
            </a:r>
            <a:endParaRPr i="0" sz="1200" u="none" cap="none" strike="noStrike">
              <a:solidFill>
                <a:schemeClr val="dk1"/>
              </a:solidFill>
              <a:latin typeface="Archivo Medium"/>
              <a:ea typeface="Archivo Medium"/>
              <a:cs typeface="Archivo Medium"/>
              <a:sym typeface="Archivo Medium"/>
            </a:endParaRPr>
          </a:p>
        </p:txBody>
      </p:sp>
      <p:sp>
        <p:nvSpPr>
          <p:cNvPr id="368" name="Google Shape;368;p24"/>
          <p:cNvSpPr/>
          <p:nvPr/>
        </p:nvSpPr>
        <p:spPr>
          <a:xfrm>
            <a:off x="4733550" y="1703821"/>
            <a:ext cx="4069200" cy="65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DC3"/>
              </a:buClr>
              <a:buSzPts val="1050"/>
              <a:buFont typeface="Trebuchet MS"/>
              <a:buNone/>
            </a:pPr>
            <a:r>
              <a:rPr lang="en" sz="900">
                <a:solidFill>
                  <a:schemeClr val="dk1"/>
                </a:solidFill>
                <a:latin typeface="Archivo"/>
                <a:ea typeface="Archivo"/>
                <a:cs typeface="Archivo"/>
                <a:sym typeface="Archivo"/>
              </a:rPr>
              <a:t>Run your agent against the provided data and either record a short screen recording (MP4, max 5 mins) or be ready to run it live during judging. Upload the recording to the repo.</a:t>
            </a:r>
            <a:endParaRPr i="0" sz="900" u="none" cap="none" strike="noStrike">
              <a:solidFill>
                <a:schemeClr val="dk1"/>
              </a:solidFill>
              <a:latin typeface="Archivo"/>
              <a:ea typeface="Archivo"/>
              <a:cs typeface="Archivo"/>
              <a:sym typeface="Archivo"/>
            </a:endParaRPr>
          </a:p>
        </p:txBody>
      </p:sp>
      <p:sp>
        <p:nvSpPr>
          <p:cNvPr id="369" name="Google Shape;369;p24"/>
          <p:cNvSpPr/>
          <p:nvPr/>
        </p:nvSpPr>
        <p:spPr>
          <a:xfrm>
            <a:off x="4733590" y="2405730"/>
            <a:ext cx="4069200" cy="11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4740390" y="2390231"/>
            <a:ext cx="406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900"/>
              <a:buFont typeface="Trebuchet MS"/>
              <a:buNone/>
            </a:pPr>
            <a:r>
              <a:rPr b="1" lang="en" sz="1200">
                <a:solidFill>
                  <a:schemeClr val="dk1"/>
                </a:solidFill>
                <a:latin typeface="Archivo"/>
                <a:ea typeface="Archivo"/>
                <a:cs typeface="Archivo"/>
                <a:sym typeface="Archivo"/>
              </a:rPr>
              <a:t>Step 4 - Check before you submit</a:t>
            </a:r>
            <a:endParaRPr b="1" i="0" sz="1200" u="none" cap="none" strike="noStrike">
              <a:solidFill>
                <a:schemeClr val="dk1"/>
              </a:solidFill>
              <a:latin typeface="Archivo"/>
              <a:ea typeface="Archivo"/>
              <a:cs typeface="Archivo"/>
              <a:sym typeface="Archivo"/>
            </a:endParaRPr>
          </a:p>
        </p:txBody>
      </p:sp>
      <p:pic>
        <p:nvPicPr>
          <p:cNvPr descr="preencoded.png" id="371" name="Google Shape;371;p24"/>
          <p:cNvPicPr preferRelativeResize="0"/>
          <p:nvPr/>
        </p:nvPicPr>
        <p:blipFill rotWithShape="1">
          <a:blip r:embed="rId4">
            <a:alphaModFix/>
          </a:blip>
          <a:srcRect b="0" l="0" r="0" t="0"/>
          <a:stretch/>
        </p:blipFill>
        <p:spPr>
          <a:xfrm>
            <a:off x="4740390" y="2614159"/>
            <a:ext cx="4069080" cy="18288"/>
          </a:xfrm>
          <a:prstGeom prst="rect">
            <a:avLst/>
          </a:prstGeom>
          <a:noFill/>
          <a:ln>
            <a:noFill/>
          </a:ln>
        </p:spPr>
      </p:pic>
      <p:sp>
        <p:nvSpPr>
          <p:cNvPr id="372" name="Google Shape;372;p24"/>
          <p:cNvSpPr/>
          <p:nvPr/>
        </p:nvSpPr>
        <p:spPr>
          <a:xfrm>
            <a:off x="4740390" y="2533174"/>
            <a:ext cx="4069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t/>
            </a:r>
            <a:endParaRPr i="0" sz="1200" u="none" cap="none" strike="noStrike">
              <a:solidFill>
                <a:schemeClr val="dk1"/>
              </a:solidFill>
              <a:latin typeface="Archivo Medium"/>
              <a:ea typeface="Archivo Medium"/>
              <a:cs typeface="Archivo Medium"/>
              <a:sym typeface="Archivo Medium"/>
            </a:endParaRPr>
          </a:p>
        </p:txBody>
      </p:sp>
      <p:sp>
        <p:nvSpPr>
          <p:cNvPr id="373" name="Google Shape;373;p24"/>
          <p:cNvSpPr/>
          <p:nvPr/>
        </p:nvSpPr>
        <p:spPr>
          <a:xfrm>
            <a:off x="4733550" y="2775099"/>
            <a:ext cx="4069200" cy="658500"/>
          </a:xfrm>
          <a:prstGeom prst="rect">
            <a:avLst/>
          </a:prstGeom>
          <a:noFill/>
          <a:ln>
            <a:noFill/>
          </a:ln>
        </p:spPr>
        <p:txBody>
          <a:bodyPr anchorCtr="0" anchor="t" bIns="0" lIns="0" spcFirstLastPara="1" rIns="0" wrap="square" tIns="0">
            <a:noAutofit/>
          </a:bodyPr>
          <a:lstStyle/>
          <a:p>
            <a:pPr indent="-285750" lvl="0" marL="457200" rtl="0" algn="l">
              <a:lnSpc>
                <a:spcPct val="100000"/>
              </a:lnSpc>
              <a:spcBef>
                <a:spcPts val="0"/>
              </a:spcBef>
              <a:spcAft>
                <a:spcPts val="0"/>
              </a:spcAft>
              <a:buClr>
                <a:schemeClr val="dk1"/>
              </a:buClr>
              <a:buSzPts val="900"/>
              <a:buChar char="●"/>
            </a:pPr>
            <a:r>
              <a:rPr lang="en" sz="900">
                <a:solidFill>
                  <a:schemeClr val="dk1"/>
                </a:solidFill>
                <a:latin typeface="Archivo"/>
                <a:ea typeface="Archivo"/>
                <a:cs typeface="Archivo"/>
                <a:sym typeface="Archivo"/>
              </a:rPr>
              <a:t>No hardcoded API keys or secrets anywhere in the repo</a:t>
            </a:r>
            <a:br>
              <a:rPr lang="en" sz="900">
                <a:solidFill>
                  <a:schemeClr val="dk1"/>
                </a:solidFill>
                <a:latin typeface="Archivo"/>
                <a:ea typeface="Archivo"/>
                <a:cs typeface="Archivo"/>
                <a:sym typeface="Archivo"/>
              </a:rPr>
            </a:br>
            <a:r>
              <a:rPr lang="en" sz="900">
                <a:solidFill>
                  <a:schemeClr val="dk1"/>
                </a:solidFill>
                <a:latin typeface="Archivo"/>
                <a:ea typeface="Archivo"/>
                <a:cs typeface="Archivo"/>
                <a:sym typeface="Archivo"/>
              </a:rPr>
              <a:t>Your agent runs with a single command (document it in the README)</a:t>
            </a:r>
            <a:endParaRPr sz="900">
              <a:solidFill>
                <a:schemeClr val="dk1"/>
              </a:solidFill>
              <a:latin typeface="Archivo"/>
              <a:ea typeface="Archivo"/>
              <a:cs typeface="Archivo"/>
              <a:sym typeface="Archivo"/>
            </a:endParaRPr>
          </a:p>
          <a:p>
            <a:pPr indent="-285750" lvl="0" marL="457200" rtl="0" algn="l">
              <a:lnSpc>
                <a:spcPct val="100000"/>
              </a:lnSpc>
              <a:spcBef>
                <a:spcPts val="200"/>
              </a:spcBef>
              <a:spcAft>
                <a:spcPts val="0"/>
              </a:spcAft>
              <a:buClr>
                <a:schemeClr val="dk1"/>
              </a:buClr>
              <a:buSzPts val="900"/>
              <a:buChar char="●"/>
            </a:pPr>
            <a:r>
              <a:rPr lang="en" sz="900">
                <a:solidFill>
                  <a:schemeClr val="dk1"/>
                </a:solidFill>
                <a:latin typeface="Archivo"/>
                <a:ea typeface="Archivo"/>
                <a:cs typeface="Archivo"/>
                <a:sym typeface="Archivo"/>
              </a:rPr>
              <a:t>All 5 deliverables are present and named correctly</a:t>
            </a:r>
            <a:endParaRPr sz="900">
              <a:solidFill>
                <a:schemeClr val="dk1"/>
              </a:solidFill>
              <a:latin typeface="Archivo"/>
              <a:ea typeface="Archivo"/>
              <a:cs typeface="Archivo"/>
              <a:sym typeface="Archivo"/>
            </a:endParaRPr>
          </a:p>
          <a:p>
            <a:pPr indent="-285750" lvl="0" marL="457200" rtl="0" algn="l">
              <a:lnSpc>
                <a:spcPct val="100000"/>
              </a:lnSpc>
              <a:spcBef>
                <a:spcPts val="200"/>
              </a:spcBef>
              <a:spcAft>
                <a:spcPts val="200"/>
              </a:spcAft>
              <a:buClr>
                <a:schemeClr val="dk1"/>
              </a:buClr>
              <a:buSzPts val="900"/>
              <a:buChar char="●"/>
            </a:pPr>
            <a:r>
              <a:rPr lang="en" sz="900">
                <a:solidFill>
                  <a:schemeClr val="dk1"/>
                </a:solidFill>
                <a:latin typeface="Archivo"/>
                <a:ea typeface="Archivo"/>
                <a:cs typeface="Archivo"/>
                <a:sym typeface="Archivo"/>
              </a:rPr>
              <a:t>Your audit log covers all 20 tickets</a:t>
            </a:r>
            <a:endParaRPr sz="900">
              <a:solidFill>
                <a:schemeClr val="dk2"/>
              </a:solidFill>
              <a:latin typeface="Archivo"/>
              <a:ea typeface="Archivo"/>
              <a:cs typeface="Archivo"/>
              <a:sym typeface="Archivo"/>
            </a:endParaRPr>
          </a:p>
        </p:txBody>
      </p:sp>
      <p:sp>
        <p:nvSpPr>
          <p:cNvPr id="374" name="Google Shape;374;p24"/>
          <p:cNvSpPr/>
          <p:nvPr/>
        </p:nvSpPr>
        <p:spPr>
          <a:xfrm>
            <a:off x="4740390" y="2608933"/>
            <a:ext cx="4069200" cy="11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4"/>
          <p:cNvSpPr/>
          <p:nvPr/>
        </p:nvSpPr>
        <p:spPr>
          <a:xfrm>
            <a:off x="4747240" y="3601942"/>
            <a:ext cx="4069200" cy="21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Archivo"/>
                <a:ea typeface="Archivo"/>
                <a:cs typeface="Archivo"/>
                <a:sym typeface="Archivo"/>
              </a:rPr>
              <a:t>Step 5 - Submit the form</a:t>
            </a:r>
            <a:endParaRPr b="1" sz="1200">
              <a:solidFill>
                <a:schemeClr val="dk1"/>
              </a:solidFill>
              <a:latin typeface="Archivo"/>
              <a:ea typeface="Archivo"/>
              <a:cs typeface="Archivo"/>
              <a:sym typeface="Archivo"/>
            </a:endParaRPr>
          </a:p>
        </p:txBody>
      </p:sp>
      <p:pic>
        <p:nvPicPr>
          <p:cNvPr descr="preencoded.png" id="376" name="Google Shape;376;p24"/>
          <p:cNvPicPr preferRelativeResize="0"/>
          <p:nvPr/>
        </p:nvPicPr>
        <p:blipFill rotWithShape="1">
          <a:blip r:embed="rId4">
            <a:alphaModFix/>
          </a:blip>
          <a:srcRect b="0" l="0" r="0" t="0"/>
          <a:stretch/>
        </p:blipFill>
        <p:spPr>
          <a:xfrm>
            <a:off x="4747240" y="3825869"/>
            <a:ext cx="4069080" cy="18288"/>
          </a:xfrm>
          <a:prstGeom prst="rect">
            <a:avLst/>
          </a:prstGeom>
          <a:noFill/>
          <a:ln>
            <a:noFill/>
          </a:ln>
        </p:spPr>
      </p:pic>
      <p:sp>
        <p:nvSpPr>
          <p:cNvPr id="377" name="Google Shape;377;p24"/>
          <p:cNvSpPr/>
          <p:nvPr/>
        </p:nvSpPr>
        <p:spPr>
          <a:xfrm>
            <a:off x="4740400" y="4019396"/>
            <a:ext cx="4304100" cy="92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900">
                <a:solidFill>
                  <a:schemeClr val="dk1"/>
                </a:solidFill>
                <a:latin typeface="Archivo"/>
                <a:ea typeface="Archivo"/>
                <a:cs typeface="Archivo"/>
                <a:sym typeface="Archivo"/>
              </a:rPr>
              <a:t>Fill out the submission form at </a:t>
            </a:r>
            <a:r>
              <a:rPr b="1" lang="en" sz="900" u="sng">
                <a:solidFill>
                  <a:schemeClr val="hlink"/>
                </a:solidFill>
                <a:latin typeface="Archivo"/>
                <a:ea typeface="Archivo"/>
                <a:cs typeface="Archivo"/>
                <a:sym typeface="Archivo"/>
                <a:hlinkClick r:id="rId6"/>
              </a:rPr>
              <a:t>[https://forms.gle/dXkrnQr7vDkxraqZ7]</a:t>
            </a:r>
            <a:r>
              <a:rPr lang="en" sz="900">
                <a:solidFill>
                  <a:schemeClr val="dk1"/>
                </a:solidFill>
                <a:latin typeface="Archivo"/>
                <a:ea typeface="Archivo"/>
                <a:cs typeface="Archivo"/>
                <a:sym typeface="Archivo"/>
              </a:rPr>
              <a:t> with:</a:t>
            </a:r>
            <a:endParaRPr sz="900">
              <a:solidFill>
                <a:schemeClr val="dk1"/>
              </a:solidFill>
              <a:latin typeface="Archivo"/>
              <a:ea typeface="Archivo"/>
              <a:cs typeface="Archivo"/>
              <a:sym typeface="Archivo"/>
            </a:endParaRPr>
          </a:p>
          <a:p>
            <a:pPr indent="0" lvl="0" marL="0" rtl="0" algn="l">
              <a:spcBef>
                <a:spcPts val="0"/>
              </a:spcBef>
              <a:spcAft>
                <a:spcPts val="0"/>
              </a:spcAft>
              <a:buNone/>
            </a:pPr>
            <a:r>
              <a:t/>
            </a:r>
            <a:endParaRPr sz="900">
              <a:solidFill>
                <a:schemeClr val="dk1"/>
              </a:solidFill>
              <a:latin typeface="Archivo"/>
              <a:ea typeface="Archivo"/>
              <a:cs typeface="Archivo"/>
              <a:sym typeface="Archivo"/>
            </a:endParaRPr>
          </a:p>
          <a:p>
            <a:pPr indent="-285750" lvl="0" marL="457200" rtl="0" algn="l">
              <a:lnSpc>
                <a:spcPct val="100000"/>
              </a:lnSpc>
              <a:spcBef>
                <a:spcPts val="200"/>
              </a:spcBef>
              <a:spcAft>
                <a:spcPts val="0"/>
              </a:spcAft>
              <a:buClr>
                <a:schemeClr val="dk1"/>
              </a:buClr>
              <a:buSzPts val="900"/>
              <a:buFont typeface="Archivo"/>
              <a:buChar char="●"/>
            </a:pPr>
            <a:r>
              <a:rPr lang="en" sz="900">
                <a:solidFill>
                  <a:schemeClr val="dk1"/>
                </a:solidFill>
                <a:latin typeface="Archivo"/>
                <a:ea typeface="Archivo"/>
                <a:cs typeface="Archivo"/>
                <a:sym typeface="Archivo"/>
              </a:rPr>
              <a:t>Your name</a:t>
            </a:r>
            <a:endParaRPr sz="900">
              <a:solidFill>
                <a:schemeClr val="dk1"/>
              </a:solidFill>
              <a:latin typeface="Archivo"/>
              <a:ea typeface="Archivo"/>
              <a:cs typeface="Archivo"/>
              <a:sym typeface="Archivo"/>
            </a:endParaRPr>
          </a:p>
          <a:p>
            <a:pPr indent="-285750" lvl="0" marL="457200" rtl="0" algn="l">
              <a:lnSpc>
                <a:spcPct val="100000"/>
              </a:lnSpc>
              <a:spcBef>
                <a:spcPts val="200"/>
              </a:spcBef>
              <a:spcAft>
                <a:spcPts val="0"/>
              </a:spcAft>
              <a:buClr>
                <a:schemeClr val="dk1"/>
              </a:buClr>
              <a:buSzPts val="900"/>
              <a:buFont typeface="Archivo"/>
              <a:buChar char="●"/>
            </a:pPr>
            <a:r>
              <a:rPr lang="en" sz="900">
                <a:solidFill>
                  <a:schemeClr val="dk1"/>
                </a:solidFill>
                <a:latin typeface="Archivo"/>
                <a:ea typeface="Archivo"/>
                <a:cs typeface="Archivo"/>
                <a:sym typeface="Archivo"/>
              </a:rPr>
              <a:t>GitHub repo link</a:t>
            </a:r>
            <a:endParaRPr sz="900">
              <a:solidFill>
                <a:schemeClr val="dk1"/>
              </a:solidFill>
              <a:latin typeface="Archivo"/>
              <a:ea typeface="Archivo"/>
              <a:cs typeface="Archivo"/>
              <a:sym typeface="Archivo"/>
            </a:endParaRPr>
          </a:p>
          <a:p>
            <a:pPr indent="-285750" lvl="0" marL="457200" rtl="0" algn="l">
              <a:lnSpc>
                <a:spcPct val="100000"/>
              </a:lnSpc>
              <a:spcBef>
                <a:spcPts val="200"/>
              </a:spcBef>
              <a:spcAft>
                <a:spcPts val="0"/>
              </a:spcAft>
              <a:buClr>
                <a:schemeClr val="dk1"/>
              </a:buClr>
              <a:buSzPts val="900"/>
              <a:buFont typeface="Archivo"/>
              <a:buChar char="●"/>
            </a:pPr>
            <a:r>
              <a:rPr lang="en" sz="900">
                <a:solidFill>
                  <a:schemeClr val="dk1"/>
                </a:solidFill>
                <a:latin typeface="Archivo"/>
                <a:ea typeface="Archivo"/>
                <a:cs typeface="Archivo"/>
                <a:sym typeface="Archivo"/>
              </a:rPr>
              <a:t>One line on the biggest challenge you faced</a:t>
            </a:r>
            <a:endParaRPr sz="900">
              <a:solidFill>
                <a:schemeClr val="dk1"/>
              </a:solidFill>
              <a:latin typeface="Archivo"/>
              <a:ea typeface="Archivo"/>
              <a:cs typeface="Archivo"/>
              <a:sym typeface="Archivo"/>
            </a:endParaRPr>
          </a:p>
        </p:txBody>
      </p:sp>
      <p:pic>
        <p:nvPicPr>
          <p:cNvPr id="378" name="Google Shape;378;p24" title="Group 1321315272.png"/>
          <p:cNvPicPr preferRelativeResize="0"/>
          <p:nvPr/>
        </p:nvPicPr>
        <p:blipFill>
          <a:blip r:embed="rId7">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pic>
        <p:nvPicPr>
          <p:cNvPr id="384" name="Google Shape;384;p25"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385" name="Google Shape;385;p25"/>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JUDGING</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100 </a:t>
            </a:r>
            <a:r>
              <a:rPr b="1" lang="en" sz="2100">
                <a:solidFill>
                  <a:schemeClr val="dk1"/>
                </a:solidFill>
                <a:latin typeface="Archivo"/>
                <a:ea typeface="Archivo"/>
                <a:cs typeface="Archivo"/>
                <a:sym typeface="Archivo"/>
              </a:rPr>
              <a:t>P</a:t>
            </a:r>
            <a:r>
              <a:rPr b="1" i="0" lang="en" sz="2100" u="none" cap="none" strike="noStrike">
                <a:solidFill>
                  <a:schemeClr val="dk1"/>
                </a:solidFill>
                <a:latin typeface="Archivo"/>
                <a:ea typeface="Archivo"/>
                <a:cs typeface="Archivo"/>
                <a:sym typeface="Archivo"/>
              </a:rPr>
              <a:t>oints </a:t>
            </a:r>
            <a:r>
              <a:rPr b="1" lang="en" sz="2100">
                <a:solidFill>
                  <a:schemeClr val="dk1"/>
                </a:solidFill>
                <a:latin typeface="Archivo"/>
                <a:ea typeface="Archivo"/>
                <a:cs typeface="Archivo"/>
                <a:sym typeface="Archivo"/>
              </a:rPr>
              <a:t>T</a:t>
            </a:r>
            <a:r>
              <a:rPr b="1" i="0" lang="en" sz="2100" u="none" cap="none" strike="noStrike">
                <a:solidFill>
                  <a:schemeClr val="dk1"/>
                </a:solidFill>
                <a:latin typeface="Archivo"/>
                <a:ea typeface="Archivo"/>
                <a:cs typeface="Archivo"/>
                <a:sym typeface="Archivo"/>
              </a:rPr>
              <a:t>otal</a:t>
            </a:r>
            <a:endParaRPr i="0" sz="900" u="none" cap="none" strike="noStrike">
              <a:solidFill>
                <a:schemeClr val="dk1"/>
              </a:solidFill>
              <a:latin typeface="Archivo"/>
              <a:ea typeface="Archivo"/>
              <a:cs typeface="Archivo"/>
              <a:sym typeface="Archivo"/>
            </a:endParaRPr>
          </a:p>
        </p:txBody>
      </p:sp>
      <p:sp>
        <p:nvSpPr>
          <p:cNvPr id="386" name="Google Shape;386;p25"/>
          <p:cNvSpPr/>
          <p:nvPr/>
        </p:nvSpPr>
        <p:spPr>
          <a:xfrm>
            <a:off x="548650" y="1526834"/>
            <a:ext cx="315300" cy="315300"/>
          </a:xfrm>
          <a:prstGeom prst="ellipse">
            <a:avLst/>
          </a:prstGeom>
          <a:solidFill>
            <a:srgbClr val="1565C0"/>
          </a:solidFill>
          <a:ln cap="flat" cmpd="sng" w="11525">
            <a:solidFill>
              <a:srgbClr val="1565C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387" name="Google Shape;387;p25"/>
          <p:cNvPicPr preferRelativeResize="0"/>
          <p:nvPr/>
        </p:nvPicPr>
        <p:blipFill rotWithShape="1">
          <a:blip r:embed="rId4">
            <a:alphaModFix/>
          </a:blip>
          <a:srcRect b="0" l="0" r="0" t="0"/>
          <a:stretch/>
        </p:blipFill>
        <p:spPr>
          <a:xfrm>
            <a:off x="606700" y="1584884"/>
            <a:ext cx="199028" cy="199028"/>
          </a:xfrm>
          <a:prstGeom prst="rect">
            <a:avLst/>
          </a:prstGeom>
          <a:noFill/>
          <a:ln>
            <a:noFill/>
          </a:ln>
        </p:spPr>
      </p:pic>
      <p:sp>
        <p:nvSpPr>
          <p:cNvPr id="388" name="Google Shape;388;p25"/>
          <p:cNvSpPr/>
          <p:nvPr/>
        </p:nvSpPr>
        <p:spPr>
          <a:xfrm>
            <a:off x="988172" y="1493662"/>
            <a:ext cx="447600" cy="39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2358"/>
              <a:buFont typeface="Trebuchet MS"/>
              <a:buNone/>
            </a:pPr>
            <a:r>
              <a:rPr b="1" lang="en" sz="2358">
                <a:solidFill>
                  <a:srgbClr val="1565C0"/>
                </a:solidFill>
                <a:latin typeface="Archivo"/>
                <a:ea typeface="Archivo"/>
                <a:cs typeface="Archivo"/>
                <a:sym typeface="Archivo"/>
              </a:rPr>
              <a:t>30</a:t>
            </a:r>
            <a:endParaRPr i="0" sz="2358" u="none" cap="none" strike="noStrike">
              <a:solidFill>
                <a:schemeClr val="dk1"/>
              </a:solidFill>
              <a:latin typeface="Archivo"/>
              <a:ea typeface="Archivo"/>
              <a:cs typeface="Archivo"/>
              <a:sym typeface="Archivo"/>
            </a:endParaRPr>
          </a:p>
        </p:txBody>
      </p:sp>
      <p:sp>
        <p:nvSpPr>
          <p:cNvPr id="389" name="Google Shape;389;p25"/>
          <p:cNvSpPr/>
          <p:nvPr/>
        </p:nvSpPr>
        <p:spPr>
          <a:xfrm>
            <a:off x="988172" y="1875136"/>
            <a:ext cx="44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816"/>
              <a:buFont typeface="Trebuchet MS"/>
              <a:buNone/>
            </a:pPr>
            <a:r>
              <a:rPr i="0" lang="en" sz="816" u="none" cap="none" strike="noStrike">
                <a:solidFill>
                  <a:srgbClr val="1565C0"/>
                </a:solidFill>
                <a:latin typeface="Archivo"/>
                <a:ea typeface="Archivo"/>
                <a:cs typeface="Archivo"/>
                <a:sym typeface="Archivo"/>
              </a:rPr>
              <a:t>pts</a:t>
            </a:r>
            <a:endParaRPr i="0" sz="816" u="none" cap="none" strike="noStrike">
              <a:solidFill>
                <a:schemeClr val="dk1"/>
              </a:solidFill>
              <a:latin typeface="Archivo"/>
              <a:ea typeface="Archivo"/>
              <a:cs typeface="Archivo"/>
              <a:sym typeface="Archivo"/>
            </a:endParaRPr>
          </a:p>
        </p:txBody>
      </p:sp>
      <p:pic>
        <p:nvPicPr>
          <p:cNvPr descr="preencoded.png" id="390" name="Google Shape;390;p25"/>
          <p:cNvPicPr preferRelativeResize="0"/>
          <p:nvPr/>
        </p:nvPicPr>
        <p:blipFill rotWithShape="1">
          <a:blip r:embed="rId5">
            <a:alphaModFix/>
          </a:blip>
          <a:srcRect b="0" l="0" r="0" t="0"/>
          <a:stretch/>
        </p:blipFill>
        <p:spPr>
          <a:xfrm>
            <a:off x="1502330" y="1560005"/>
            <a:ext cx="24878" cy="398059"/>
          </a:xfrm>
          <a:prstGeom prst="rect">
            <a:avLst/>
          </a:prstGeom>
          <a:noFill/>
          <a:ln>
            <a:noFill/>
          </a:ln>
        </p:spPr>
      </p:pic>
      <p:sp>
        <p:nvSpPr>
          <p:cNvPr id="391" name="Google Shape;391;p25"/>
          <p:cNvSpPr/>
          <p:nvPr/>
        </p:nvSpPr>
        <p:spPr>
          <a:xfrm>
            <a:off x="1626723" y="1526834"/>
            <a:ext cx="43122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79"/>
              <a:buFont typeface="Trebuchet MS"/>
              <a:buNone/>
            </a:pPr>
            <a:r>
              <a:rPr b="1" i="0" lang="en" sz="1200" u="none" cap="none" strike="noStrike">
                <a:solidFill>
                  <a:srgbClr val="1A1033"/>
                </a:solidFill>
                <a:latin typeface="Archivo"/>
                <a:ea typeface="Archivo"/>
                <a:cs typeface="Archivo"/>
                <a:sym typeface="Archivo"/>
              </a:rPr>
              <a:t>Production </a:t>
            </a:r>
            <a:r>
              <a:rPr b="1" lang="en" sz="1200">
                <a:solidFill>
                  <a:srgbClr val="1A1033"/>
                </a:solidFill>
                <a:latin typeface="Archivo"/>
                <a:ea typeface="Archivo"/>
                <a:cs typeface="Archivo"/>
                <a:sym typeface="Archivo"/>
              </a:rPr>
              <a:t>R</a:t>
            </a:r>
            <a:r>
              <a:rPr b="1" i="0" lang="en" sz="1200" u="none" cap="none" strike="noStrike">
                <a:solidFill>
                  <a:srgbClr val="1A1033"/>
                </a:solidFill>
                <a:latin typeface="Archivo"/>
                <a:ea typeface="Archivo"/>
                <a:cs typeface="Archivo"/>
                <a:sym typeface="Archivo"/>
              </a:rPr>
              <a:t>eadiness</a:t>
            </a:r>
            <a:endParaRPr i="0" sz="1200" u="none" cap="none" strike="noStrike">
              <a:solidFill>
                <a:schemeClr val="dk1"/>
              </a:solidFill>
              <a:latin typeface="Archivo"/>
              <a:ea typeface="Archivo"/>
              <a:cs typeface="Archivo"/>
              <a:sym typeface="Archivo"/>
            </a:endParaRPr>
          </a:p>
        </p:txBody>
      </p:sp>
      <p:sp>
        <p:nvSpPr>
          <p:cNvPr id="392" name="Google Shape;392;p25"/>
          <p:cNvSpPr/>
          <p:nvPr/>
        </p:nvSpPr>
        <p:spPr>
          <a:xfrm>
            <a:off x="1626723" y="1775621"/>
            <a:ext cx="4312200" cy="19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52"/>
              <a:buFont typeface="Trebuchet MS"/>
              <a:buNone/>
            </a:pPr>
            <a:r>
              <a:rPr i="0" lang="en" sz="1000" u="none" cap="none" strike="noStrike">
                <a:solidFill>
                  <a:srgbClr val="4A3F6B"/>
                </a:solidFill>
                <a:latin typeface="Archivo"/>
                <a:ea typeface="Archivo"/>
                <a:cs typeface="Archivo"/>
                <a:sym typeface="Archivo"/>
              </a:rPr>
              <a:t>Modularity, error handling, logging, security</a:t>
            </a:r>
            <a:endParaRPr i="0" sz="1000" u="none" cap="none" strike="noStrike">
              <a:solidFill>
                <a:schemeClr val="dk1"/>
              </a:solidFill>
              <a:latin typeface="Archivo"/>
              <a:ea typeface="Archivo"/>
              <a:cs typeface="Archivo"/>
              <a:sym typeface="Archivo"/>
            </a:endParaRPr>
          </a:p>
        </p:txBody>
      </p:sp>
      <p:sp>
        <p:nvSpPr>
          <p:cNvPr id="393" name="Google Shape;393;p25"/>
          <p:cNvSpPr/>
          <p:nvPr/>
        </p:nvSpPr>
        <p:spPr>
          <a:xfrm>
            <a:off x="6104871" y="1634642"/>
            <a:ext cx="2156100" cy="1161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394" name="Google Shape;394;p25"/>
          <p:cNvPicPr preferRelativeResize="0"/>
          <p:nvPr/>
        </p:nvPicPr>
        <p:blipFill rotWithShape="1">
          <a:blip r:embed="rId5">
            <a:alphaModFix/>
          </a:blip>
          <a:srcRect b="0" l="0" r="0" t="0"/>
          <a:stretch/>
        </p:blipFill>
        <p:spPr>
          <a:xfrm>
            <a:off x="6104871" y="1634642"/>
            <a:ext cx="2156146" cy="116101"/>
          </a:xfrm>
          <a:prstGeom prst="rect">
            <a:avLst/>
          </a:prstGeom>
          <a:noFill/>
          <a:ln>
            <a:noFill/>
          </a:ln>
        </p:spPr>
      </p:pic>
      <p:sp>
        <p:nvSpPr>
          <p:cNvPr id="395" name="Google Shape;395;p25"/>
          <p:cNvSpPr/>
          <p:nvPr/>
        </p:nvSpPr>
        <p:spPr>
          <a:xfrm>
            <a:off x="6104871" y="1775621"/>
            <a:ext cx="2156100" cy="16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565C0"/>
              </a:buClr>
              <a:buSzPts val="816"/>
              <a:buFont typeface="Trebuchet MS"/>
              <a:buNone/>
            </a:pPr>
            <a:r>
              <a:rPr i="0" lang="en" sz="816" u="none" cap="none" strike="noStrike">
                <a:solidFill>
                  <a:srgbClr val="1565C0"/>
                </a:solidFill>
                <a:latin typeface="Archivo"/>
                <a:ea typeface="Archivo"/>
                <a:cs typeface="Archivo"/>
                <a:sym typeface="Archivo"/>
              </a:rPr>
              <a:t>30%</a:t>
            </a:r>
            <a:endParaRPr i="0" sz="816" u="none" cap="none" strike="noStrike">
              <a:solidFill>
                <a:schemeClr val="dk1"/>
              </a:solidFill>
              <a:latin typeface="Archivo"/>
              <a:ea typeface="Archivo"/>
              <a:cs typeface="Archivo"/>
              <a:sym typeface="Archivo"/>
            </a:endParaRPr>
          </a:p>
        </p:txBody>
      </p:sp>
      <p:sp>
        <p:nvSpPr>
          <p:cNvPr id="396" name="Google Shape;396;p25"/>
          <p:cNvSpPr/>
          <p:nvPr/>
        </p:nvSpPr>
        <p:spPr>
          <a:xfrm>
            <a:off x="548650" y="2057580"/>
            <a:ext cx="7712400" cy="102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397" name="Google Shape;397;p25"/>
          <p:cNvSpPr/>
          <p:nvPr/>
        </p:nvSpPr>
        <p:spPr>
          <a:xfrm>
            <a:off x="548650" y="2206852"/>
            <a:ext cx="315300" cy="315300"/>
          </a:xfrm>
          <a:prstGeom prst="ellipse">
            <a:avLst/>
          </a:prstGeom>
          <a:solidFill>
            <a:srgbClr val="E91E8C"/>
          </a:solidFill>
          <a:ln cap="flat" cmpd="sng" w="11525">
            <a:solidFill>
              <a:srgbClr val="E91E8C"/>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398" name="Google Shape;398;p25"/>
          <p:cNvPicPr preferRelativeResize="0"/>
          <p:nvPr/>
        </p:nvPicPr>
        <p:blipFill rotWithShape="1">
          <a:blip r:embed="rId6">
            <a:alphaModFix/>
          </a:blip>
          <a:srcRect b="0" l="0" r="0" t="0"/>
          <a:stretch/>
        </p:blipFill>
        <p:spPr>
          <a:xfrm>
            <a:off x="606700" y="2264902"/>
            <a:ext cx="199028" cy="199028"/>
          </a:xfrm>
          <a:prstGeom prst="rect">
            <a:avLst/>
          </a:prstGeom>
          <a:noFill/>
          <a:ln>
            <a:noFill/>
          </a:ln>
        </p:spPr>
      </p:pic>
      <p:sp>
        <p:nvSpPr>
          <p:cNvPr id="399" name="Google Shape;399;p25"/>
          <p:cNvSpPr/>
          <p:nvPr/>
        </p:nvSpPr>
        <p:spPr>
          <a:xfrm>
            <a:off x="988172" y="2173680"/>
            <a:ext cx="447600" cy="39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2358"/>
              <a:buFont typeface="Trebuchet MS"/>
              <a:buNone/>
            </a:pPr>
            <a:r>
              <a:rPr b="1" lang="en" sz="2358">
                <a:solidFill>
                  <a:srgbClr val="E91E8C"/>
                </a:solidFill>
                <a:latin typeface="Archivo"/>
                <a:ea typeface="Archivo"/>
                <a:cs typeface="Archivo"/>
                <a:sym typeface="Archivo"/>
              </a:rPr>
              <a:t>10</a:t>
            </a:r>
            <a:endParaRPr i="0" sz="2358" u="none" cap="none" strike="noStrike">
              <a:solidFill>
                <a:schemeClr val="dk1"/>
              </a:solidFill>
              <a:latin typeface="Archivo"/>
              <a:ea typeface="Archivo"/>
              <a:cs typeface="Archivo"/>
              <a:sym typeface="Archivo"/>
            </a:endParaRPr>
          </a:p>
        </p:txBody>
      </p:sp>
      <p:sp>
        <p:nvSpPr>
          <p:cNvPr id="400" name="Google Shape;400;p25"/>
          <p:cNvSpPr/>
          <p:nvPr/>
        </p:nvSpPr>
        <p:spPr>
          <a:xfrm>
            <a:off x="988172" y="2555154"/>
            <a:ext cx="44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8C"/>
              </a:buClr>
              <a:buSzPts val="816"/>
              <a:buFont typeface="Trebuchet MS"/>
              <a:buNone/>
            </a:pPr>
            <a:r>
              <a:rPr i="0" lang="en" sz="816" u="none" cap="none" strike="noStrike">
                <a:solidFill>
                  <a:srgbClr val="E91E8C"/>
                </a:solidFill>
                <a:latin typeface="Archivo"/>
                <a:ea typeface="Archivo"/>
                <a:cs typeface="Archivo"/>
                <a:sym typeface="Archivo"/>
              </a:rPr>
              <a:t>pts</a:t>
            </a:r>
            <a:endParaRPr i="0" sz="816" u="none" cap="none" strike="noStrike">
              <a:solidFill>
                <a:schemeClr val="dk1"/>
              </a:solidFill>
              <a:latin typeface="Archivo"/>
              <a:ea typeface="Archivo"/>
              <a:cs typeface="Archivo"/>
              <a:sym typeface="Archivo"/>
            </a:endParaRPr>
          </a:p>
        </p:txBody>
      </p:sp>
      <p:pic>
        <p:nvPicPr>
          <p:cNvPr descr="preencoded.png" id="401" name="Google Shape;401;p25"/>
          <p:cNvPicPr preferRelativeResize="0"/>
          <p:nvPr/>
        </p:nvPicPr>
        <p:blipFill rotWithShape="1">
          <a:blip r:embed="rId5">
            <a:alphaModFix/>
          </a:blip>
          <a:srcRect b="0" l="0" r="0" t="0"/>
          <a:stretch/>
        </p:blipFill>
        <p:spPr>
          <a:xfrm>
            <a:off x="1502330" y="2240024"/>
            <a:ext cx="24878" cy="398059"/>
          </a:xfrm>
          <a:prstGeom prst="rect">
            <a:avLst/>
          </a:prstGeom>
          <a:noFill/>
          <a:ln>
            <a:noFill/>
          </a:ln>
        </p:spPr>
      </p:pic>
      <p:sp>
        <p:nvSpPr>
          <p:cNvPr id="402" name="Google Shape;402;p25"/>
          <p:cNvSpPr/>
          <p:nvPr/>
        </p:nvSpPr>
        <p:spPr>
          <a:xfrm>
            <a:off x="1626723" y="2206852"/>
            <a:ext cx="43122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79"/>
              <a:buFont typeface="Trebuchet MS"/>
              <a:buNone/>
            </a:pPr>
            <a:r>
              <a:rPr b="1" i="0" lang="en" sz="1200" u="none" cap="none" strike="noStrike">
                <a:solidFill>
                  <a:srgbClr val="1A1033"/>
                </a:solidFill>
                <a:latin typeface="Archivo"/>
                <a:ea typeface="Archivo"/>
                <a:cs typeface="Archivo"/>
                <a:sym typeface="Archivo"/>
              </a:rPr>
              <a:t>Agentic </a:t>
            </a:r>
            <a:r>
              <a:rPr b="1" lang="en" sz="1200">
                <a:solidFill>
                  <a:srgbClr val="1A1033"/>
                </a:solidFill>
                <a:latin typeface="Archivo"/>
                <a:ea typeface="Archivo"/>
                <a:cs typeface="Archivo"/>
                <a:sym typeface="Archivo"/>
              </a:rPr>
              <a:t>D</a:t>
            </a:r>
            <a:r>
              <a:rPr b="1" i="0" lang="en" sz="1200" u="none" cap="none" strike="noStrike">
                <a:solidFill>
                  <a:srgbClr val="1A1033"/>
                </a:solidFill>
                <a:latin typeface="Archivo"/>
                <a:ea typeface="Archivo"/>
                <a:cs typeface="Archivo"/>
                <a:sym typeface="Archivo"/>
              </a:rPr>
              <a:t>esign &amp; </a:t>
            </a:r>
            <a:r>
              <a:rPr b="1" lang="en" sz="1200">
                <a:solidFill>
                  <a:srgbClr val="1A1033"/>
                </a:solidFill>
                <a:latin typeface="Archivo"/>
                <a:ea typeface="Archivo"/>
                <a:cs typeface="Archivo"/>
                <a:sym typeface="Archivo"/>
              </a:rPr>
              <a:t>T</a:t>
            </a:r>
            <a:r>
              <a:rPr b="1" i="0" lang="en" sz="1200" u="none" cap="none" strike="noStrike">
                <a:solidFill>
                  <a:srgbClr val="1A1033"/>
                </a:solidFill>
                <a:latin typeface="Archivo"/>
                <a:ea typeface="Archivo"/>
                <a:cs typeface="Archivo"/>
                <a:sym typeface="Archivo"/>
              </a:rPr>
              <a:t>houghtfulness</a:t>
            </a:r>
            <a:endParaRPr i="0" sz="1200" u="none" cap="none" strike="noStrike">
              <a:solidFill>
                <a:schemeClr val="dk1"/>
              </a:solidFill>
              <a:latin typeface="Archivo"/>
              <a:ea typeface="Archivo"/>
              <a:cs typeface="Archivo"/>
              <a:sym typeface="Archivo"/>
            </a:endParaRPr>
          </a:p>
        </p:txBody>
      </p:sp>
      <p:sp>
        <p:nvSpPr>
          <p:cNvPr id="403" name="Google Shape;403;p25"/>
          <p:cNvSpPr/>
          <p:nvPr/>
        </p:nvSpPr>
        <p:spPr>
          <a:xfrm>
            <a:off x="1626723" y="2455639"/>
            <a:ext cx="4312200" cy="19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52"/>
              <a:buFont typeface="Trebuchet MS"/>
              <a:buNone/>
            </a:pPr>
            <a:r>
              <a:rPr i="0" lang="en" sz="1000" u="none" cap="none" strike="noStrike">
                <a:solidFill>
                  <a:srgbClr val="4A3F6B"/>
                </a:solidFill>
                <a:latin typeface="Archivo"/>
                <a:ea typeface="Archivo"/>
                <a:cs typeface="Archivo"/>
                <a:sym typeface="Archivo"/>
              </a:rPr>
              <a:t>Agent loop quality, tool design, when NOT to act</a:t>
            </a:r>
            <a:endParaRPr i="0" sz="1000" u="none" cap="none" strike="noStrike">
              <a:solidFill>
                <a:schemeClr val="dk1"/>
              </a:solidFill>
              <a:latin typeface="Archivo"/>
              <a:ea typeface="Archivo"/>
              <a:cs typeface="Archivo"/>
              <a:sym typeface="Archivo"/>
            </a:endParaRPr>
          </a:p>
        </p:txBody>
      </p:sp>
      <p:sp>
        <p:nvSpPr>
          <p:cNvPr id="404" name="Google Shape;404;p25"/>
          <p:cNvSpPr/>
          <p:nvPr/>
        </p:nvSpPr>
        <p:spPr>
          <a:xfrm>
            <a:off x="6104871" y="2314660"/>
            <a:ext cx="2156100" cy="1161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05" name="Google Shape;405;p25"/>
          <p:cNvPicPr preferRelativeResize="0"/>
          <p:nvPr/>
        </p:nvPicPr>
        <p:blipFill rotWithShape="1">
          <a:blip r:embed="rId5">
            <a:alphaModFix/>
          </a:blip>
          <a:srcRect b="0" l="0" r="0" t="0"/>
          <a:stretch/>
        </p:blipFill>
        <p:spPr>
          <a:xfrm>
            <a:off x="6104871" y="2314660"/>
            <a:ext cx="1796789" cy="116101"/>
          </a:xfrm>
          <a:prstGeom prst="rect">
            <a:avLst/>
          </a:prstGeom>
          <a:noFill/>
          <a:ln>
            <a:noFill/>
          </a:ln>
        </p:spPr>
      </p:pic>
      <p:sp>
        <p:nvSpPr>
          <p:cNvPr id="406" name="Google Shape;406;p25"/>
          <p:cNvSpPr/>
          <p:nvPr/>
        </p:nvSpPr>
        <p:spPr>
          <a:xfrm>
            <a:off x="6104871" y="2455639"/>
            <a:ext cx="2156100" cy="16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91E8C"/>
              </a:buClr>
              <a:buSzPts val="816"/>
              <a:buFont typeface="Trebuchet MS"/>
              <a:buNone/>
            </a:pPr>
            <a:r>
              <a:rPr lang="en" sz="816">
                <a:solidFill>
                  <a:srgbClr val="E91E8C"/>
                </a:solidFill>
                <a:latin typeface="Archivo"/>
                <a:ea typeface="Archivo"/>
                <a:cs typeface="Archivo"/>
                <a:sym typeface="Archivo"/>
              </a:rPr>
              <a:t>10</a:t>
            </a:r>
            <a:r>
              <a:rPr i="0" lang="en" sz="816" u="none" cap="none" strike="noStrike">
                <a:solidFill>
                  <a:srgbClr val="E91E8C"/>
                </a:solidFill>
                <a:latin typeface="Archivo"/>
                <a:ea typeface="Archivo"/>
                <a:cs typeface="Archivo"/>
                <a:sym typeface="Archivo"/>
              </a:rPr>
              <a:t>%</a:t>
            </a:r>
            <a:endParaRPr i="0" sz="816" u="none" cap="none" strike="noStrike">
              <a:solidFill>
                <a:schemeClr val="dk1"/>
              </a:solidFill>
              <a:latin typeface="Archivo"/>
              <a:ea typeface="Archivo"/>
              <a:cs typeface="Archivo"/>
              <a:sym typeface="Archivo"/>
            </a:endParaRPr>
          </a:p>
        </p:txBody>
      </p:sp>
      <p:sp>
        <p:nvSpPr>
          <p:cNvPr id="407" name="Google Shape;407;p25"/>
          <p:cNvSpPr/>
          <p:nvPr/>
        </p:nvSpPr>
        <p:spPr>
          <a:xfrm>
            <a:off x="548650" y="2737598"/>
            <a:ext cx="7712400" cy="102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408" name="Google Shape;408;p25"/>
          <p:cNvSpPr/>
          <p:nvPr/>
        </p:nvSpPr>
        <p:spPr>
          <a:xfrm>
            <a:off x="548650" y="2886870"/>
            <a:ext cx="315300" cy="315300"/>
          </a:xfrm>
          <a:prstGeom prst="ellipse">
            <a:avLst/>
          </a:prstGeom>
          <a:solidFill>
            <a:srgbClr val="6A1B9A"/>
          </a:solidFill>
          <a:ln cap="flat" cmpd="sng" w="11525">
            <a:solidFill>
              <a:srgbClr val="6A1B9A"/>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09" name="Google Shape;409;p25"/>
          <p:cNvPicPr preferRelativeResize="0"/>
          <p:nvPr/>
        </p:nvPicPr>
        <p:blipFill rotWithShape="1">
          <a:blip r:embed="rId7">
            <a:alphaModFix/>
          </a:blip>
          <a:srcRect b="0" l="0" r="0" t="0"/>
          <a:stretch/>
        </p:blipFill>
        <p:spPr>
          <a:xfrm>
            <a:off x="606700" y="2944920"/>
            <a:ext cx="199028" cy="199028"/>
          </a:xfrm>
          <a:prstGeom prst="rect">
            <a:avLst/>
          </a:prstGeom>
          <a:noFill/>
          <a:ln>
            <a:noFill/>
          </a:ln>
        </p:spPr>
      </p:pic>
      <p:sp>
        <p:nvSpPr>
          <p:cNvPr id="410" name="Google Shape;410;p25"/>
          <p:cNvSpPr/>
          <p:nvPr/>
        </p:nvSpPr>
        <p:spPr>
          <a:xfrm>
            <a:off x="988172" y="2853698"/>
            <a:ext cx="447600" cy="39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2358"/>
              <a:buFont typeface="Trebuchet MS"/>
              <a:buNone/>
            </a:pPr>
            <a:r>
              <a:rPr b="1" lang="en" sz="2358">
                <a:solidFill>
                  <a:srgbClr val="6A1B9A"/>
                </a:solidFill>
                <a:latin typeface="Archivo"/>
                <a:ea typeface="Archivo"/>
                <a:cs typeface="Archivo"/>
                <a:sym typeface="Archivo"/>
              </a:rPr>
              <a:t>30</a:t>
            </a:r>
            <a:endParaRPr i="0" sz="2358" u="none" cap="none" strike="noStrike">
              <a:solidFill>
                <a:schemeClr val="dk1"/>
              </a:solidFill>
              <a:latin typeface="Archivo"/>
              <a:ea typeface="Archivo"/>
              <a:cs typeface="Archivo"/>
              <a:sym typeface="Archivo"/>
            </a:endParaRPr>
          </a:p>
        </p:txBody>
      </p:sp>
      <p:sp>
        <p:nvSpPr>
          <p:cNvPr id="411" name="Google Shape;411;p25"/>
          <p:cNvSpPr/>
          <p:nvPr/>
        </p:nvSpPr>
        <p:spPr>
          <a:xfrm>
            <a:off x="988172" y="3235172"/>
            <a:ext cx="44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816"/>
              <a:buFont typeface="Trebuchet MS"/>
              <a:buNone/>
            </a:pPr>
            <a:r>
              <a:rPr i="0" lang="en" sz="816" u="none" cap="none" strike="noStrike">
                <a:solidFill>
                  <a:srgbClr val="6A1B9A"/>
                </a:solidFill>
                <a:latin typeface="Archivo"/>
                <a:ea typeface="Archivo"/>
                <a:cs typeface="Archivo"/>
                <a:sym typeface="Archivo"/>
              </a:rPr>
              <a:t>pts</a:t>
            </a:r>
            <a:endParaRPr i="0" sz="816" u="none" cap="none" strike="noStrike">
              <a:solidFill>
                <a:schemeClr val="dk1"/>
              </a:solidFill>
              <a:latin typeface="Archivo"/>
              <a:ea typeface="Archivo"/>
              <a:cs typeface="Archivo"/>
              <a:sym typeface="Archivo"/>
            </a:endParaRPr>
          </a:p>
        </p:txBody>
      </p:sp>
      <p:pic>
        <p:nvPicPr>
          <p:cNvPr descr="preencoded.png" id="412" name="Google Shape;412;p25"/>
          <p:cNvPicPr preferRelativeResize="0"/>
          <p:nvPr/>
        </p:nvPicPr>
        <p:blipFill rotWithShape="1">
          <a:blip r:embed="rId5">
            <a:alphaModFix/>
          </a:blip>
          <a:srcRect b="0" l="0" r="0" t="0"/>
          <a:stretch/>
        </p:blipFill>
        <p:spPr>
          <a:xfrm>
            <a:off x="1502330" y="2920042"/>
            <a:ext cx="24878" cy="398059"/>
          </a:xfrm>
          <a:prstGeom prst="rect">
            <a:avLst/>
          </a:prstGeom>
          <a:noFill/>
          <a:ln>
            <a:noFill/>
          </a:ln>
        </p:spPr>
      </p:pic>
      <p:sp>
        <p:nvSpPr>
          <p:cNvPr id="413" name="Google Shape;413;p25"/>
          <p:cNvSpPr/>
          <p:nvPr/>
        </p:nvSpPr>
        <p:spPr>
          <a:xfrm>
            <a:off x="1626723" y="2886870"/>
            <a:ext cx="43122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79"/>
              <a:buFont typeface="Trebuchet MS"/>
              <a:buNone/>
            </a:pPr>
            <a:r>
              <a:rPr b="1" i="0" lang="en" sz="1200" u="none" cap="none" strike="noStrike">
                <a:solidFill>
                  <a:srgbClr val="1A1033"/>
                </a:solidFill>
                <a:latin typeface="Archivo"/>
                <a:ea typeface="Archivo"/>
                <a:cs typeface="Archivo"/>
                <a:sym typeface="Archivo"/>
              </a:rPr>
              <a:t>Engineering </a:t>
            </a:r>
            <a:r>
              <a:rPr b="1" lang="en" sz="1200">
                <a:solidFill>
                  <a:srgbClr val="1A1033"/>
                </a:solidFill>
                <a:latin typeface="Archivo"/>
                <a:ea typeface="Archivo"/>
                <a:cs typeface="Archivo"/>
                <a:sym typeface="Archivo"/>
              </a:rPr>
              <a:t>D</a:t>
            </a:r>
            <a:r>
              <a:rPr b="1" i="0" lang="en" sz="1200" u="none" cap="none" strike="noStrike">
                <a:solidFill>
                  <a:srgbClr val="1A1033"/>
                </a:solidFill>
                <a:latin typeface="Archivo"/>
                <a:ea typeface="Archivo"/>
                <a:cs typeface="Archivo"/>
                <a:sym typeface="Archivo"/>
              </a:rPr>
              <a:t>epth</a:t>
            </a:r>
            <a:endParaRPr i="0" sz="1200" u="none" cap="none" strike="noStrike">
              <a:solidFill>
                <a:schemeClr val="dk1"/>
              </a:solidFill>
              <a:latin typeface="Archivo"/>
              <a:ea typeface="Archivo"/>
              <a:cs typeface="Archivo"/>
              <a:sym typeface="Archivo"/>
            </a:endParaRPr>
          </a:p>
        </p:txBody>
      </p:sp>
      <p:sp>
        <p:nvSpPr>
          <p:cNvPr id="414" name="Google Shape;414;p25"/>
          <p:cNvSpPr/>
          <p:nvPr/>
        </p:nvSpPr>
        <p:spPr>
          <a:xfrm>
            <a:off x="1626723" y="3135657"/>
            <a:ext cx="4312200" cy="19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52"/>
              <a:buFont typeface="Trebuchet MS"/>
              <a:buNone/>
            </a:pPr>
            <a:r>
              <a:rPr i="0" lang="en" sz="1000" u="none" cap="none" strike="noStrike">
                <a:solidFill>
                  <a:srgbClr val="4A3F6B"/>
                </a:solidFill>
                <a:latin typeface="Archivo"/>
                <a:ea typeface="Archivo"/>
                <a:cs typeface="Archivo"/>
                <a:sym typeface="Archivo"/>
              </a:rPr>
              <a:t>Concurrency, mock quality, state management, code quality</a:t>
            </a:r>
            <a:endParaRPr i="0" sz="1000" u="none" cap="none" strike="noStrike">
              <a:solidFill>
                <a:schemeClr val="dk1"/>
              </a:solidFill>
              <a:latin typeface="Archivo"/>
              <a:ea typeface="Archivo"/>
              <a:cs typeface="Archivo"/>
              <a:sym typeface="Archivo"/>
            </a:endParaRPr>
          </a:p>
        </p:txBody>
      </p:sp>
      <p:sp>
        <p:nvSpPr>
          <p:cNvPr id="415" name="Google Shape;415;p25"/>
          <p:cNvSpPr/>
          <p:nvPr/>
        </p:nvSpPr>
        <p:spPr>
          <a:xfrm>
            <a:off x="6104871" y="2994678"/>
            <a:ext cx="2156100" cy="1161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16" name="Google Shape;416;p25"/>
          <p:cNvPicPr preferRelativeResize="0"/>
          <p:nvPr/>
        </p:nvPicPr>
        <p:blipFill rotWithShape="1">
          <a:blip r:embed="rId5">
            <a:alphaModFix/>
          </a:blip>
          <a:srcRect b="0" l="0" r="0" t="0"/>
          <a:stretch/>
        </p:blipFill>
        <p:spPr>
          <a:xfrm>
            <a:off x="6104871" y="2994678"/>
            <a:ext cx="1796789" cy="116101"/>
          </a:xfrm>
          <a:prstGeom prst="rect">
            <a:avLst/>
          </a:prstGeom>
          <a:noFill/>
          <a:ln>
            <a:noFill/>
          </a:ln>
        </p:spPr>
      </p:pic>
      <p:sp>
        <p:nvSpPr>
          <p:cNvPr id="417" name="Google Shape;417;p25"/>
          <p:cNvSpPr/>
          <p:nvPr/>
        </p:nvSpPr>
        <p:spPr>
          <a:xfrm>
            <a:off x="6104871" y="3135657"/>
            <a:ext cx="2156100" cy="16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1B9A"/>
              </a:buClr>
              <a:buSzPts val="816"/>
              <a:buFont typeface="Trebuchet MS"/>
              <a:buNone/>
            </a:pPr>
            <a:r>
              <a:rPr lang="en" sz="816">
                <a:solidFill>
                  <a:srgbClr val="6A1B9A"/>
                </a:solidFill>
                <a:latin typeface="Archivo"/>
                <a:ea typeface="Archivo"/>
                <a:cs typeface="Archivo"/>
                <a:sym typeface="Archivo"/>
              </a:rPr>
              <a:t>30</a:t>
            </a:r>
            <a:r>
              <a:rPr i="0" lang="en" sz="816" u="none" cap="none" strike="noStrike">
                <a:solidFill>
                  <a:srgbClr val="6A1B9A"/>
                </a:solidFill>
                <a:latin typeface="Archivo"/>
                <a:ea typeface="Archivo"/>
                <a:cs typeface="Archivo"/>
                <a:sym typeface="Archivo"/>
              </a:rPr>
              <a:t>%</a:t>
            </a:r>
            <a:endParaRPr i="0" sz="816" u="none" cap="none" strike="noStrike">
              <a:solidFill>
                <a:schemeClr val="dk1"/>
              </a:solidFill>
              <a:latin typeface="Archivo"/>
              <a:ea typeface="Archivo"/>
              <a:cs typeface="Archivo"/>
              <a:sym typeface="Archivo"/>
            </a:endParaRPr>
          </a:p>
        </p:txBody>
      </p:sp>
      <p:sp>
        <p:nvSpPr>
          <p:cNvPr id="418" name="Google Shape;418;p25"/>
          <p:cNvSpPr/>
          <p:nvPr/>
        </p:nvSpPr>
        <p:spPr>
          <a:xfrm>
            <a:off x="548650" y="3417616"/>
            <a:ext cx="7712400" cy="102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419" name="Google Shape;419;p25"/>
          <p:cNvSpPr/>
          <p:nvPr/>
        </p:nvSpPr>
        <p:spPr>
          <a:xfrm>
            <a:off x="548650" y="3566888"/>
            <a:ext cx="315300" cy="315300"/>
          </a:xfrm>
          <a:prstGeom prst="ellipse">
            <a:avLst/>
          </a:prstGeom>
          <a:solidFill>
            <a:srgbClr val="D84315"/>
          </a:solidFill>
          <a:ln cap="flat" cmpd="sng" w="11525">
            <a:solidFill>
              <a:srgbClr val="D84315"/>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20" name="Google Shape;420;p25"/>
          <p:cNvPicPr preferRelativeResize="0"/>
          <p:nvPr/>
        </p:nvPicPr>
        <p:blipFill rotWithShape="1">
          <a:blip r:embed="rId8">
            <a:alphaModFix/>
          </a:blip>
          <a:srcRect b="0" l="0" r="0" t="0"/>
          <a:stretch/>
        </p:blipFill>
        <p:spPr>
          <a:xfrm>
            <a:off x="606700" y="3624938"/>
            <a:ext cx="199028" cy="199028"/>
          </a:xfrm>
          <a:prstGeom prst="rect">
            <a:avLst/>
          </a:prstGeom>
          <a:noFill/>
          <a:ln>
            <a:noFill/>
          </a:ln>
        </p:spPr>
      </p:pic>
      <p:sp>
        <p:nvSpPr>
          <p:cNvPr id="421" name="Google Shape;421;p25"/>
          <p:cNvSpPr/>
          <p:nvPr/>
        </p:nvSpPr>
        <p:spPr>
          <a:xfrm>
            <a:off x="988172" y="3533717"/>
            <a:ext cx="447600" cy="39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4315"/>
              </a:buClr>
              <a:buSzPts val="2358"/>
              <a:buFont typeface="Trebuchet MS"/>
              <a:buNone/>
            </a:pPr>
            <a:r>
              <a:rPr b="1" i="0" lang="en" sz="2358" u="none" cap="none" strike="noStrike">
                <a:solidFill>
                  <a:srgbClr val="D84315"/>
                </a:solidFill>
                <a:latin typeface="Archivo"/>
                <a:ea typeface="Archivo"/>
                <a:cs typeface="Archivo"/>
                <a:sym typeface="Archivo"/>
              </a:rPr>
              <a:t>10</a:t>
            </a:r>
            <a:endParaRPr i="0" sz="2358" u="none" cap="none" strike="noStrike">
              <a:solidFill>
                <a:schemeClr val="dk1"/>
              </a:solidFill>
              <a:latin typeface="Archivo"/>
              <a:ea typeface="Archivo"/>
              <a:cs typeface="Archivo"/>
              <a:sym typeface="Archivo"/>
            </a:endParaRPr>
          </a:p>
        </p:txBody>
      </p:sp>
      <p:sp>
        <p:nvSpPr>
          <p:cNvPr id="422" name="Google Shape;422;p25"/>
          <p:cNvSpPr/>
          <p:nvPr/>
        </p:nvSpPr>
        <p:spPr>
          <a:xfrm>
            <a:off x="988172" y="3915190"/>
            <a:ext cx="44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4315"/>
              </a:buClr>
              <a:buSzPts val="816"/>
              <a:buFont typeface="Trebuchet MS"/>
              <a:buNone/>
            </a:pPr>
            <a:r>
              <a:rPr i="0" lang="en" sz="816" u="none" cap="none" strike="noStrike">
                <a:solidFill>
                  <a:srgbClr val="D84315"/>
                </a:solidFill>
                <a:latin typeface="Archivo"/>
                <a:ea typeface="Archivo"/>
                <a:cs typeface="Archivo"/>
                <a:sym typeface="Archivo"/>
              </a:rPr>
              <a:t>pts</a:t>
            </a:r>
            <a:endParaRPr i="0" sz="816" u="none" cap="none" strike="noStrike">
              <a:solidFill>
                <a:schemeClr val="dk1"/>
              </a:solidFill>
              <a:latin typeface="Archivo"/>
              <a:ea typeface="Archivo"/>
              <a:cs typeface="Archivo"/>
              <a:sym typeface="Archivo"/>
            </a:endParaRPr>
          </a:p>
        </p:txBody>
      </p:sp>
      <p:pic>
        <p:nvPicPr>
          <p:cNvPr descr="preencoded.png" id="423" name="Google Shape;423;p25"/>
          <p:cNvPicPr preferRelativeResize="0"/>
          <p:nvPr/>
        </p:nvPicPr>
        <p:blipFill rotWithShape="1">
          <a:blip r:embed="rId5">
            <a:alphaModFix/>
          </a:blip>
          <a:srcRect b="0" l="0" r="0" t="0"/>
          <a:stretch/>
        </p:blipFill>
        <p:spPr>
          <a:xfrm>
            <a:off x="1502330" y="3600060"/>
            <a:ext cx="24878" cy="398059"/>
          </a:xfrm>
          <a:prstGeom prst="rect">
            <a:avLst/>
          </a:prstGeom>
          <a:noFill/>
          <a:ln>
            <a:noFill/>
          </a:ln>
        </p:spPr>
      </p:pic>
      <p:sp>
        <p:nvSpPr>
          <p:cNvPr id="424" name="Google Shape;424;p25"/>
          <p:cNvSpPr/>
          <p:nvPr/>
        </p:nvSpPr>
        <p:spPr>
          <a:xfrm>
            <a:off x="1626723" y="3566888"/>
            <a:ext cx="43122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79"/>
              <a:buFont typeface="Trebuchet MS"/>
              <a:buNone/>
            </a:pPr>
            <a:r>
              <a:rPr b="1" i="0" lang="en" sz="1200" u="none" cap="none" strike="noStrike">
                <a:solidFill>
                  <a:srgbClr val="1A1033"/>
                </a:solidFill>
                <a:latin typeface="Archivo"/>
                <a:ea typeface="Archivo"/>
                <a:cs typeface="Archivo"/>
                <a:sym typeface="Archivo"/>
              </a:rPr>
              <a:t>Evaluation &amp; </a:t>
            </a:r>
            <a:r>
              <a:rPr b="1" lang="en" sz="1200">
                <a:solidFill>
                  <a:srgbClr val="1A1033"/>
                </a:solidFill>
                <a:latin typeface="Archivo"/>
                <a:ea typeface="Archivo"/>
                <a:cs typeface="Archivo"/>
                <a:sym typeface="Archivo"/>
              </a:rPr>
              <a:t>S</a:t>
            </a:r>
            <a:r>
              <a:rPr b="1" i="0" lang="en" sz="1200" u="none" cap="none" strike="noStrike">
                <a:solidFill>
                  <a:srgbClr val="1A1033"/>
                </a:solidFill>
                <a:latin typeface="Archivo"/>
                <a:ea typeface="Archivo"/>
                <a:cs typeface="Archivo"/>
                <a:sym typeface="Archivo"/>
              </a:rPr>
              <a:t>elf-awareness</a:t>
            </a:r>
            <a:endParaRPr i="0" sz="1200" u="none" cap="none" strike="noStrike">
              <a:solidFill>
                <a:schemeClr val="dk1"/>
              </a:solidFill>
              <a:latin typeface="Archivo"/>
              <a:ea typeface="Archivo"/>
              <a:cs typeface="Archivo"/>
              <a:sym typeface="Archivo"/>
            </a:endParaRPr>
          </a:p>
        </p:txBody>
      </p:sp>
      <p:sp>
        <p:nvSpPr>
          <p:cNvPr id="425" name="Google Shape;425;p25"/>
          <p:cNvSpPr/>
          <p:nvPr/>
        </p:nvSpPr>
        <p:spPr>
          <a:xfrm>
            <a:off x="1626723" y="3815675"/>
            <a:ext cx="4312200" cy="19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52"/>
              <a:buFont typeface="Trebuchet MS"/>
              <a:buNone/>
            </a:pPr>
            <a:r>
              <a:rPr i="0" lang="en" sz="1000" u="none" cap="none" strike="noStrike">
                <a:solidFill>
                  <a:srgbClr val="4A3F6B"/>
                </a:solidFill>
                <a:latin typeface="Archivo"/>
                <a:ea typeface="Archivo"/>
                <a:cs typeface="Archivo"/>
                <a:sym typeface="Archivo"/>
              </a:rPr>
              <a:t>Confidence scoring, failure awareness, feedback loop</a:t>
            </a:r>
            <a:endParaRPr i="0" sz="1000" u="none" cap="none" strike="noStrike">
              <a:solidFill>
                <a:schemeClr val="dk1"/>
              </a:solidFill>
              <a:latin typeface="Archivo"/>
              <a:ea typeface="Archivo"/>
              <a:cs typeface="Archivo"/>
              <a:sym typeface="Archivo"/>
            </a:endParaRPr>
          </a:p>
        </p:txBody>
      </p:sp>
      <p:sp>
        <p:nvSpPr>
          <p:cNvPr id="426" name="Google Shape;426;p25"/>
          <p:cNvSpPr/>
          <p:nvPr/>
        </p:nvSpPr>
        <p:spPr>
          <a:xfrm>
            <a:off x="6104871" y="3674696"/>
            <a:ext cx="2156100" cy="1161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27" name="Google Shape;427;p25"/>
          <p:cNvPicPr preferRelativeResize="0"/>
          <p:nvPr/>
        </p:nvPicPr>
        <p:blipFill rotWithShape="1">
          <a:blip r:embed="rId5">
            <a:alphaModFix/>
          </a:blip>
          <a:srcRect b="0" l="0" r="0" t="0"/>
          <a:stretch/>
        </p:blipFill>
        <p:spPr>
          <a:xfrm>
            <a:off x="6104871" y="3674696"/>
            <a:ext cx="718718" cy="116101"/>
          </a:xfrm>
          <a:prstGeom prst="rect">
            <a:avLst/>
          </a:prstGeom>
          <a:noFill/>
          <a:ln>
            <a:noFill/>
          </a:ln>
        </p:spPr>
      </p:pic>
      <p:sp>
        <p:nvSpPr>
          <p:cNvPr id="428" name="Google Shape;428;p25"/>
          <p:cNvSpPr/>
          <p:nvPr/>
        </p:nvSpPr>
        <p:spPr>
          <a:xfrm>
            <a:off x="6104871" y="3815675"/>
            <a:ext cx="2156100" cy="16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84315"/>
              </a:buClr>
              <a:buSzPts val="816"/>
              <a:buFont typeface="Trebuchet MS"/>
              <a:buNone/>
            </a:pPr>
            <a:r>
              <a:rPr i="0" lang="en" sz="816" u="none" cap="none" strike="noStrike">
                <a:solidFill>
                  <a:srgbClr val="D84315"/>
                </a:solidFill>
                <a:latin typeface="Archivo"/>
                <a:ea typeface="Archivo"/>
                <a:cs typeface="Archivo"/>
                <a:sym typeface="Archivo"/>
              </a:rPr>
              <a:t>10%</a:t>
            </a:r>
            <a:endParaRPr i="0" sz="816" u="none" cap="none" strike="noStrike">
              <a:solidFill>
                <a:schemeClr val="dk1"/>
              </a:solidFill>
              <a:latin typeface="Archivo"/>
              <a:ea typeface="Archivo"/>
              <a:cs typeface="Archivo"/>
              <a:sym typeface="Archivo"/>
            </a:endParaRPr>
          </a:p>
        </p:txBody>
      </p:sp>
      <p:sp>
        <p:nvSpPr>
          <p:cNvPr id="429" name="Google Shape;429;p25"/>
          <p:cNvSpPr/>
          <p:nvPr/>
        </p:nvSpPr>
        <p:spPr>
          <a:xfrm>
            <a:off x="548650" y="4097634"/>
            <a:ext cx="7712400" cy="102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sp>
        <p:nvSpPr>
          <p:cNvPr id="430" name="Google Shape;430;p25"/>
          <p:cNvSpPr/>
          <p:nvPr/>
        </p:nvSpPr>
        <p:spPr>
          <a:xfrm>
            <a:off x="548650" y="4246906"/>
            <a:ext cx="315300" cy="315300"/>
          </a:xfrm>
          <a:prstGeom prst="ellipse">
            <a:avLst/>
          </a:prstGeom>
          <a:solidFill>
            <a:srgbClr val="C62828"/>
          </a:solidFill>
          <a:ln cap="flat" cmpd="sng" w="11525">
            <a:solidFill>
              <a:srgbClr val="C62828"/>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31" name="Google Shape;431;p25"/>
          <p:cNvPicPr preferRelativeResize="0"/>
          <p:nvPr/>
        </p:nvPicPr>
        <p:blipFill rotWithShape="1">
          <a:blip r:embed="rId9">
            <a:alphaModFix/>
          </a:blip>
          <a:srcRect b="0" l="0" r="0" t="0"/>
          <a:stretch/>
        </p:blipFill>
        <p:spPr>
          <a:xfrm>
            <a:off x="606700" y="4304957"/>
            <a:ext cx="199028" cy="199028"/>
          </a:xfrm>
          <a:prstGeom prst="rect">
            <a:avLst/>
          </a:prstGeom>
          <a:noFill/>
          <a:ln>
            <a:noFill/>
          </a:ln>
        </p:spPr>
      </p:pic>
      <p:sp>
        <p:nvSpPr>
          <p:cNvPr id="432" name="Google Shape;432;p25"/>
          <p:cNvSpPr/>
          <p:nvPr/>
        </p:nvSpPr>
        <p:spPr>
          <a:xfrm>
            <a:off x="988172" y="4213735"/>
            <a:ext cx="447600" cy="39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2358"/>
              <a:buFont typeface="Trebuchet MS"/>
              <a:buNone/>
            </a:pPr>
            <a:r>
              <a:rPr b="1" lang="en" sz="2358">
                <a:solidFill>
                  <a:srgbClr val="C62828"/>
                </a:solidFill>
                <a:latin typeface="Archivo"/>
                <a:ea typeface="Archivo"/>
                <a:cs typeface="Archivo"/>
                <a:sym typeface="Archivo"/>
              </a:rPr>
              <a:t>20</a:t>
            </a:r>
            <a:endParaRPr i="0" sz="2358" u="none" cap="none" strike="noStrike">
              <a:solidFill>
                <a:schemeClr val="dk1"/>
              </a:solidFill>
              <a:latin typeface="Archivo"/>
              <a:ea typeface="Archivo"/>
              <a:cs typeface="Archivo"/>
              <a:sym typeface="Archivo"/>
            </a:endParaRPr>
          </a:p>
        </p:txBody>
      </p:sp>
      <p:sp>
        <p:nvSpPr>
          <p:cNvPr id="433" name="Google Shape;433;p25"/>
          <p:cNvSpPr/>
          <p:nvPr/>
        </p:nvSpPr>
        <p:spPr>
          <a:xfrm>
            <a:off x="988172" y="4595208"/>
            <a:ext cx="447600" cy="14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2828"/>
              </a:buClr>
              <a:buSzPts val="816"/>
              <a:buFont typeface="Trebuchet MS"/>
              <a:buNone/>
            </a:pPr>
            <a:r>
              <a:rPr b="0" i="0" lang="en" sz="816" u="none" cap="none" strike="noStrike">
                <a:solidFill>
                  <a:srgbClr val="C62828"/>
                </a:solidFill>
                <a:latin typeface="Trebuchet MS"/>
                <a:ea typeface="Trebuchet MS"/>
                <a:cs typeface="Trebuchet MS"/>
                <a:sym typeface="Trebuchet MS"/>
              </a:rPr>
              <a:t>pts</a:t>
            </a:r>
            <a:endParaRPr b="0" i="0" sz="816" u="none" cap="none" strike="noStrike">
              <a:solidFill>
                <a:schemeClr val="dk1"/>
              </a:solidFill>
              <a:latin typeface="Calibri"/>
              <a:ea typeface="Calibri"/>
              <a:cs typeface="Calibri"/>
              <a:sym typeface="Calibri"/>
            </a:endParaRPr>
          </a:p>
        </p:txBody>
      </p:sp>
      <p:pic>
        <p:nvPicPr>
          <p:cNvPr descr="preencoded.png" id="434" name="Google Shape;434;p25"/>
          <p:cNvPicPr preferRelativeResize="0"/>
          <p:nvPr/>
        </p:nvPicPr>
        <p:blipFill rotWithShape="1">
          <a:blip r:embed="rId5">
            <a:alphaModFix/>
          </a:blip>
          <a:srcRect b="0" l="0" r="0" t="0"/>
          <a:stretch/>
        </p:blipFill>
        <p:spPr>
          <a:xfrm>
            <a:off x="1502330" y="4280078"/>
            <a:ext cx="24878" cy="398059"/>
          </a:xfrm>
          <a:prstGeom prst="rect">
            <a:avLst/>
          </a:prstGeom>
          <a:noFill/>
          <a:ln>
            <a:noFill/>
          </a:ln>
        </p:spPr>
      </p:pic>
      <p:sp>
        <p:nvSpPr>
          <p:cNvPr id="435" name="Google Shape;435;p25"/>
          <p:cNvSpPr/>
          <p:nvPr/>
        </p:nvSpPr>
        <p:spPr>
          <a:xfrm>
            <a:off x="1626723" y="4246906"/>
            <a:ext cx="4312200" cy="23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033"/>
              </a:buClr>
              <a:buSzPts val="1179"/>
              <a:buFont typeface="Trebuchet MS"/>
              <a:buNone/>
            </a:pPr>
            <a:r>
              <a:rPr b="1" i="0" lang="en" sz="1200" u="none" cap="none" strike="noStrike">
                <a:solidFill>
                  <a:srgbClr val="1A1033"/>
                </a:solidFill>
                <a:latin typeface="Archivo"/>
                <a:ea typeface="Archivo"/>
                <a:cs typeface="Archivo"/>
                <a:sym typeface="Archivo"/>
              </a:rPr>
              <a:t>Presentation</a:t>
            </a:r>
            <a:r>
              <a:rPr b="1" lang="en" sz="1200">
                <a:solidFill>
                  <a:srgbClr val="1A1033"/>
                </a:solidFill>
                <a:latin typeface="Archivo"/>
                <a:ea typeface="Archivo"/>
                <a:cs typeface="Archivo"/>
                <a:sym typeface="Archivo"/>
              </a:rPr>
              <a:t>, Deployment</a:t>
            </a:r>
            <a:endParaRPr i="0" sz="1200" u="none" cap="none" strike="noStrike">
              <a:solidFill>
                <a:schemeClr val="dk1"/>
              </a:solidFill>
              <a:latin typeface="Archivo"/>
              <a:ea typeface="Archivo"/>
              <a:cs typeface="Archivo"/>
              <a:sym typeface="Archivo"/>
            </a:endParaRPr>
          </a:p>
        </p:txBody>
      </p:sp>
      <p:sp>
        <p:nvSpPr>
          <p:cNvPr id="436" name="Google Shape;436;p25"/>
          <p:cNvSpPr/>
          <p:nvPr/>
        </p:nvSpPr>
        <p:spPr>
          <a:xfrm>
            <a:off x="1626723" y="4495693"/>
            <a:ext cx="4312200" cy="19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F6B"/>
              </a:buClr>
              <a:buSzPts val="952"/>
              <a:buFont typeface="Trebuchet MS"/>
              <a:buNone/>
            </a:pPr>
            <a:r>
              <a:rPr i="0" lang="en" sz="1000" u="none" cap="none" strike="noStrike">
                <a:solidFill>
                  <a:srgbClr val="4A3F6B"/>
                </a:solidFill>
                <a:latin typeface="Archivo"/>
                <a:ea typeface="Archivo"/>
                <a:cs typeface="Archivo"/>
                <a:sym typeface="Archivo"/>
              </a:rPr>
              <a:t>Explain every decision. Live </a:t>
            </a:r>
            <a:r>
              <a:rPr lang="en" sz="1000">
                <a:solidFill>
                  <a:srgbClr val="4A3F6B"/>
                </a:solidFill>
                <a:latin typeface="Archivo"/>
                <a:ea typeface="Archivo"/>
                <a:cs typeface="Archivo"/>
                <a:sym typeface="Archivo"/>
              </a:rPr>
              <a:t>Application</a:t>
            </a:r>
            <a:endParaRPr i="0" sz="1000" u="none" cap="none" strike="noStrike">
              <a:solidFill>
                <a:schemeClr val="dk1"/>
              </a:solidFill>
              <a:latin typeface="Archivo"/>
              <a:ea typeface="Archivo"/>
              <a:cs typeface="Archivo"/>
              <a:sym typeface="Archivo"/>
            </a:endParaRPr>
          </a:p>
        </p:txBody>
      </p:sp>
      <p:sp>
        <p:nvSpPr>
          <p:cNvPr id="437" name="Google Shape;437;p25"/>
          <p:cNvSpPr/>
          <p:nvPr/>
        </p:nvSpPr>
        <p:spPr>
          <a:xfrm>
            <a:off x="6104871" y="4354714"/>
            <a:ext cx="2156100" cy="116100"/>
          </a:xfrm>
          <a:prstGeom prst="rect">
            <a:avLst/>
          </a:prstGeom>
          <a:solidFill>
            <a:srgbClr val="E8E0FF"/>
          </a:solidFill>
          <a:ln cap="flat" cmpd="sng" w="11525">
            <a:solidFill>
              <a:srgbClr val="E8E0FF"/>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t/>
            </a:r>
            <a:endParaRPr/>
          </a:p>
        </p:txBody>
      </p:sp>
      <p:pic>
        <p:nvPicPr>
          <p:cNvPr descr="preencoded.png" id="438" name="Google Shape;438;p25"/>
          <p:cNvPicPr preferRelativeResize="0"/>
          <p:nvPr/>
        </p:nvPicPr>
        <p:blipFill rotWithShape="1">
          <a:blip r:embed="rId5">
            <a:alphaModFix/>
          </a:blip>
          <a:srcRect b="0" l="0" r="0" t="0"/>
          <a:stretch/>
        </p:blipFill>
        <p:spPr>
          <a:xfrm>
            <a:off x="6104871" y="4354714"/>
            <a:ext cx="718718" cy="116101"/>
          </a:xfrm>
          <a:prstGeom prst="rect">
            <a:avLst/>
          </a:prstGeom>
          <a:noFill/>
          <a:ln>
            <a:noFill/>
          </a:ln>
        </p:spPr>
      </p:pic>
      <p:sp>
        <p:nvSpPr>
          <p:cNvPr id="439" name="Google Shape;439;p25"/>
          <p:cNvSpPr/>
          <p:nvPr/>
        </p:nvSpPr>
        <p:spPr>
          <a:xfrm>
            <a:off x="6104871" y="4495693"/>
            <a:ext cx="2156100" cy="16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62828"/>
              </a:buClr>
              <a:buSzPts val="816"/>
              <a:buFont typeface="Trebuchet MS"/>
              <a:buNone/>
            </a:pPr>
            <a:r>
              <a:rPr lang="en" sz="816">
                <a:solidFill>
                  <a:srgbClr val="C62828"/>
                </a:solidFill>
                <a:latin typeface="Archivo"/>
                <a:ea typeface="Archivo"/>
                <a:cs typeface="Archivo"/>
                <a:sym typeface="Archivo"/>
              </a:rPr>
              <a:t>20</a:t>
            </a:r>
            <a:r>
              <a:rPr i="0" lang="en" sz="816" u="none" cap="none" strike="noStrike">
                <a:solidFill>
                  <a:srgbClr val="C62828"/>
                </a:solidFill>
                <a:latin typeface="Archivo"/>
                <a:ea typeface="Archivo"/>
                <a:cs typeface="Archivo"/>
                <a:sym typeface="Archivo"/>
              </a:rPr>
              <a:t>%</a:t>
            </a:r>
            <a:endParaRPr i="0" sz="816" u="none" cap="none" strike="noStrike">
              <a:solidFill>
                <a:schemeClr val="dk1"/>
              </a:solidFill>
              <a:latin typeface="Archivo"/>
              <a:ea typeface="Archivo"/>
              <a:cs typeface="Archivo"/>
              <a:sym typeface="Archivo"/>
            </a:endParaRPr>
          </a:p>
        </p:txBody>
      </p:sp>
      <p:sp>
        <p:nvSpPr>
          <p:cNvPr id="440" name="Google Shape;440;p25"/>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2" name="Google Shape;442;p25"/>
          <p:cNvPicPr preferRelativeResize="0"/>
          <p:nvPr/>
        </p:nvPicPr>
        <p:blipFill>
          <a:blip r:embed="rId10">
            <a:alphaModFix/>
          </a:blip>
          <a:stretch>
            <a:fillRect/>
          </a:stretch>
        </p:blipFill>
        <p:spPr>
          <a:xfrm>
            <a:off x="289725" y="116714"/>
            <a:ext cx="1212247" cy="329101"/>
          </a:xfrm>
          <a:prstGeom prst="rect">
            <a:avLst/>
          </a:prstGeom>
          <a:noFill/>
          <a:ln>
            <a:noFill/>
          </a:ln>
        </p:spPr>
      </p:pic>
      <p:pic>
        <p:nvPicPr>
          <p:cNvPr id="443" name="Google Shape;443;p25"/>
          <p:cNvPicPr preferRelativeResize="0"/>
          <p:nvPr/>
        </p:nvPicPr>
        <p:blipFill>
          <a:blip r:embed="rId11">
            <a:alphaModFix/>
          </a:blip>
          <a:stretch>
            <a:fillRect/>
          </a:stretch>
        </p:blipFill>
        <p:spPr>
          <a:xfrm>
            <a:off x="7840150" y="4866852"/>
            <a:ext cx="1047829" cy="151137"/>
          </a:xfrm>
          <a:prstGeom prst="rect">
            <a:avLst/>
          </a:prstGeom>
          <a:noFill/>
          <a:ln>
            <a:noFill/>
          </a:ln>
        </p:spPr>
      </p:pic>
      <p:pic>
        <p:nvPicPr>
          <p:cNvPr id="444" name="Google Shape;444;p25" title="Group 1321315272.png"/>
          <p:cNvPicPr preferRelativeResize="0"/>
          <p:nvPr/>
        </p:nvPicPr>
        <p:blipFill>
          <a:blip r:embed="rId12">
            <a:alphaModFix/>
          </a:blip>
          <a:stretch>
            <a:fillRect/>
          </a:stretch>
        </p:blipFill>
        <p:spPr>
          <a:xfrm>
            <a:off x="7496776" y="155738"/>
            <a:ext cx="1391200" cy="2510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pic>
        <p:nvPicPr>
          <p:cNvPr id="450" name="Google Shape;450;p26" title="Rectangle 10139.png"/>
          <p:cNvPicPr preferRelativeResize="0"/>
          <p:nvPr/>
        </p:nvPicPr>
        <p:blipFill rotWithShape="1">
          <a:blip r:embed="rId3">
            <a:alphaModFix/>
          </a:blip>
          <a:srcRect b="32895" l="0" r="0" t="32895"/>
          <a:stretch/>
        </p:blipFill>
        <p:spPr>
          <a:xfrm>
            <a:off x="0" y="530352"/>
            <a:ext cx="9144000" cy="713232"/>
          </a:xfrm>
          <a:prstGeom prst="rect">
            <a:avLst/>
          </a:prstGeom>
          <a:noFill/>
          <a:ln>
            <a:noFill/>
          </a:ln>
        </p:spPr>
      </p:pic>
      <p:sp>
        <p:nvSpPr>
          <p:cNvPr id="451" name="Google Shape;451;p26"/>
          <p:cNvSpPr/>
          <p:nvPr/>
        </p:nvSpPr>
        <p:spPr>
          <a:xfrm>
            <a:off x="292608" y="539496"/>
            <a:ext cx="8595360" cy="7040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5F5"/>
              </a:buClr>
              <a:buSzPts val="900"/>
              <a:buFont typeface="Trebuchet MS"/>
              <a:buNone/>
            </a:pPr>
            <a:r>
              <a:rPr b="1" i="0" lang="en" sz="900" u="none" cap="none" strike="noStrike">
                <a:solidFill>
                  <a:schemeClr val="dk1"/>
                </a:solidFill>
                <a:latin typeface="Archivo"/>
                <a:ea typeface="Archivo"/>
                <a:cs typeface="Archivo"/>
                <a:sym typeface="Archivo"/>
              </a:rPr>
              <a:t>RULES</a:t>
            </a:r>
            <a:r>
              <a:rPr i="0" lang="en" sz="900" u="none" cap="none" strike="noStrike">
                <a:solidFill>
                  <a:schemeClr val="dk1"/>
                </a:solidFill>
                <a:latin typeface="Archivo"/>
                <a:ea typeface="Archivo"/>
                <a:cs typeface="Archivo"/>
                <a:sym typeface="Archivo"/>
              </a:rPr>
              <a:t>   |   </a:t>
            </a:r>
            <a:r>
              <a:rPr b="1" i="0" lang="en" sz="2100" u="none" cap="none" strike="noStrike">
                <a:solidFill>
                  <a:schemeClr val="dk1"/>
                </a:solidFill>
                <a:latin typeface="Archivo"/>
                <a:ea typeface="Archivo"/>
                <a:cs typeface="Archivo"/>
                <a:sym typeface="Archivo"/>
              </a:rPr>
              <a:t>Don't </a:t>
            </a:r>
            <a:r>
              <a:rPr b="1" lang="en" sz="2100">
                <a:solidFill>
                  <a:schemeClr val="dk1"/>
                </a:solidFill>
                <a:latin typeface="Archivo"/>
                <a:ea typeface="Archivo"/>
                <a:cs typeface="Archivo"/>
                <a:sym typeface="Archivo"/>
              </a:rPr>
              <a:t>G</a:t>
            </a:r>
            <a:r>
              <a:rPr b="1" i="0" lang="en" sz="2100" u="none" cap="none" strike="noStrike">
                <a:solidFill>
                  <a:schemeClr val="dk1"/>
                </a:solidFill>
                <a:latin typeface="Archivo"/>
                <a:ea typeface="Archivo"/>
                <a:cs typeface="Archivo"/>
                <a:sym typeface="Archivo"/>
              </a:rPr>
              <a:t>et </a:t>
            </a:r>
            <a:r>
              <a:rPr b="1" lang="en" sz="2100">
                <a:solidFill>
                  <a:schemeClr val="dk1"/>
                </a:solidFill>
                <a:latin typeface="Archivo"/>
                <a:ea typeface="Archivo"/>
                <a:cs typeface="Archivo"/>
                <a:sym typeface="Archivo"/>
              </a:rPr>
              <a:t>T</a:t>
            </a:r>
            <a:r>
              <a:rPr b="1" i="0" lang="en" sz="2100" u="none" cap="none" strike="noStrike">
                <a:solidFill>
                  <a:schemeClr val="dk1"/>
                </a:solidFill>
                <a:latin typeface="Archivo"/>
                <a:ea typeface="Archivo"/>
                <a:cs typeface="Archivo"/>
                <a:sym typeface="Archivo"/>
              </a:rPr>
              <a:t>ripped </a:t>
            </a:r>
            <a:r>
              <a:rPr b="1" lang="en" sz="2100">
                <a:solidFill>
                  <a:schemeClr val="dk1"/>
                </a:solidFill>
                <a:latin typeface="Archivo"/>
                <a:ea typeface="Archivo"/>
                <a:cs typeface="Archivo"/>
                <a:sym typeface="Archivo"/>
              </a:rPr>
              <a:t>U</a:t>
            </a:r>
            <a:r>
              <a:rPr b="1" i="0" lang="en" sz="2100" u="none" cap="none" strike="noStrike">
                <a:solidFill>
                  <a:schemeClr val="dk1"/>
                </a:solidFill>
                <a:latin typeface="Archivo"/>
                <a:ea typeface="Archivo"/>
                <a:cs typeface="Archivo"/>
                <a:sym typeface="Archivo"/>
              </a:rPr>
              <a:t>p</a:t>
            </a:r>
            <a:endParaRPr i="0" sz="900" u="none" cap="none" strike="noStrike">
              <a:solidFill>
                <a:schemeClr val="dk1"/>
              </a:solidFill>
              <a:latin typeface="Archivo"/>
              <a:ea typeface="Archivo"/>
              <a:cs typeface="Archivo"/>
              <a:sym typeface="Archivo"/>
            </a:endParaRPr>
          </a:p>
        </p:txBody>
      </p:sp>
      <p:sp>
        <p:nvSpPr>
          <p:cNvPr id="452" name="Google Shape;452;p26"/>
          <p:cNvSpPr/>
          <p:nvPr/>
        </p:nvSpPr>
        <p:spPr>
          <a:xfrm>
            <a:off x="449367" y="1595351"/>
            <a:ext cx="329100" cy="329100"/>
          </a:xfrm>
          <a:prstGeom prst="ellipse">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3" name="Google Shape;453;p26"/>
          <p:cNvPicPr preferRelativeResize="0"/>
          <p:nvPr/>
        </p:nvPicPr>
        <p:blipFill rotWithShape="1">
          <a:blip r:embed="rId4">
            <a:alphaModFix/>
          </a:blip>
          <a:srcRect b="0" l="0" r="0" t="0"/>
          <a:stretch/>
        </p:blipFill>
        <p:spPr>
          <a:xfrm>
            <a:off x="513375" y="1659359"/>
            <a:ext cx="201168" cy="201168"/>
          </a:xfrm>
          <a:prstGeom prst="rect">
            <a:avLst/>
          </a:prstGeom>
          <a:noFill/>
          <a:ln>
            <a:noFill/>
          </a:ln>
        </p:spPr>
      </p:pic>
      <p:sp>
        <p:nvSpPr>
          <p:cNvPr id="454" name="Google Shape;454;p26"/>
          <p:cNvSpPr/>
          <p:nvPr/>
        </p:nvSpPr>
        <p:spPr>
          <a:xfrm>
            <a:off x="914400" y="1636776"/>
            <a:ext cx="749700" cy="25590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6"/>
          <p:cNvSpPr/>
          <p:nvPr/>
        </p:nvSpPr>
        <p:spPr>
          <a:xfrm>
            <a:off x="914400" y="1636776"/>
            <a:ext cx="749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Trebuchet MS"/>
              <a:buNone/>
            </a:pPr>
            <a:r>
              <a:rPr b="1" i="0" lang="en" sz="950" u="none" cap="none" strike="noStrike">
                <a:solidFill>
                  <a:srgbClr val="FFFFFF"/>
                </a:solidFill>
                <a:latin typeface="Archivo"/>
                <a:ea typeface="Archivo"/>
                <a:cs typeface="Archivo"/>
                <a:sym typeface="Archivo"/>
              </a:rPr>
              <a:t>FATAL</a:t>
            </a:r>
            <a:endParaRPr i="0" sz="950" u="none" cap="none" strike="noStrike">
              <a:solidFill>
                <a:schemeClr val="dk1"/>
              </a:solidFill>
              <a:latin typeface="Archivo"/>
              <a:ea typeface="Archivo"/>
              <a:cs typeface="Archivo"/>
              <a:sym typeface="Archivo"/>
            </a:endParaRPr>
          </a:p>
        </p:txBody>
      </p:sp>
      <p:sp>
        <p:nvSpPr>
          <p:cNvPr id="456" name="Google Shape;456;p26"/>
          <p:cNvSpPr/>
          <p:nvPr/>
        </p:nvSpPr>
        <p:spPr>
          <a:xfrm>
            <a:off x="1810512" y="1562693"/>
            <a:ext cx="6876300" cy="402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A1033"/>
              </a:buClr>
              <a:buSzPts val="1200"/>
              <a:buFont typeface="Trebuchet MS"/>
              <a:buNone/>
            </a:pPr>
            <a:r>
              <a:rPr i="0" lang="en" sz="1200" u="none" cap="none" strike="noStrike">
                <a:solidFill>
                  <a:srgbClr val="1A1033"/>
                </a:solidFill>
                <a:latin typeface="Archivo"/>
                <a:ea typeface="Archivo"/>
                <a:cs typeface="Archivo"/>
                <a:sym typeface="Archivo"/>
              </a:rPr>
              <a:t>No working demo → not evaluated at all</a:t>
            </a:r>
            <a:endParaRPr i="0" sz="1200" u="none" cap="none" strike="noStrike">
              <a:solidFill>
                <a:schemeClr val="dk1"/>
              </a:solidFill>
              <a:latin typeface="Archivo"/>
              <a:ea typeface="Archivo"/>
              <a:cs typeface="Archivo"/>
              <a:sym typeface="Archivo"/>
            </a:endParaRPr>
          </a:p>
        </p:txBody>
      </p:sp>
      <p:sp>
        <p:nvSpPr>
          <p:cNvPr id="457" name="Google Shape;457;p26"/>
          <p:cNvSpPr/>
          <p:nvPr/>
        </p:nvSpPr>
        <p:spPr>
          <a:xfrm>
            <a:off x="449367" y="2119607"/>
            <a:ext cx="329100" cy="329100"/>
          </a:xfrm>
          <a:prstGeom prst="ellipse">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8" name="Google Shape;458;p26"/>
          <p:cNvPicPr preferRelativeResize="0"/>
          <p:nvPr/>
        </p:nvPicPr>
        <p:blipFill rotWithShape="1">
          <a:blip r:embed="rId4">
            <a:alphaModFix/>
          </a:blip>
          <a:srcRect b="0" l="0" r="0" t="0"/>
          <a:stretch/>
        </p:blipFill>
        <p:spPr>
          <a:xfrm>
            <a:off x="513375" y="2183615"/>
            <a:ext cx="201168" cy="201168"/>
          </a:xfrm>
          <a:prstGeom prst="rect">
            <a:avLst/>
          </a:prstGeom>
          <a:noFill/>
          <a:ln>
            <a:noFill/>
          </a:ln>
        </p:spPr>
      </p:pic>
      <p:sp>
        <p:nvSpPr>
          <p:cNvPr id="459" name="Google Shape;459;p26"/>
          <p:cNvSpPr/>
          <p:nvPr/>
        </p:nvSpPr>
        <p:spPr>
          <a:xfrm>
            <a:off x="914400" y="2161032"/>
            <a:ext cx="749700" cy="25590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6"/>
          <p:cNvSpPr/>
          <p:nvPr/>
        </p:nvSpPr>
        <p:spPr>
          <a:xfrm>
            <a:off x="914400" y="2161032"/>
            <a:ext cx="749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Trebuchet MS"/>
              <a:buNone/>
            </a:pPr>
            <a:r>
              <a:rPr b="1" i="0" lang="en" sz="950" u="none" cap="none" strike="noStrike">
                <a:solidFill>
                  <a:srgbClr val="FFFFFF"/>
                </a:solidFill>
                <a:latin typeface="Archivo"/>
                <a:ea typeface="Archivo"/>
                <a:cs typeface="Archivo"/>
                <a:sym typeface="Archivo"/>
              </a:rPr>
              <a:t>FATAL</a:t>
            </a:r>
            <a:endParaRPr i="0" sz="950" u="none" cap="none" strike="noStrike">
              <a:solidFill>
                <a:schemeClr val="dk1"/>
              </a:solidFill>
              <a:latin typeface="Archivo"/>
              <a:ea typeface="Archivo"/>
              <a:cs typeface="Archivo"/>
              <a:sym typeface="Archivo"/>
            </a:endParaRPr>
          </a:p>
        </p:txBody>
      </p:sp>
      <p:sp>
        <p:nvSpPr>
          <p:cNvPr id="461" name="Google Shape;461;p26"/>
          <p:cNvSpPr/>
          <p:nvPr/>
        </p:nvSpPr>
        <p:spPr>
          <a:xfrm>
            <a:off x="1810512" y="2086949"/>
            <a:ext cx="6876300" cy="402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A1033"/>
              </a:buClr>
              <a:buSzPts val="1200"/>
              <a:buFont typeface="Trebuchet MS"/>
              <a:buNone/>
            </a:pPr>
            <a:r>
              <a:rPr i="0" lang="en" sz="1200" u="none" cap="none" strike="noStrike">
                <a:solidFill>
                  <a:srgbClr val="1A1033"/>
                </a:solidFill>
                <a:latin typeface="Archivo"/>
                <a:ea typeface="Archivo"/>
                <a:cs typeface="Archivo"/>
                <a:sym typeface="Archivo"/>
              </a:rPr>
              <a:t>Agent only does single-step LLM calls with no real tool use → disqualified as agentic</a:t>
            </a:r>
            <a:endParaRPr i="0" sz="1200" u="none" cap="none" strike="noStrike">
              <a:solidFill>
                <a:schemeClr val="dk1"/>
              </a:solidFill>
              <a:latin typeface="Archivo"/>
              <a:ea typeface="Archivo"/>
              <a:cs typeface="Archivo"/>
              <a:sym typeface="Archivo"/>
            </a:endParaRPr>
          </a:p>
        </p:txBody>
      </p:sp>
      <p:pic>
        <p:nvPicPr>
          <p:cNvPr descr="preencoded.png" id="462" name="Google Shape;462;p26"/>
          <p:cNvPicPr preferRelativeResize="0"/>
          <p:nvPr/>
        </p:nvPicPr>
        <p:blipFill rotWithShape="1">
          <a:blip r:embed="rId5">
            <a:alphaModFix/>
          </a:blip>
          <a:srcRect b="0" l="0" r="0" t="0"/>
          <a:stretch/>
        </p:blipFill>
        <p:spPr>
          <a:xfrm>
            <a:off x="2149325" y="213396"/>
            <a:ext cx="201168" cy="201168"/>
          </a:xfrm>
          <a:prstGeom prst="rect">
            <a:avLst/>
          </a:prstGeom>
          <a:noFill/>
          <a:ln>
            <a:noFill/>
          </a:ln>
        </p:spPr>
      </p:pic>
      <p:sp>
        <p:nvSpPr>
          <p:cNvPr id="463" name="Google Shape;463;p26"/>
          <p:cNvSpPr/>
          <p:nvPr/>
        </p:nvSpPr>
        <p:spPr>
          <a:xfrm>
            <a:off x="3446462" y="1173114"/>
            <a:ext cx="6876300" cy="402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A1033"/>
              </a:buClr>
              <a:buSzPts val="1200"/>
              <a:buFont typeface="Trebuchet MS"/>
              <a:buNone/>
            </a:pPr>
            <a:r>
              <a:t/>
            </a:r>
            <a:endParaRPr i="0" sz="1200" u="none" cap="none" strike="noStrike">
              <a:solidFill>
                <a:schemeClr val="dk1"/>
              </a:solidFill>
              <a:latin typeface="Archivo"/>
              <a:ea typeface="Archivo"/>
              <a:cs typeface="Archivo"/>
              <a:sym typeface="Archivo"/>
            </a:endParaRPr>
          </a:p>
        </p:txBody>
      </p:sp>
      <p:sp>
        <p:nvSpPr>
          <p:cNvPr id="464" name="Google Shape;464;p26"/>
          <p:cNvSpPr/>
          <p:nvPr/>
        </p:nvSpPr>
        <p:spPr>
          <a:xfrm>
            <a:off x="0" y="4663450"/>
            <a:ext cx="7680300" cy="274200"/>
          </a:xfrm>
          <a:prstGeom prst="rect">
            <a:avLst/>
          </a:prstGeom>
          <a:solidFill>
            <a:srgbClr val="EDE7F6"/>
          </a:solidFill>
          <a:ln cap="flat" cmpd="sng" w="9525">
            <a:solidFill>
              <a:srgbClr val="D1C4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6"/>
          <p:cNvSpPr/>
          <p:nvPr/>
        </p:nvSpPr>
        <p:spPr>
          <a:xfrm>
            <a:off x="320040" y="4702895"/>
            <a:ext cx="8503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1B9A"/>
              </a:buClr>
              <a:buSzPts val="1000"/>
              <a:buFont typeface="Trebuchet MS"/>
              <a:buNone/>
            </a:pPr>
            <a:r>
              <a:rPr i="1" lang="en" sz="1200" u="none" cap="none" strike="noStrike">
                <a:solidFill>
                  <a:schemeClr val="dk1"/>
                </a:solidFill>
                <a:latin typeface="Archivo"/>
                <a:ea typeface="Archivo"/>
                <a:cs typeface="Archivo"/>
                <a:sym typeface="Archivo"/>
              </a:rPr>
              <a:t>These aren't tricks. They reflect real engineering standards. Treat this submission like it's going to production.</a:t>
            </a:r>
            <a:endParaRPr i="0" sz="1200" u="none" cap="none" strike="noStrike">
              <a:solidFill>
                <a:schemeClr val="dk1"/>
              </a:solidFill>
              <a:latin typeface="Archivo"/>
              <a:ea typeface="Archivo"/>
              <a:cs typeface="Archivo"/>
              <a:sym typeface="Archivo"/>
            </a:endParaRPr>
          </a:p>
        </p:txBody>
      </p:sp>
      <p:sp>
        <p:nvSpPr>
          <p:cNvPr id="466" name="Google Shape;466;p26"/>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6"/>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8" name="Google Shape;468;p26"/>
          <p:cNvPicPr preferRelativeResize="0"/>
          <p:nvPr/>
        </p:nvPicPr>
        <p:blipFill>
          <a:blip r:embed="rId6">
            <a:alphaModFix/>
          </a:blip>
          <a:stretch>
            <a:fillRect/>
          </a:stretch>
        </p:blipFill>
        <p:spPr>
          <a:xfrm>
            <a:off x="289725" y="116714"/>
            <a:ext cx="1212247" cy="329101"/>
          </a:xfrm>
          <a:prstGeom prst="rect">
            <a:avLst/>
          </a:prstGeom>
          <a:noFill/>
          <a:ln>
            <a:noFill/>
          </a:ln>
        </p:spPr>
      </p:pic>
      <p:pic>
        <p:nvPicPr>
          <p:cNvPr id="469" name="Google Shape;469;p26"/>
          <p:cNvPicPr preferRelativeResize="0"/>
          <p:nvPr/>
        </p:nvPicPr>
        <p:blipFill>
          <a:blip r:embed="rId7">
            <a:alphaModFix/>
          </a:blip>
          <a:stretch>
            <a:fillRect/>
          </a:stretch>
        </p:blipFill>
        <p:spPr>
          <a:xfrm>
            <a:off x="7840150" y="4866852"/>
            <a:ext cx="1047829" cy="151137"/>
          </a:xfrm>
          <a:prstGeom prst="rect">
            <a:avLst/>
          </a:prstGeom>
          <a:noFill/>
          <a:ln>
            <a:noFill/>
          </a:ln>
        </p:spPr>
      </p:pic>
      <p:pic>
        <p:nvPicPr>
          <p:cNvPr id="470" name="Google Shape;470;p26" title="Group 1321315272.png"/>
          <p:cNvPicPr preferRelativeResize="0"/>
          <p:nvPr/>
        </p:nvPicPr>
        <p:blipFill>
          <a:blip r:embed="rId8">
            <a:alphaModFix/>
          </a:blip>
          <a:stretch>
            <a:fillRect/>
          </a:stretch>
        </p:blipFill>
        <p:spPr>
          <a:xfrm>
            <a:off x="7496776" y="155738"/>
            <a:ext cx="1391200" cy="251071"/>
          </a:xfrm>
          <a:prstGeom prst="rect">
            <a:avLst/>
          </a:prstGeom>
          <a:noFill/>
          <a:ln>
            <a:noFill/>
          </a:ln>
        </p:spPr>
      </p:pic>
      <p:sp>
        <p:nvSpPr>
          <p:cNvPr id="471" name="Google Shape;471;p26"/>
          <p:cNvSpPr/>
          <p:nvPr/>
        </p:nvSpPr>
        <p:spPr>
          <a:xfrm>
            <a:off x="453230" y="2636589"/>
            <a:ext cx="329100" cy="329100"/>
          </a:xfrm>
          <a:prstGeom prst="ellipse">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2" name="Google Shape;472;p26"/>
          <p:cNvPicPr preferRelativeResize="0"/>
          <p:nvPr/>
        </p:nvPicPr>
        <p:blipFill rotWithShape="1">
          <a:blip r:embed="rId4">
            <a:alphaModFix/>
          </a:blip>
          <a:srcRect b="0" l="0" r="0" t="0"/>
          <a:stretch/>
        </p:blipFill>
        <p:spPr>
          <a:xfrm>
            <a:off x="517238" y="2700597"/>
            <a:ext cx="201168" cy="201168"/>
          </a:xfrm>
          <a:prstGeom prst="rect">
            <a:avLst/>
          </a:prstGeom>
          <a:noFill/>
          <a:ln>
            <a:noFill/>
          </a:ln>
        </p:spPr>
      </p:pic>
      <p:sp>
        <p:nvSpPr>
          <p:cNvPr id="473" name="Google Shape;473;p26"/>
          <p:cNvSpPr/>
          <p:nvPr/>
        </p:nvSpPr>
        <p:spPr>
          <a:xfrm>
            <a:off x="918263" y="2678014"/>
            <a:ext cx="749700" cy="25590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6"/>
          <p:cNvSpPr/>
          <p:nvPr/>
        </p:nvSpPr>
        <p:spPr>
          <a:xfrm>
            <a:off x="918263" y="2678014"/>
            <a:ext cx="749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Trebuchet MS"/>
              <a:buNone/>
            </a:pPr>
            <a:r>
              <a:rPr b="1" i="0" lang="en" sz="950" u="none" cap="none" strike="noStrike">
                <a:solidFill>
                  <a:srgbClr val="FFFFFF"/>
                </a:solidFill>
                <a:latin typeface="Archivo"/>
                <a:ea typeface="Archivo"/>
                <a:cs typeface="Archivo"/>
                <a:sym typeface="Archivo"/>
              </a:rPr>
              <a:t>FATAL</a:t>
            </a:r>
            <a:endParaRPr i="0" sz="950" u="none" cap="none" strike="noStrike">
              <a:solidFill>
                <a:schemeClr val="dk1"/>
              </a:solidFill>
              <a:latin typeface="Archivo"/>
              <a:ea typeface="Archivo"/>
              <a:cs typeface="Archivo"/>
              <a:sym typeface="Archivo"/>
            </a:endParaRPr>
          </a:p>
        </p:txBody>
      </p:sp>
      <p:sp>
        <p:nvSpPr>
          <p:cNvPr id="475" name="Google Shape;475;p26"/>
          <p:cNvSpPr/>
          <p:nvPr/>
        </p:nvSpPr>
        <p:spPr>
          <a:xfrm>
            <a:off x="1814374" y="2603930"/>
            <a:ext cx="6876300" cy="4023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0"/>
              </a:spcAft>
              <a:buClr>
                <a:srgbClr val="1A1033"/>
              </a:buClr>
              <a:buSzPts val="1200"/>
              <a:buFont typeface="Trebuchet MS"/>
              <a:buNone/>
            </a:pPr>
            <a:r>
              <a:rPr lang="en" sz="1200">
                <a:solidFill>
                  <a:srgbClr val="1A1033"/>
                </a:solidFill>
                <a:latin typeface="Archivo"/>
                <a:ea typeface="Archivo"/>
                <a:cs typeface="Archivo"/>
                <a:sym typeface="Archivo"/>
              </a:rPr>
              <a:t>Hardcoded API keys anywhere in the repo — immediate security flag</a:t>
            </a:r>
            <a:endParaRPr sz="1200">
              <a:solidFill>
                <a:srgbClr val="1A1033"/>
              </a:solidFill>
              <a:latin typeface="Archivo"/>
              <a:ea typeface="Archivo"/>
              <a:cs typeface="Archivo"/>
              <a:sym typeface="Archivo"/>
            </a:endParaRPr>
          </a:p>
        </p:txBody>
      </p:sp>
      <p:sp>
        <p:nvSpPr>
          <p:cNvPr id="476" name="Google Shape;476;p26"/>
          <p:cNvSpPr/>
          <p:nvPr/>
        </p:nvSpPr>
        <p:spPr>
          <a:xfrm>
            <a:off x="453230" y="3160845"/>
            <a:ext cx="329100" cy="329100"/>
          </a:xfrm>
          <a:prstGeom prst="ellipse">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7" name="Google Shape;477;p26"/>
          <p:cNvPicPr preferRelativeResize="0"/>
          <p:nvPr/>
        </p:nvPicPr>
        <p:blipFill rotWithShape="1">
          <a:blip r:embed="rId4">
            <a:alphaModFix/>
          </a:blip>
          <a:srcRect b="0" l="0" r="0" t="0"/>
          <a:stretch/>
        </p:blipFill>
        <p:spPr>
          <a:xfrm>
            <a:off x="517238" y="3224852"/>
            <a:ext cx="201168" cy="201168"/>
          </a:xfrm>
          <a:prstGeom prst="rect">
            <a:avLst/>
          </a:prstGeom>
          <a:noFill/>
          <a:ln>
            <a:noFill/>
          </a:ln>
        </p:spPr>
      </p:pic>
      <p:sp>
        <p:nvSpPr>
          <p:cNvPr id="478" name="Google Shape;478;p26"/>
          <p:cNvSpPr/>
          <p:nvPr/>
        </p:nvSpPr>
        <p:spPr>
          <a:xfrm>
            <a:off x="918263" y="3202270"/>
            <a:ext cx="749700" cy="255900"/>
          </a:xfrm>
          <a:prstGeom prst="rect">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6"/>
          <p:cNvSpPr/>
          <p:nvPr/>
        </p:nvSpPr>
        <p:spPr>
          <a:xfrm>
            <a:off x="918263" y="3202270"/>
            <a:ext cx="749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Trebuchet MS"/>
              <a:buNone/>
            </a:pPr>
            <a:r>
              <a:rPr b="1" i="0" lang="en" sz="950" u="none" cap="none" strike="noStrike">
                <a:solidFill>
                  <a:srgbClr val="FFFFFF"/>
                </a:solidFill>
                <a:latin typeface="Archivo"/>
                <a:ea typeface="Archivo"/>
                <a:cs typeface="Archivo"/>
                <a:sym typeface="Archivo"/>
              </a:rPr>
              <a:t>FATAL</a:t>
            </a:r>
            <a:endParaRPr i="0" sz="950" u="none" cap="none" strike="noStrike">
              <a:solidFill>
                <a:schemeClr val="dk1"/>
              </a:solidFill>
              <a:latin typeface="Archivo"/>
              <a:ea typeface="Archivo"/>
              <a:cs typeface="Archivo"/>
              <a:sym typeface="Archivo"/>
            </a:endParaRPr>
          </a:p>
        </p:txBody>
      </p:sp>
      <p:sp>
        <p:nvSpPr>
          <p:cNvPr id="480" name="Google Shape;480;p26"/>
          <p:cNvSpPr/>
          <p:nvPr/>
        </p:nvSpPr>
        <p:spPr>
          <a:xfrm>
            <a:off x="1814374" y="3128186"/>
            <a:ext cx="6876300" cy="4023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0"/>
              </a:spcAft>
              <a:buClr>
                <a:srgbClr val="1A1033"/>
              </a:buClr>
              <a:buSzPts val="1200"/>
              <a:buFont typeface="Trebuchet MS"/>
              <a:buNone/>
            </a:pPr>
            <a:r>
              <a:rPr lang="en" sz="1200">
                <a:solidFill>
                  <a:srgbClr val="1A1033"/>
                </a:solidFill>
                <a:latin typeface="Archivo"/>
                <a:ea typeface="Archivo"/>
                <a:cs typeface="Archivo"/>
                <a:sym typeface="Archivo"/>
              </a:rPr>
              <a:t>README missing from submitted repo and architecture documents</a:t>
            </a:r>
            <a:endParaRPr sz="1200">
              <a:solidFill>
                <a:srgbClr val="1A1033"/>
              </a:solidFill>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27" title="Slide 16_9 - 1.jpg"/>
          <p:cNvPicPr preferRelativeResize="0"/>
          <p:nvPr/>
        </p:nvPicPr>
        <p:blipFill>
          <a:blip r:embed="rId3">
            <a:alphaModFix/>
          </a:blip>
          <a:stretch>
            <a:fillRect/>
          </a:stretch>
        </p:blipFill>
        <p:spPr>
          <a:xfrm>
            <a:off x="0" y="-1"/>
            <a:ext cx="9144003" cy="5143501"/>
          </a:xfrm>
          <a:prstGeom prst="rect">
            <a:avLst/>
          </a:prstGeom>
          <a:noFill/>
          <a:ln>
            <a:noFill/>
          </a:ln>
        </p:spPr>
      </p:pic>
      <p:sp>
        <p:nvSpPr>
          <p:cNvPr id="486" name="Google Shape;486;p27"/>
          <p:cNvSpPr/>
          <p:nvPr/>
        </p:nvSpPr>
        <p:spPr>
          <a:xfrm>
            <a:off x="0" y="5107761"/>
            <a:ext cx="45720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7"/>
          <p:cNvSpPr/>
          <p:nvPr/>
        </p:nvSpPr>
        <p:spPr>
          <a:xfrm>
            <a:off x="4572000" y="5107761"/>
            <a:ext cx="4572000" cy="36600"/>
          </a:xfrm>
          <a:prstGeom prst="rect">
            <a:avLst/>
          </a:prstGeom>
          <a:solidFill>
            <a:srgbClr val="E91E8C"/>
          </a:solidFill>
          <a:ln cap="flat" cmpd="sng" w="12700">
            <a:solidFill>
              <a:srgbClr val="E91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